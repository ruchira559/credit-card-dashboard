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5" d="100"/>
          <a:sy n="75" d="100"/>
        </p:scale>
        <p:origin x="72" y="2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9.svg"/><Relationship Id="rId3" Type="http://schemas.openxmlformats.org/officeDocument/2006/relationships/image" Target="../media/image14.png"/><Relationship Id="rId7" Type="http://schemas.openxmlformats.org/officeDocument/2006/relationships/image" Target="../media/image18.png"/><Relationship Id="rId2" Type="http://schemas.openxmlformats.org/officeDocument/2006/relationships/image" Target="../media/image13.svg"/><Relationship Id="rId1" Type="http://schemas.openxmlformats.org/officeDocument/2006/relationships/image" Target="../media/image12.png"/><Relationship Id="rId6" Type="http://schemas.openxmlformats.org/officeDocument/2006/relationships/image" Target="../media/image17.svg"/><Relationship Id="rId5" Type="http://schemas.openxmlformats.org/officeDocument/2006/relationships/image" Target="../media/image16.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7EDC9F08-FBC6-4548-8EA3-5BCD18ABCF8F}"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1F3A92B-F423-463D-91FF-DBF5ADCD8C28}">
      <dgm:prSet/>
      <dgm:spPr/>
      <dgm:t>
        <a:bodyPr/>
        <a:lstStyle/>
        <a:p>
          <a:r>
            <a:rPr lang="en-US" b="1"/>
            <a:t>Tier Migration</a:t>
          </a:r>
          <a:r>
            <a:rPr lang="en-US"/>
            <a:t>: Targeted upgrade campaigns for 'Blue' cardholders—specifically the Single Male segment—to move them into Silver and Gold categories based on high spending velocity.</a:t>
          </a:r>
        </a:p>
      </dgm:t>
    </dgm:pt>
    <dgm:pt modelId="{3D99C8C3-EDCD-4235-B0EF-DB581B60F775}" type="parTrans" cxnId="{B198709B-4811-4B48-A3ED-D396E8AE6FA7}">
      <dgm:prSet/>
      <dgm:spPr/>
      <dgm:t>
        <a:bodyPr/>
        <a:lstStyle/>
        <a:p>
          <a:endParaRPr lang="en-US"/>
        </a:p>
      </dgm:t>
    </dgm:pt>
    <dgm:pt modelId="{D7F90383-DFA0-40D6-A02E-08C0EC83E124}" type="sibTrans" cxnId="{B198709B-4811-4B48-A3ED-D396E8AE6FA7}">
      <dgm:prSet/>
      <dgm:spPr/>
      <dgm:t>
        <a:bodyPr/>
        <a:lstStyle/>
        <a:p>
          <a:endParaRPr lang="en-US"/>
        </a:p>
      </dgm:t>
    </dgm:pt>
    <dgm:pt modelId="{68AD0139-BCBD-4DDC-9A57-0634C1E1F87E}">
      <dgm:prSet/>
      <dgm:spPr/>
      <dgm:t>
        <a:bodyPr/>
        <a:lstStyle/>
        <a:p>
          <a:r>
            <a:rPr lang="en-US" b="1"/>
            <a:t>Portfolio Anchors</a:t>
          </a:r>
          <a:r>
            <a:rPr lang="en-US"/>
            <a:t>: Continued focus on the 'Female Graduate' segment as a low-risk, high-retention revenue base.</a:t>
          </a:r>
        </a:p>
      </dgm:t>
    </dgm:pt>
    <dgm:pt modelId="{8917A52E-A54B-4C60-B13D-9C2603710B0D}" type="parTrans" cxnId="{27F71DB4-A946-40F6-BB50-FC65662A60F3}">
      <dgm:prSet/>
      <dgm:spPr/>
      <dgm:t>
        <a:bodyPr/>
        <a:lstStyle/>
        <a:p>
          <a:endParaRPr lang="en-US"/>
        </a:p>
      </dgm:t>
    </dgm:pt>
    <dgm:pt modelId="{5A1F5E31-9A7B-4754-A0AA-467B80D3CC22}" type="sibTrans" cxnId="{27F71DB4-A946-40F6-BB50-FC65662A60F3}">
      <dgm:prSet/>
      <dgm:spPr/>
      <dgm:t>
        <a:bodyPr/>
        <a:lstStyle/>
        <a:p>
          <a:endParaRPr lang="en-US"/>
        </a:p>
      </dgm:t>
    </dgm:pt>
    <dgm:pt modelId="{3E0AE7EA-5146-43D8-9926-F9A3BCE623FE}">
      <dgm:prSet/>
      <dgm:spPr/>
      <dgm:t>
        <a:bodyPr/>
        <a:lstStyle/>
        <a:p>
          <a:r>
            <a:rPr lang="en-US" b="1"/>
            <a:t>Utilization Growth</a:t>
          </a:r>
          <a:r>
            <a:rPr lang="en-US"/>
            <a:t>: Implementing Q1 incentives for 'Platinum' holders to improve the utilization-to-limit ratio.</a:t>
          </a:r>
        </a:p>
      </dgm:t>
    </dgm:pt>
    <dgm:pt modelId="{4A95FF17-C694-44BD-9746-C73B55ED6C70}" type="parTrans" cxnId="{4420910F-CECB-4D15-B65E-EB0129927A78}">
      <dgm:prSet/>
      <dgm:spPr/>
      <dgm:t>
        <a:bodyPr/>
        <a:lstStyle/>
        <a:p>
          <a:endParaRPr lang="en-US"/>
        </a:p>
      </dgm:t>
    </dgm:pt>
    <dgm:pt modelId="{2984DFAC-D6AB-4196-8EBC-B2612C1B93C1}" type="sibTrans" cxnId="{4420910F-CECB-4D15-B65E-EB0129927A78}">
      <dgm:prSet/>
      <dgm:spPr/>
      <dgm:t>
        <a:bodyPr/>
        <a:lstStyle/>
        <a:p>
          <a:endParaRPr lang="en-US"/>
        </a:p>
      </dgm:t>
    </dgm:pt>
    <dgm:pt modelId="{AA651556-4B99-4E07-9EF2-F9828729F255}">
      <dgm:prSet/>
      <dgm:spPr/>
      <dgm:t>
        <a:bodyPr/>
        <a:lstStyle/>
        <a:p>
          <a:r>
            <a:rPr lang="en-US" b="1"/>
            <a:t>Daily Essential Spend</a:t>
          </a:r>
          <a:r>
            <a:rPr lang="en-US"/>
            <a:t>: Strengthening merchant partnerships in the 'Fuel' and 'Grocery' sectors to capture the high frequency of physical 'Swipe' transactions.</a:t>
          </a:r>
        </a:p>
      </dgm:t>
    </dgm:pt>
    <dgm:pt modelId="{EC3981AC-BA3C-4D7B-ABC3-5BF0630FD44F}" type="parTrans" cxnId="{F7FEEE37-5B6F-4407-B62D-92A2B6E60526}">
      <dgm:prSet/>
      <dgm:spPr/>
      <dgm:t>
        <a:bodyPr/>
        <a:lstStyle/>
        <a:p>
          <a:endParaRPr lang="en-US"/>
        </a:p>
      </dgm:t>
    </dgm:pt>
    <dgm:pt modelId="{03F49A25-79FB-432C-8E8F-8BF6880C1DB4}" type="sibTrans" cxnId="{F7FEEE37-5B6F-4407-B62D-92A2B6E60526}">
      <dgm:prSet/>
      <dgm:spPr/>
      <dgm:t>
        <a:bodyPr/>
        <a:lstStyle/>
        <a:p>
          <a:endParaRPr lang="en-US"/>
        </a:p>
      </dgm:t>
    </dgm:pt>
    <dgm:pt modelId="{E4B154BC-B056-410A-BFB0-2E42D95AD958}" type="pres">
      <dgm:prSet presAssocID="{7EDC9F08-FBC6-4548-8EA3-5BCD18ABCF8F}" presName="root" presStyleCnt="0">
        <dgm:presLayoutVars>
          <dgm:dir/>
          <dgm:resizeHandles val="exact"/>
        </dgm:presLayoutVars>
      </dgm:prSet>
      <dgm:spPr/>
    </dgm:pt>
    <dgm:pt modelId="{AC2F747F-E41C-434A-9BB5-560A99D462E0}" type="pres">
      <dgm:prSet presAssocID="{21F3A92B-F423-463D-91FF-DBF5ADCD8C28}" presName="compNode" presStyleCnt="0"/>
      <dgm:spPr/>
    </dgm:pt>
    <dgm:pt modelId="{7FE734F6-1535-4DD0-9428-BACA559D8879}" type="pres">
      <dgm:prSet presAssocID="{21F3A92B-F423-463D-91FF-DBF5ADCD8C28}" presName="bgRect" presStyleLbl="bgShp" presStyleIdx="0" presStyleCnt="4"/>
      <dgm:spPr/>
    </dgm:pt>
    <dgm:pt modelId="{65A872E3-0526-42E5-BA1A-6F99419E4D59}" type="pres">
      <dgm:prSet presAssocID="{21F3A92B-F423-463D-91FF-DBF5ADCD8C28}"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Group of People"/>
        </a:ext>
      </dgm:extLst>
    </dgm:pt>
    <dgm:pt modelId="{D86B52A6-17AB-4056-8FB3-B17BE154F365}" type="pres">
      <dgm:prSet presAssocID="{21F3A92B-F423-463D-91FF-DBF5ADCD8C28}" presName="spaceRect" presStyleCnt="0"/>
      <dgm:spPr/>
    </dgm:pt>
    <dgm:pt modelId="{4E9D477D-186E-4434-9633-CBD6C8DB6855}" type="pres">
      <dgm:prSet presAssocID="{21F3A92B-F423-463D-91FF-DBF5ADCD8C28}" presName="parTx" presStyleLbl="revTx" presStyleIdx="0" presStyleCnt="4">
        <dgm:presLayoutVars>
          <dgm:chMax val="0"/>
          <dgm:chPref val="0"/>
        </dgm:presLayoutVars>
      </dgm:prSet>
      <dgm:spPr/>
    </dgm:pt>
    <dgm:pt modelId="{6914FBD0-0F10-4FA4-8A80-2F1D13D611E4}" type="pres">
      <dgm:prSet presAssocID="{D7F90383-DFA0-40D6-A02E-08C0EC83E124}" presName="sibTrans" presStyleCnt="0"/>
      <dgm:spPr/>
    </dgm:pt>
    <dgm:pt modelId="{F1B5CF88-8BE8-4764-87E0-F340C6D448DE}" type="pres">
      <dgm:prSet presAssocID="{68AD0139-BCBD-4DDC-9A57-0634C1E1F87E}" presName="compNode" presStyleCnt="0"/>
      <dgm:spPr/>
    </dgm:pt>
    <dgm:pt modelId="{090D06C0-40BB-494F-AE9A-E6FA530673DD}" type="pres">
      <dgm:prSet presAssocID="{68AD0139-BCBD-4DDC-9A57-0634C1E1F87E}" presName="bgRect" presStyleLbl="bgShp" presStyleIdx="1" presStyleCnt="4"/>
      <dgm:spPr/>
    </dgm:pt>
    <dgm:pt modelId="{931B36E3-F07E-4B42-923B-D3461AB336CD}" type="pres">
      <dgm:prSet presAssocID="{68AD0139-BCBD-4DDC-9A57-0634C1E1F87E}"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Anchor"/>
        </a:ext>
      </dgm:extLst>
    </dgm:pt>
    <dgm:pt modelId="{18A9C3DC-A887-40D0-949F-D50D27907DCA}" type="pres">
      <dgm:prSet presAssocID="{68AD0139-BCBD-4DDC-9A57-0634C1E1F87E}" presName="spaceRect" presStyleCnt="0"/>
      <dgm:spPr/>
    </dgm:pt>
    <dgm:pt modelId="{E8907322-8CF1-4CF0-96CE-B632A550B103}" type="pres">
      <dgm:prSet presAssocID="{68AD0139-BCBD-4DDC-9A57-0634C1E1F87E}" presName="parTx" presStyleLbl="revTx" presStyleIdx="1" presStyleCnt="4">
        <dgm:presLayoutVars>
          <dgm:chMax val="0"/>
          <dgm:chPref val="0"/>
        </dgm:presLayoutVars>
      </dgm:prSet>
      <dgm:spPr/>
    </dgm:pt>
    <dgm:pt modelId="{4C8CE592-D357-4B2A-AB63-B2683A30E022}" type="pres">
      <dgm:prSet presAssocID="{5A1F5E31-9A7B-4754-A0AA-467B80D3CC22}" presName="sibTrans" presStyleCnt="0"/>
      <dgm:spPr/>
    </dgm:pt>
    <dgm:pt modelId="{D1965B71-CADF-41DC-9878-8D6EE649DE6F}" type="pres">
      <dgm:prSet presAssocID="{3E0AE7EA-5146-43D8-9926-F9A3BCE623FE}" presName="compNode" presStyleCnt="0"/>
      <dgm:spPr/>
    </dgm:pt>
    <dgm:pt modelId="{934ED222-7B40-440F-AFE2-792764BD3EF3}" type="pres">
      <dgm:prSet presAssocID="{3E0AE7EA-5146-43D8-9926-F9A3BCE623FE}" presName="bgRect" presStyleLbl="bgShp" presStyleIdx="2" presStyleCnt="4"/>
      <dgm:spPr/>
    </dgm:pt>
    <dgm:pt modelId="{AC3D8F5D-239B-419A-8BE4-C01280EE80C3}" type="pres">
      <dgm:prSet presAssocID="{3E0AE7EA-5146-43D8-9926-F9A3BCE623FE}"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usiness Growth"/>
        </a:ext>
      </dgm:extLst>
    </dgm:pt>
    <dgm:pt modelId="{CB6BA36D-8C87-43DF-BCA4-67805EB5945D}" type="pres">
      <dgm:prSet presAssocID="{3E0AE7EA-5146-43D8-9926-F9A3BCE623FE}" presName="spaceRect" presStyleCnt="0"/>
      <dgm:spPr/>
    </dgm:pt>
    <dgm:pt modelId="{3666CED8-E3BE-4A1B-A31B-0FC0475B23FA}" type="pres">
      <dgm:prSet presAssocID="{3E0AE7EA-5146-43D8-9926-F9A3BCE623FE}" presName="parTx" presStyleLbl="revTx" presStyleIdx="2" presStyleCnt="4">
        <dgm:presLayoutVars>
          <dgm:chMax val="0"/>
          <dgm:chPref val="0"/>
        </dgm:presLayoutVars>
      </dgm:prSet>
      <dgm:spPr/>
    </dgm:pt>
    <dgm:pt modelId="{1EEB38C7-EF76-4AF1-925B-B2FC3BC20B2E}" type="pres">
      <dgm:prSet presAssocID="{2984DFAC-D6AB-4196-8EBC-B2612C1B93C1}" presName="sibTrans" presStyleCnt="0"/>
      <dgm:spPr/>
    </dgm:pt>
    <dgm:pt modelId="{F92F81AC-6367-4A62-B692-9B1390A9488C}" type="pres">
      <dgm:prSet presAssocID="{AA651556-4B99-4E07-9EF2-F9828729F255}" presName="compNode" presStyleCnt="0"/>
      <dgm:spPr/>
    </dgm:pt>
    <dgm:pt modelId="{7A9F7883-8F0F-4170-BD91-95396223343E}" type="pres">
      <dgm:prSet presAssocID="{AA651556-4B99-4E07-9EF2-F9828729F255}" presName="bgRect" presStyleLbl="bgShp" presStyleIdx="3" presStyleCnt="4"/>
      <dgm:spPr/>
    </dgm:pt>
    <dgm:pt modelId="{3032E178-63BC-43D7-A2F1-6D217A3BC995}" type="pres">
      <dgm:prSet presAssocID="{AA651556-4B99-4E07-9EF2-F9828729F255}"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Fruit Bowl"/>
        </a:ext>
      </dgm:extLst>
    </dgm:pt>
    <dgm:pt modelId="{16070452-26E4-4E78-BEEE-D68D28F8B626}" type="pres">
      <dgm:prSet presAssocID="{AA651556-4B99-4E07-9EF2-F9828729F255}" presName="spaceRect" presStyleCnt="0"/>
      <dgm:spPr/>
    </dgm:pt>
    <dgm:pt modelId="{9BC57EFF-ECD3-47D4-BC88-35244FF23166}" type="pres">
      <dgm:prSet presAssocID="{AA651556-4B99-4E07-9EF2-F9828729F255}" presName="parTx" presStyleLbl="revTx" presStyleIdx="3" presStyleCnt="4">
        <dgm:presLayoutVars>
          <dgm:chMax val="0"/>
          <dgm:chPref val="0"/>
        </dgm:presLayoutVars>
      </dgm:prSet>
      <dgm:spPr/>
    </dgm:pt>
  </dgm:ptLst>
  <dgm:cxnLst>
    <dgm:cxn modelId="{4420910F-CECB-4D15-B65E-EB0129927A78}" srcId="{7EDC9F08-FBC6-4548-8EA3-5BCD18ABCF8F}" destId="{3E0AE7EA-5146-43D8-9926-F9A3BCE623FE}" srcOrd="2" destOrd="0" parTransId="{4A95FF17-C694-44BD-9746-C73B55ED6C70}" sibTransId="{2984DFAC-D6AB-4196-8EBC-B2612C1B93C1}"/>
    <dgm:cxn modelId="{F7FEEE37-5B6F-4407-B62D-92A2B6E60526}" srcId="{7EDC9F08-FBC6-4548-8EA3-5BCD18ABCF8F}" destId="{AA651556-4B99-4E07-9EF2-F9828729F255}" srcOrd="3" destOrd="0" parTransId="{EC3981AC-BA3C-4D7B-ABC3-5BF0630FD44F}" sibTransId="{03F49A25-79FB-432C-8E8F-8BF6880C1DB4}"/>
    <dgm:cxn modelId="{79B7B23C-9F38-4D00-AC2D-DE041DF53D25}" type="presOf" srcId="{68AD0139-BCBD-4DDC-9A57-0634C1E1F87E}" destId="{E8907322-8CF1-4CF0-96CE-B632A550B103}" srcOrd="0" destOrd="0" presId="urn:microsoft.com/office/officeart/2018/2/layout/IconVerticalSolidList"/>
    <dgm:cxn modelId="{F4D2854F-B81E-4427-8AC9-573DB8F91BAB}" type="presOf" srcId="{21F3A92B-F423-463D-91FF-DBF5ADCD8C28}" destId="{4E9D477D-186E-4434-9633-CBD6C8DB6855}" srcOrd="0" destOrd="0" presId="urn:microsoft.com/office/officeart/2018/2/layout/IconVerticalSolidList"/>
    <dgm:cxn modelId="{78DB1176-538D-434D-A441-69DED1A7B7BB}" type="presOf" srcId="{3E0AE7EA-5146-43D8-9926-F9A3BCE623FE}" destId="{3666CED8-E3BE-4A1B-A31B-0FC0475B23FA}" srcOrd="0" destOrd="0" presId="urn:microsoft.com/office/officeart/2018/2/layout/IconVerticalSolidList"/>
    <dgm:cxn modelId="{B198709B-4811-4B48-A3ED-D396E8AE6FA7}" srcId="{7EDC9F08-FBC6-4548-8EA3-5BCD18ABCF8F}" destId="{21F3A92B-F423-463D-91FF-DBF5ADCD8C28}" srcOrd="0" destOrd="0" parTransId="{3D99C8C3-EDCD-4235-B0EF-DB581B60F775}" sibTransId="{D7F90383-DFA0-40D6-A02E-08C0EC83E124}"/>
    <dgm:cxn modelId="{27F71DB4-A946-40F6-BB50-FC65662A60F3}" srcId="{7EDC9F08-FBC6-4548-8EA3-5BCD18ABCF8F}" destId="{68AD0139-BCBD-4DDC-9A57-0634C1E1F87E}" srcOrd="1" destOrd="0" parTransId="{8917A52E-A54B-4C60-B13D-9C2603710B0D}" sibTransId="{5A1F5E31-9A7B-4754-A0AA-467B80D3CC22}"/>
    <dgm:cxn modelId="{48A3C5B7-065D-4BDE-BF58-B8DA73D7EB91}" type="presOf" srcId="{7EDC9F08-FBC6-4548-8EA3-5BCD18ABCF8F}" destId="{E4B154BC-B056-410A-BFB0-2E42D95AD958}" srcOrd="0" destOrd="0" presId="urn:microsoft.com/office/officeart/2018/2/layout/IconVerticalSolidList"/>
    <dgm:cxn modelId="{8493BFDF-388A-470F-AEEC-4C0C13CCCA1B}" type="presOf" srcId="{AA651556-4B99-4E07-9EF2-F9828729F255}" destId="{9BC57EFF-ECD3-47D4-BC88-35244FF23166}" srcOrd="0" destOrd="0" presId="urn:microsoft.com/office/officeart/2018/2/layout/IconVerticalSolidList"/>
    <dgm:cxn modelId="{52D20DBE-3935-4574-A8F0-B900524520CA}" type="presParOf" srcId="{E4B154BC-B056-410A-BFB0-2E42D95AD958}" destId="{AC2F747F-E41C-434A-9BB5-560A99D462E0}" srcOrd="0" destOrd="0" presId="urn:microsoft.com/office/officeart/2018/2/layout/IconVerticalSolidList"/>
    <dgm:cxn modelId="{64934458-9083-486B-91A6-3A4C5398A7EA}" type="presParOf" srcId="{AC2F747F-E41C-434A-9BB5-560A99D462E0}" destId="{7FE734F6-1535-4DD0-9428-BACA559D8879}" srcOrd="0" destOrd="0" presId="urn:microsoft.com/office/officeart/2018/2/layout/IconVerticalSolidList"/>
    <dgm:cxn modelId="{5E2A4625-09B0-42ED-B21B-1D0F27566635}" type="presParOf" srcId="{AC2F747F-E41C-434A-9BB5-560A99D462E0}" destId="{65A872E3-0526-42E5-BA1A-6F99419E4D59}" srcOrd="1" destOrd="0" presId="urn:microsoft.com/office/officeart/2018/2/layout/IconVerticalSolidList"/>
    <dgm:cxn modelId="{0AA6DA8A-F1AA-43CD-9D55-799C8E6880E8}" type="presParOf" srcId="{AC2F747F-E41C-434A-9BB5-560A99D462E0}" destId="{D86B52A6-17AB-4056-8FB3-B17BE154F365}" srcOrd="2" destOrd="0" presId="urn:microsoft.com/office/officeart/2018/2/layout/IconVerticalSolidList"/>
    <dgm:cxn modelId="{251DE5D3-199F-4E11-8EA3-5B631CD9C168}" type="presParOf" srcId="{AC2F747F-E41C-434A-9BB5-560A99D462E0}" destId="{4E9D477D-186E-4434-9633-CBD6C8DB6855}" srcOrd="3" destOrd="0" presId="urn:microsoft.com/office/officeart/2018/2/layout/IconVerticalSolidList"/>
    <dgm:cxn modelId="{ECE680AA-C835-4518-8714-A5227AA8EC19}" type="presParOf" srcId="{E4B154BC-B056-410A-BFB0-2E42D95AD958}" destId="{6914FBD0-0F10-4FA4-8A80-2F1D13D611E4}" srcOrd="1" destOrd="0" presId="urn:microsoft.com/office/officeart/2018/2/layout/IconVerticalSolidList"/>
    <dgm:cxn modelId="{19D237B2-4326-4FA0-AE0D-2ABC9F1DD3EC}" type="presParOf" srcId="{E4B154BC-B056-410A-BFB0-2E42D95AD958}" destId="{F1B5CF88-8BE8-4764-87E0-F340C6D448DE}" srcOrd="2" destOrd="0" presId="urn:microsoft.com/office/officeart/2018/2/layout/IconVerticalSolidList"/>
    <dgm:cxn modelId="{F82F9644-4E80-41A9-B9AC-C472296D5107}" type="presParOf" srcId="{F1B5CF88-8BE8-4764-87E0-F340C6D448DE}" destId="{090D06C0-40BB-494F-AE9A-E6FA530673DD}" srcOrd="0" destOrd="0" presId="urn:microsoft.com/office/officeart/2018/2/layout/IconVerticalSolidList"/>
    <dgm:cxn modelId="{459E9B88-CFB8-49FD-941E-0A10DD30AEF2}" type="presParOf" srcId="{F1B5CF88-8BE8-4764-87E0-F340C6D448DE}" destId="{931B36E3-F07E-4B42-923B-D3461AB336CD}" srcOrd="1" destOrd="0" presId="urn:microsoft.com/office/officeart/2018/2/layout/IconVerticalSolidList"/>
    <dgm:cxn modelId="{F2B17C59-1694-477A-91F3-1198E42431C3}" type="presParOf" srcId="{F1B5CF88-8BE8-4764-87E0-F340C6D448DE}" destId="{18A9C3DC-A887-40D0-949F-D50D27907DCA}" srcOrd="2" destOrd="0" presId="urn:microsoft.com/office/officeart/2018/2/layout/IconVerticalSolidList"/>
    <dgm:cxn modelId="{B444C30F-F19D-4934-B9E4-235F34C1152F}" type="presParOf" srcId="{F1B5CF88-8BE8-4764-87E0-F340C6D448DE}" destId="{E8907322-8CF1-4CF0-96CE-B632A550B103}" srcOrd="3" destOrd="0" presId="urn:microsoft.com/office/officeart/2018/2/layout/IconVerticalSolidList"/>
    <dgm:cxn modelId="{C395C10F-7CFE-4FBB-991C-930D4F701C99}" type="presParOf" srcId="{E4B154BC-B056-410A-BFB0-2E42D95AD958}" destId="{4C8CE592-D357-4B2A-AB63-B2683A30E022}" srcOrd="3" destOrd="0" presId="urn:microsoft.com/office/officeart/2018/2/layout/IconVerticalSolidList"/>
    <dgm:cxn modelId="{C18CE9D9-BEC2-42C0-945F-5F4E96595387}" type="presParOf" srcId="{E4B154BC-B056-410A-BFB0-2E42D95AD958}" destId="{D1965B71-CADF-41DC-9878-8D6EE649DE6F}" srcOrd="4" destOrd="0" presId="urn:microsoft.com/office/officeart/2018/2/layout/IconVerticalSolidList"/>
    <dgm:cxn modelId="{8A26519E-BDA5-478D-9636-DD612B71DD9C}" type="presParOf" srcId="{D1965B71-CADF-41DC-9878-8D6EE649DE6F}" destId="{934ED222-7B40-440F-AFE2-792764BD3EF3}" srcOrd="0" destOrd="0" presId="urn:microsoft.com/office/officeart/2018/2/layout/IconVerticalSolidList"/>
    <dgm:cxn modelId="{93F9EDAD-2CC2-4743-B5C1-579986C46C7D}" type="presParOf" srcId="{D1965B71-CADF-41DC-9878-8D6EE649DE6F}" destId="{AC3D8F5D-239B-419A-8BE4-C01280EE80C3}" srcOrd="1" destOrd="0" presId="urn:microsoft.com/office/officeart/2018/2/layout/IconVerticalSolidList"/>
    <dgm:cxn modelId="{1D058798-8DA0-478E-A2E5-D1B48FB8EC69}" type="presParOf" srcId="{D1965B71-CADF-41DC-9878-8D6EE649DE6F}" destId="{CB6BA36D-8C87-43DF-BCA4-67805EB5945D}" srcOrd="2" destOrd="0" presId="urn:microsoft.com/office/officeart/2018/2/layout/IconVerticalSolidList"/>
    <dgm:cxn modelId="{45795156-F4BD-4104-BE44-4BED876538D9}" type="presParOf" srcId="{D1965B71-CADF-41DC-9878-8D6EE649DE6F}" destId="{3666CED8-E3BE-4A1B-A31B-0FC0475B23FA}" srcOrd="3" destOrd="0" presId="urn:microsoft.com/office/officeart/2018/2/layout/IconVerticalSolidList"/>
    <dgm:cxn modelId="{1F09243D-1873-48D0-B50C-5DDE5AD7E6A2}" type="presParOf" srcId="{E4B154BC-B056-410A-BFB0-2E42D95AD958}" destId="{1EEB38C7-EF76-4AF1-925B-B2FC3BC20B2E}" srcOrd="5" destOrd="0" presId="urn:microsoft.com/office/officeart/2018/2/layout/IconVerticalSolidList"/>
    <dgm:cxn modelId="{22437D4C-BCF6-4C47-BEEC-B225D337804A}" type="presParOf" srcId="{E4B154BC-B056-410A-BFB0-2E42D95AD958}" destId="{F92F81AC-6367-4A62-B692-9B1390A9488C}" srcOrd="6" destOrd="0" presId="urn:microsoft.com/office/officeart/2018/2/layout/IconVerticalSolidList"/>
    <dgm:cxn modelId="{B7A8DD34-0DE9-4985-B626-280706D8E7F2}" type="presParOf" srcId="{F92F81AC-6367-4A62-B692-9B1390A9488C}" destId="{7A9F7883-8F0F-4170-BD91-95396223343E}" srcOrd="0" destOrd="0" presId="urn:microsoft.com/office/officeart/2018/2/layout/IconVerticalSolidList"/>
    <dgm:cxn modelId="{234D4E4D-D611-4775-B83B-1371992E3F0A}" type="presParOf" srcId="{F92F81AC-6367-4A62-B692-9B1390A9488C}" destId="{3032E178-63BC-43D7-A2F1-6D217A3BC995}" srcOrd="1" destOrd="0" presId="urn:microsoft.com/office/officeart/2018/2/layout/IconVerticalSolidList"/>
    <dgm:cxn modelId="{268AF054-DD0E-4882-BE01-4095240DABEA}" type="presParOf" srcId="{F92F81AC-6367-4A62-B692-9B1390A9488C}" destId="{16070452-26E4-4E78-BEEE-D68D28F8B626}" srcOrd="2" destOrd="0" presId="urn:microsoft.com/office/officeart/2018/2/layout/IconVerticalSolidList"/>
    <dgm:cxn modelId="{F49C64C4-51B5-4E02-8733-9D6C7ECAA717}" type="presParOf" srcId="{F92F81AC-6367-4A62-B692-9B1390A9488C}" destId="{9BC57EFF-ECD3-47D4-BC88-35244FF23166}"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FE734F6-1535-4DD0-9428-BACA559D8879}">
      <dsp:nvSpPr>
        <dsp:cNvPr id="0" name=""/>
        <dsp:cNvSpPr/>
      </dsp:nvSpPr>
      <dsp:spPr>
        <a:xfrm>
          <a:off x="0" y="1808"/>
          <a:ext cx="10515600" cy="916611"/>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5A872E3-0526-42E5-BA1A-6F99419E4D59}">
      <dsp:nvSpPr>
        <dsp:cNvPr id="0" name=""/>
        <dsp:cNvSpPr/>
      </dsp:nvSpPr>
      <dsp:spPr>
        <a:xfrm>
          <a:off x="277275" y="208046"/>
          <a:ext cx="504136" cy="50413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E9D477D-186E-4434-9633-CBD6C8DB6855}">
      <dsp:nvSpPr>
        <dsp:cNvPr id="0" name=""/>
        <dsp:cNvSpPr/>
      </dsp:nvSpPr>
      <dsp:spPr>
        <a:xfrm>
          <a:off x="1058686" y="1808"/>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800100">
            <a:lnSpc>
              <a:spcPct val="90000"/>
            </a:lnSpc>
            <a:spcBef>
              <a:spcPct val="0"/>
            </a:spcBef>
            <a:spcAft>
              <a:spcPct val="35000"/>
            </a:spcAft>
            <a:buNone/>
          </a:pPr>
          <a:r>
            <a:rPr lang="en-US" sz="1800" b="1" kern="1200"/>
            <a:t>Tier Migration</a:t>
          </a:r>
          <a:r>
            <a:rPr lang="en-US" sz="1800" kern="1200"/>
            <a:t>: Targeted upgrade campaigns for 'Blue' cardholders—specifically the Single Male segment—to move them into Silver and Gold categories based on high spending velocity.</a:t>
          </a:r>
        </a:p>
      </dsp:txBody>
      <dsp:txXfrm>
        <a:off x="1058686" y="1808"/>
        <a:ext cx="9456913" cy="916611"/>
      </dsp:txXfrm>
    </dsp:sp>
    <dsp:sp modelId="{090D06C0-40BB-494F-AE9A-E6FA530673DD}">
      <dsp:nvSpPr>
        <dsp:cNvPr id="0" name=""/>
        <dsp:cNvSpPr/>
      </dsp:nvSpPr>
      <dsp:spPr>
        <a:xfrm>
          <a:off x="0" y="1147573"/>
          <a:ext cx="10515600" cy="916611"/>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31B36E3-F07E-4B42-923B-D3461AB336CD}">
      <dsp:nvSpPr>
        <dsp:cNvPr id="0" name=""/>
        <dsp:cNvSpPr/>
      </dsp:nvSpPr>
      <dsp:spPr>
        <a:xfrm>
          <a:off x="277275" y="1353811"/>
          <a:ext cx="504136" cy="50413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8907322-8CF1-4CF0-96CE-B632A550B103}">
      <dsp:nvSpPr>
        <dsp:cNvPr id="0" name=""/>
        <dsp:cNvSpPr/>
      </dsp:nvSpPr>
      <dsp:spPr>
        <a:xfrm>
          <a:off x="1058686" y="1147573"/>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800100">
            <a:lnSpc>
              <a:spcPct val="90000"/>
            </a:lnSpc>
            <a:spcBef>
              <a:spcPct val="0"/>
            </a:spcBef>
            <a:spcAft>
              <a:spcPct val="35000"/>
            </a:spcAft>
            <a:buNone/>
          </a:pPr>
          <a:r>
            <a:rPr lang="en-US" sz="1800" b="1" kern="1200"/>
            <a:t>Portfolio Anchors</a:t>
          </a:r>
          <a:r>
            <a:rPr lang="en-US" sz="1800" kern="1200"/>
            <a:t>: Continued focus on the 'Female Graduate' segment as a low-risk, high-retention revenue base.</a:t>
          </a:r>
        </a:p>
      </dsp:txBody>
      <dsp:txXfrm>
        <a:off x="1058686" y="1147573"/>
        <a:ext cx="9456913" cy="916611"/>
      </dsp:txXfrm>
    </dsp:sp>
    <dsp:sp modelId="{934ED222-7B40-440F-AFE2-792764BD3EF3}">
      <dsp:nvSpPr>
        <dsp:cNvPr id="0" name=""/>
        <dsp:cNvSpPr/>
      </dsp:nvSpPr>
      <dsp:spPr>
        <a:xfrm>
          <a:off x="0" y="2293338"/>
          <a:ext cx="10515600" cy="916611"/>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C3D8F5D-239B-419A-8BE4-C01280EE80C3}">
      <dsp:nvSpPr>
        <dsp:cNvPr id="0" name=""/>
        <dsp:cNvSpPr/>
      </dsp:nvSpPr>
      <dsp:spPr>
        <a:xfrm>
          <a:off x="277275" y="2499576"/>
          <a:ext cx="504136" cy="50413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3666CED8-E3BE-4A1B-A31B-0FC0475B23FA}">
      <dsp:nvSpPr>
        <dsp:cNvPr id="0" name=""/>
        <dsp:cNvSpPr/>
      </dsp:nvSpPr>
      <dsp:spPr>
        <a:xfrm>
          <a:off x="1058686" y="2293338"/>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800100">
            <a:lnSpc>
              <a:spcPct val="90000"/>
            </a:lnSpc>
            <a:spcBef>
              <a:spcPct val="0"/>
            </a:spcBef>
            <a:spcAft>
              <a:spcPct val="35000"/>
            </a:spcAft>
            <a:buNone/>
          </a:pPr>
          <a:r>
            <a:rPr lang="en-US" sz="1800" b="1" kern="1200"/>
            <a:t>Utilization Growth</a:t>
          </a:r>
          <a:r>
            <a:rPr lang="en-US" sz="1800" kern="1200"/>
            <a:t>: Implementing Q1 incentives for 'Platinum' holders to improve the utilization-to-limit ratio.</a:t>
          </a:r>
        </a:p>
      </dsp:txBody>
      <dsp:txXfrm>
        <a:off x="1058686" y="2293338"/>
        <a:ext cx="9456913" cy="916611"/>
      </dsp:txXfrm>
    </dsp:sp>
    <dsp:sp modelId="{7A9F7883-8F0F-4170-BD91-95396223343E}">
      <dsp:nvSpPr>
        <dsp:cNvPr id="0" name=""/>
        <dsp:cNvSpPr/>
      </dsp:nvSpPr>
      <dsp:spPr>
        <a:xfrm>
          <a:off x="0" y="3439103"/>
          <a:ext cx="10515600" cy="916611"/>
        </a:xfrm>
        <a:prstGeom prst="roundRect">
          <a:avLst>
            <a:gd name="adj" fmla="val 10000"/>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032E178-63BC-43D7-A2F1-6D217A3BC995}">
      <dsp:nvSpPr>
        <dsp:cNvPr id="0" name=""/>
        <dsp:cNvSpPr/>
      </dsp:nvSpPr>
      <dsp:spPr>
        <a:xfrm>
          <a:off x="277275" y="3645341"/>
          <a:ext cx="504136" cy="504136"/>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BC57EFF-ECD3-47D4-BC88-35244FF23166}">
      <dsp:nvSpPr>
        <dsp:cNvPr id="0" name=""/>
        <dsp:cNvSpPr/>
      </dsp:nvSpPr>
      <dsp:spPr>
        <a:xfrm>
          <a:off x="1058686" y="3439103"/>
          <a:ext cx="9456913" cy="91661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7008" tIns="97008" rIns="97008" bIns="97008" numCol="1" spcCol="1270" anchor="ctr" anchorCtr="0">
          <a:noAutofit/>
        </a:bodyPr>
        <a:lstStyle/>
        <a:p>
          <a:pPr marL="0" lvl="0" indent="0" algn="l" defTabSz="800100">
            <a:lnSpc>
              <a:spcPct val="90000"/>
            </a:lnSpc>
            <a:spcBef>
              <a:spcPct val="0"/>
            </a:spcBef>
            <a:spcAft>
              <a:spcPct val="35000"/>
            </a:spcAft>
            <a:buNone/>
          </a:pPr>
          <a:r>
            <a:rPr lang="en-US" sz="1800" b="1" kern="1200"/>
            <a:t>Daily Essential Spend</a:t>
          </a:r>
          <a:r>
            <a:rPr lang="en-US" sz="1800" kern="1200"/>
            <a:t>: Strengthening merchant partnerships in the 'Fuel' and 'Grocery' sectors to capture the high frequency of physical 'Swipe' transactions.</a:t>
          </a:r>
        </a:p>
      </dsp:txBody>
      <dsp:txXfrm>
        <a:off x="1058686" y="3439103"/>
        <a:ext cx="9456913" cy="916611"/>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EA75728-1FDF-4D80-A703-30F17BAA377B}" type="datetimeFigureOut">
              <a:rPr lang="en-IN" smtClean="0"/>
              <a:t>14-03-2026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1AB29AA-6252-4310-AB75-BE2AA2B75AB4}" type="slidenum">
              <a:rPr lang="en-IN" smtClean="0"/>
              <a:t>‹#›</a:t>
            </a:fld>
            <a:endParaRPr lang="en-IN"/>
          </a:p>
        </p:txBody>
      </p:sp>
    </p:spTree>
    <p:extLst>
      <p:ext uri="{BB962C8B-B14F-4D97-AF65-F5344CB8AC3E}">
        <p14:creationId xmlns:p14="http://schemas.microsoft.com/office/powerpoint/2010/main" val="40542830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today, I’m excited to walk you through our latest Credit Card Analysis project. As markets become more competitive, understanding 'who' our customers are and 'how' they spend is no longer optional—it's a necessity. I'll demonstrate how we've turned raw transaction data into a strategic tool that identifies growth opportunities and improves customer retention.</a:t>
            </a:r>
            <a:endParaRPr lang="en-IN" dirty="0"/>
          </a:p>
        </p:txBody>
      </p:sp>
      <p:sp>
        <p:nvSpPr>
          <p:cNvPr id="4" name="Slide Number Placeholder 3"/>
          <p:cNvSpPr>
            <a:spLocks noGrp="1"/>
          </p:cNvSpPr>
          <p:nvPr>
            <p:ph type="sldNum" sz="quarter" idx="5"/>
          </p:nvPr>
        </p:nvSpPr>
        <p:spPr/>
        <p:txBody>
          <a:bodyPr/>
          <a:lstStyle/>
          <a:p>
            <a:fld id="{81AB29AA-6252-4310-AB75-BE2AA2B75AB4}" type="slidenum">
              <a:rPr lang="en-IN" smtClean="0"/>
              <a:t>1</a:t>
            </a:fld>
            <a:endParaRPr lang="en-IN"/>
          </a:p>
        </p:txBody>
      </p:sp>
    </p:spTree>
    <p:extLst>
      <p:ext uri="{BB962C8B-B14F-4D97-AF65-F5344CB8AC3E}">
        <p14:creationId xmlns:p14="http://schemas.microsoft.com/office/powerpoint/2010/main" val="1685280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goal was clear: Build two distinct but connected dashboards. The first focuses on the 'Customer'—their age, income, and education. The second focuses on the 'Transaction'—the velocity of spending and the methods used. By the end of this presentation, you’ll see how these two views work together to provide a 360-degree view of our portfolio.</a:t>
            </a:r>
            <a:endParaRPr lang="en-IN" dirty="0"/>
          </a:p>
        </p:txBody>
      </p:sp>
      <p:sp>
        <p:nvSpPr>
          <p:cNvPr id="4" name="Slide Number Placeholder 3"/>
          <p:cNvSpPr>
            <a:spLocks noGrp="1"/>
          </p:cNvSpPr>
          <p:nvPr>
            <p:ph type="sldNum" sz="quarter" idx="5"/>
          </p:nvPr>
        </p:nvSpPr>
        <p:spPr/>
        <p:txBody>
          <a:bodyPr/>
          <a:lstStyle/>
          <a:p>
            <a:fld id="{81AB29AA-6252-4310-AB75-BE2AA2B75AB4}" type="slidenum">
              <a:rPr lang="en-IN" smtClean="0"/>
              <a:t>2</a:t>
            </a:fld>
            <a:endParaRPr lang="en-IN"/>
          </a:p>
        </p:txBody>
      </p:sp>
    </p:spTree>
    <p:extLst>
      <p:ext uri="{BB962C8B-B14F-4D97-AF65-F5344CB8AC3E}">
        <p14:creationId xmlns:p14="http://schemas.microsoft.com/office/powerpoint/2010/main" val="11994900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processed over 10,000 customer records and thousands of transactions. Why? Because looking at a bank statement isn't enough. We need to know if our 'Gold' cardholders are spending more on travel or groceries, and if our 'Silver' cardholders in Texas are more profitable than those in New York. This analysis bridge the gap between 'having data' and 'understanding profit'.</a:t>
            </a:r>
            <a:endParaRPr lang="en-IN" dirty="0"/>
          </a:p>
        </p:txBody>
      </p:sp>
      <p:sp>
        <p:nvSpPr>
          <p:cNvPr id="4" name="Slide Number Placeholder 3"/>
          <p:cNvSpPr>
            <a:spLocks noGrp="1"/>
          </p:cNvSpPr>
          <p:nvPr>
            <p:ph type="sldNum" sz="quarter" idx="5"/>
          </p:nvPr>
        </p:nvSpPr>
        <p:spPr/>
        <p:txBody>
          <a:bodyPr/>
          <a:lstStyle/>
          <a:p>
            <a:fld id="{81AB29AA-6252-4310-AB75-BE2AA2B75AB4}" type="slidenum">
              <a:rPr lang="en-IN" smtClean="0"/>
              <a:t>3</a:t>
            </a:fld>
            <a:endParaRPr lang="en-IN"/>
          </a:p>
        </p:txBody>
      </p:sp>
    </p:spTree>
    <p:extLst>
      <p:ext uri="{BB962C8B-B14F-4D97-AF65-F5344CB8AC3E}">
        <p14:creationId xmlns:p14="http://schemas.microsoft.com/office/powerpoint/2010/main" val="15858520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the visuals, we did the heavy lifting in the back end. We used Power Query to clean inconsistencies and, most importantly, we built a robust Data Model. By linking customers to their transactions via their Client ID, we ensured that a single click on a 'Male' or 'Female' filter updates every single chart across the entire report instantly. We also converted text-based week numbers into actual integers to allow for mathematical growth calculations.</a:t>
            </a:r>
            <a:endParaRPr lang="en-IN" dirty="0"/>
          </a:p>
        </p:txBody>
      </p:sp>
      <p:sp>
        <p:nvSpPr>
          <p:cNvPr id="4" name="Slide Number Placeholder 3"/>
          <p:cNvSpPr>
            <a:spLocks noGrp="1"/>
          </p:cNvSpPr>
          <p:nvPr>
            <p:ph type="sldNum" sz="quarter" idx="5"/>
          </p:nvPr>
        </p:nvSpPr>
        <p:spPr/>
        <p:txBody>
          <a:bodyPr/>
          <a:lstStyle/>
          <a:p>
            <a:fld id="{81AB29AA-6252-4310-AB75-BE2AA2B75AB4}" type="slidenum">
              <a:rPr lang="en-IN" smtClean="0"/>
              <a:t>4</a:t>
            </a:fld>
            <a:endParaRPr lang="en-IN"/>
          </a:p>
        </p:txBody>
      </p:sp>
    </p:spTree>
    <p:extLst>
      <p:ext uri="{BB962C8B-B14F-4D97-AF65-F5344CB8AC3E}">
        <p14:creationId xmlns:p14="http://schemas.microsoft.com/office/powerpoint/2010/main" val="417771936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didn't just sum up columns; we built intelligence. Using DAX, we created dynamic 'buckets' for age and income so stakeholders can see high-level trends. We also developed 'Time Intelligence' measures that automatically compare this week’s revenue to last week’s. This allows us to see immediately if our revenue is growing or shrinking without manual calculation.</a:t>
            </a:r>
            <a:endParaRPr lang="en-IN" dirty="0"/>
          </a:p>
        </p:txBody>
      </p:sp>
      <p:sp>
        <p:nvSpPr>
          <p:cNvPr id="4" name="Slide Number Placeholder 3"/>
          <p:cNvSpPr>
            <a:spLocks noGrp="1"/>
          </p:cNvSpPr>
          <p:nvPr>
            <p:ph type="sldNum" sz="quarter" idx="5"/>
          </p:nvPr>
        </p:nvSpPr>
        <p:spPr/>
        <p:txBody>
          <a:bodyPr/>
          <a:lstStyle/>
          <a:p>
            <a:fld id="{81AB29AA-6252-4310-AB75-BE2AA2B75AB4}" type="slidenum">
              <a:rPr lang="en-IN" smtClean="0"/>
              <a:t>5</a:t>
            </a:fld>
            <a:endParaRPr lang="en-IN"/>
          </a:p>
        </p:txBody>
      </p:sp>
    </p:spTree>
    <p:extLst>
      <p:ext uri="{BB962C8B-B14F-4D97-AF65-F5344CB8AC3E}">
        <p14:creationId xmlns:p14="http://schemas.microsoft.com/office/powerpoint/2010/main" val="18317277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Customer Report. This is where we see the human side of the data. At a glance, you can see our Total Revenue and Average Satisfaction scores. The layout is designed to be 'Slicer-First'—meaning you set your parameters at the top, and the entire story below changes to match your selection.</a:t>
            </a:r>
            <a:endParaRPr lang="en-IN" dirty="0"/>
          </a:p>
        </p:txBody>
      </p:sp>
      <p:sp>
        <p:nvSpPr>
          <p:cNvPr id="4" name="Slide Number Placeholder 3"/>
          <p:cNvSpPr>
            <a:spLocks noGrp="1"/>
          </p:cNvSpPr>
          <p:nvPr>
            <p:ph type="sldNum" sz="quarter" idx="5"/>
          </p:nvPr>
        </p:nvSpPr>
        <p:spPr/>
        <p:txBody>
          <a:bodyPr/>
          <a:lstStyle/>
          <a:p>
            <a:fld id="{81AB29AA-6252-4310-AB75-BE2AA2B75AB4}" type="slidenum">
              <a:rPr lang="en-IN" smtClean="0"/>
              <a:t>6</a:t>
            </a:fld>
            <a:endParaRPr lang="en-IN"/>
          </a:p>
        </p:txBody>
      </p:sp>
    </p:spTree>
    <p:extLst>
      <p:ext uri="{BB962C8B-B14F-4D97-AF65-F5344CB8AC3E}">
        <p14:creationId xmlns:p14="http://schemas.microsoft.com/office/powerpoint/2010/main" val="283994301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the heavy hitters: the </a:t>
            </a:r>
            <a:r>
              <a:rPr lang="en-US" b="1" dirty="0"/>
              <a:t>High-Income Group</a:t>
            </a:r>
            <a:r>
              <a:rPr lang="en-US" dirty="0"/>
              <a:t>. By selecting this filter, we instantly see a shift in the portfolio's DNA. These aren't just our highest spenders; they are our most sophisticated users. The </a:t>
            </a:r>
            <a:r>
              <a:rPr lang="en-US" b="1" dirty="0"/>
              <a:t>Education Level</a:t>
            </a:r>
            <a:r>
              <a:rPr lang="en-US" dirty="0"/>
              <a:t> chart will likely show a concentration in "Graduate" and "Post-Graduate" levels.</a:t>
            </a:r>
            <a:endParaRPr lang="en-IN" dirty="0"/>
          </a:p>
        </p:txBody>
      </p:sp>
      <p:sp>
        <p:nvSpPr>
          <p:cNvPr id="4" name="Slide Number Placeholder 3"/>
          <p:cNvSpPr>
            <a:spLocks noGrp="1"/>
          </p:cNvSpPr>
          <p:nvPr>
            <p:ph type="sldNum" sz="quarter" idx="5"/>
          </p:nvPr>
        </p:nvSpPr>
        <p:spPr/>
        <p:txBody>
          <a:bodyPr/>
          <a:lstStyle/>
          <a:p>
            <a:fld id="{81AB29AA-6252-4310-AB75-BE2AA2B75AB4}" type="slidenum">
              <a:rPr lang="en-IN" smtClean="0"/>
              <a:t>7</a:t>
            </a:fld>
            <a:endParaRPr lang="en-IN"/>
          </a:p>
        </p:txBody>
      </p:sp>
    </p:spTree>
    <p:extLst>
      <p:ext uri="{BB962C8B-B14F-4D97-AF65-F5344CB8AC3E}">
        <p14:creationId xmlns:p14="http://schemas.microsoft.com/office/powerpoint/2010/main" val="27768689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to our next deep-dive, let's look at the </a:t>
            </a:r>
            <a:r>
              <a:rPr lang="en-US" b="1" dirty="0"/>
              <a:t>Graduate Female</a:t>
            </a:r>
            <a:r>
              <a:rPr lang="en-US" dirty="0"/>
              <a:t> segment. Notice the 'Revenue by Job Type' visual on your screen. This demographic is largely composed of professionals in government and business roles. What does this mean for us? It means recurring, predictable revenue. Unlike higher-risk segments, these customers use their cards for consistent lifestyle needs. For the marketing team, the insight here is clear: this group doesn't need 'flashy' promotions; they value reliability and rewards that complement their professional lives.</a:t>
            </a:r>
            <a:endParaRPr lang="en-IN" dirty="0"/>
          </a:p>
        </p:txBody>
      </p:sp>
      <p:sp>
        <p:nvSpPr>
          <p:cNvPr id="4" name="Slide Number Placeholder 3"/>
          <p:cNvSpPr>
            <a:spLocks noGrp="1"/>
          </p:cNvSpPr>
          <p:nvPr>
            <p:ph type="sldNum" sz="quarter" idx="5"/>
          </p:nvPr>
        </p:nvSpPr>
        <p:spPr/>
        <p:txBody>
          <a:bodyPr/>
          <a:lstStyle/>
          <a:p>
            <a:fld id="{81AB29AA-6252-4310-AB75-BE2AA2B75AB4}" type="slidenum">
              <a:rPr lang="en-IN" smtClean="0"/>
              <a:t>8</a:t>
            </a:fld>
            <a:endParaRPr lang="en-IN"/>
          </a:p>
        </p:txBody>
      </p:sp>
    </p:spTree>
    <p:extLst>
      <p:ext uri="{BB962C8B-B14F-4D97-AF65-F5344CB8AC3E}">
        <p14:creationId xmlns:p14="http://schemas.microsoft.com/office/powerpoint/2010/main" val="403316871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let’s look at our most active lifestyle segment: the </a:t>
            </a:r>
            <a:r>
              <a:rPr lang="en-US" b="1" dirty="0"/>
              <a:t>Single Male</a:t>
            </a:r>
            <a:r>
              <a:rPr lang="en-US" dirty="0"/>
              <a:t>. When we filter for this group, the data tells a story of high velocity. Unlike our previous segments, these customers are spending heavily on 'Fuel' and 'Entertainment.' They are highly mobile and active consumers. What’s interesting here is that while they currently dominate our 'Blue' card category, many have the credit utilization ratios that suggest they are ready for a 'Silver' or 'Gold' upgrade.</a:t>
            </a:r>
          </a:p>
          <a:p>
            <a:endParaRPr lang="en-IN" dirty="0"/>
          </a:p>
        </p:txBody>
      </p:sp>
      <p:sp>
        <p:nvSpPr>
          <p:cNvPr id="4" name="Slide Number Placeholder 3"/>
          <p:cNvSpPr>
            <a:spLocks noGrp="1"/>
          </p:cNvSpPr>
          <p:nvPr>
            <p:ph type="sldNum" sz="quarter" idx="5"/>
          </p:nvPr>
        </p:nvSpPr>
        <p:spPr/>
        <p:txBody>
          <a:bodyPr/>
          <a:lstStyle/>
          <a:p>
            <a:fld id="{81AB29AA-6252-4310-AB75-BE2AA2B75AB4}" type="slidenum">
              <a:rPr lang="en-IN" smtClean="0"/>
              <a:t>9</a:t>
            </a:fld>
            <a:endParaRPr lang="en-IN"/>
          </a:p>
        </p:txBody>
      </p:sp>
    </p:spTree>
    <p:extLst>
      <p:ext uri="{BB962C8B-B14F-4D97-AF65-F5344CB8AC3E}">
        <p14:creationId xmlns:p14="http://schemas.microsoft.com/office/powerpoint/2010/main" val="16117156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switch gears to the Transaction Report. If the first dashboard told us 'Who' they are, this one tells us 'What' they are doing. This is a high-velocity report designed to track spending habits and method preferences in real-time.</a:t>
            </a:r>
            <a:endParaRPr lang="en-IN" dirty="0"/>
          </a:p>
        </p:txBody>
      </p:sp>
      <p:sp>
        <p:nvSpPr>
          <p:cNvPr id="4" name="Slide Number Placeholder 3"/>
          <p:cNvSpPr>
            <a:spLocks noGrp="1"/>
          </p:cNvSpPr>
          <p:nvPr>
            <p:ph type="sldNum" sz="quarter" idx="5"/>
          </p:nvPr>
        </p:nvSpPr>
        <p:spPr/>
        <p:txBody>
          <a:bodyPr/>
          <a:lstStyle/>
          <a:p>
            <a:fld id="{81AB29AA-6252-4310-AB75-BE2AA2B75AB4}" type="slidenum">
              <a:rPr lang="en-IN" smtClean="0"/>
              <a:t>10</a:t>
            </a:fld>
            <a:endParaRPr lang="en-IN"/>
          </a:p>
        </p:txBody>
      </p:sp>
    </p:spTree>
    <p:extLst>
      <p:ext uri="{BB962C8B-B14F-4D97-AF65-F5344CB8AC3E}">
        <p14:creationId xmlns:p14="http://schemas.microsoft.com/office/powerpoint/2010/main" val="34926972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shift our focus to the engine room of our transaction volume: </a:t>
            </a:r>
            <a:r>
              <a:rPr lang="en-US" b="1" dirty="0"/>
              <a:t>Males with Blue Cards</a:t>
            </a:r>
            <a:r>
              <a:rPr lang="en-US" dirty="0"/>
              <a:t>. While our previous slides looked at high-income luxury spending, this filter shows us the daily reality of our portfolio.</a:t>
            </a:r>
          </a:p>
          <a:p>
            <a:r>
              <a:rPr lang="en-US" dirty="0"/>
              <a:t>Notice the spending categories here. We see a heavy concentration in 'Bills' and 'Fuel.' These are non-discretionary, recurring transactions. For the bank, this means consistent, predictable cash flow. Interestingly, this segment shows a high preference for 'Swipe' and 'Chip' transactions, suggesting they are using the card primarily in physical retail environments.</a:t>
            </a:r>
          </a:p>
          <a:p>
            <a:endParaRPr lang="en-IN" dirty="0"/>
          </a:p>
        </p:txBody>
      </p:sp>
      <p:sp>
        <p:nvSpPr>
          <p:cNvPr id="4" name="Slide Number Placeholder 3"/>
          <p:cNvSpPr>
            <a:spLocks noGrp="1"/>
          </p:cNvSpPr>
          <p:nvPr>
            <p:ph type="sldNum" sz="quarter" idx="5"/>
          </p:nvPr>
        </p:nvSpPr>
        <p:spPr/>
        <p:txBody>
          <a:bodyPr/>
          <a:lstStyle/>
          <a:p>
            <a:fld id="{81AB29AA-6252-4310-AB75-BE2AA2B75AB4}" type="slidenum">
              <a:rPr lang="en-IN" smtClean="0"/>
              <a:t>11</a:t>
            </a:fld>
            <a:endParaRPr lang="en-IN"/>
          </a:p>
        </p:txBody>
      </p:sp>
    </p:spTree>
    <p:extLst>
      <p:ext uri="{BB962C8B-B14F-4D97-AF65-F5344CB8AC3E}">
        <p14:creationId xmlns:p14="http://schemas.microsoft.com/office/powerpoint/2010/main" val="40732165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look at the physical touchpoint of our business: </a:t>
            </a:r>
            <a:r>
              <a:rPr lang="en-US" b="1" dirty="0"/>
              <a:t>Swipe Transactions</a:t>
            </a:r>
            <a:r>
              <a:rPr lang="en-US" dirty="0"/>
              <a:t>. When we isolate this method, we see a very specific spending profile. This isn't where people book expensive flights or luxury hotels; this is where they buy their groceries, fill up their gas tanks, and pay for their morning coffee. By analyzing this data, we can partner with local retailers for 'point-of-sale' rewards, ensuring that every time a customer reaches for a card to swipe, they choose ours for the immediate cashback benefits.</a:t>
            </a:r>
            <a:endParaRPr lang="en-IN" dirty="0"/>
          </a:p>
        </p:txBody>
      </p:sp>
      <p:sp>
        <p:nvSpPr>
          <p:cNvPr id="4" name="Slide Number Placeholder 3"/>
          <p:cNvSpPr>
            <a:spLocks noGrp="1"/>
          </p:cNvSpPr>
          <p:nvPr>
            <p:ph type="sldNum" sz="quarter" idx="5"/>
          </p:nvPr>
        </p:nvSpPr>
        <p:spPr/>
        <p:txBody>
          <a:bodyPr/>
          <a:lstStyle/>
          <a:p>
            <a:fld id="{81AB29AA-6252-4310-AB75-BE2AA2B75AB4}" type="slidenum">
              <a:rPr lang="en-IN" smtClean="0"/>
              <a:t>12</a:t>
            </a:fld>
            <a:endParaRPr lang="en-IN"/>
          </a:p>
        </p:txBody>
      </p:sp>
    </p:spTree>
    <p:extLst>
      <p:ext uri="{BB962C8B-B14F-4D97-AF65-F5344CB8AC3E}">
        <p14:creationId xmlns:p14="http://schemas.microsoft.com/office/powerpoint/2010/main" val="23446822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filtering for this early Q1 period, we can see exactly how our most affluent clients start their year. This represents a prime opportunity for targeted 'high-spend' incentives. If we can encourage just a 5% increase in their usage during this early-year window, the revenue impact would be equivalent to hundreds of standard cardholders. It’s about focusing on value over volume.</a:t>
            </a:r>
            <a:endParaRPr lang="en-IN" dirty="0"/>
          </a:p>
        </p:txBody>
      </p:sp>
      <p:sp>
        <p:nvSpPr>
          <p:cNvPr id="4" name="Slide Number Placeholder 3"/>
          <p:cNvSpPr>
            <a:spLocks noGrp="1"/>
          </p:cNvSpPr>
          <p:nvPr>
            <p:ph type="sldNum" sz="quarter" idx="5"/>
          </p:nvPr>
        </p:nvSpPr>
        <p:spPr/>
        <p:txBody>
          <a:bodyPr/>
          <a:lstStyle/>
          <a:p>
            <a:fld id="{81AB29AA-6252-4310-AB75-BE2AA2B75AB4}" type="slidenum">
              <a:rPr lang="en-IN" smtClean="0"/>
              <a:t>13</a:t>
            </a:fld>
            <a:endParaRPr lang="en-IN"/>
          </a:p>
        </p:txBody>
      </p:sp>
    </p:spTree>
    <p:extLst>
      <p:ext uri="{BB962C8B-B14F-4D97-AF65-F5344CB8AC3E}">
        <p14:creationId xmlns:p14="http://schemas.microsoft.com/office/powerpoint/2010/main" val="64225047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bring everything together, our analysis reveals a dual-engine growth model. We have a high-volume base in our Blue cardholders who are ready for upward migration, and a high-value base in our Platinum and Graduate segments that require deeper engagement.</a:t>
            </a:r>
          </a:p>
          <a:p>
            <a:r>
              <a:rPr lang="en-US" dirty="0"/>
              <a:t>By focusing our upcoming strategy on increasing utilization among top-tier clients while transitioning high-velocity spenders to more premium card categories, we can drive significant revenue growth without increasing our customer acquisition costs. These dashboards move us away from reactive reporting and give us the surgical precision needed to make data-driven decisions that impact the bottom line.</a:t>
            </a:r>
          </a:p>
        </p:txBody>
      </p:sp>
      <p:sp>
        <p:nvSpPr>
          <p:cNvPr id="4" name="Slide Number Placeholder 3"/>
          <p:cNvSpPr>
            <a:spLocks noGrp="1"/>
          </p:cNvSpPr>
          <p:nvPr>
            <p:ph type="sldNum" sz="quarter" idx="5"/>
          </p:nvPr>
        </p:nvSpPr>
        <p:spPr/>
        <p:txBody>
          <a:bodyPr/>
          <a:lstStyle/>
          <a:p>
            <a:fld id="{81AB29AA-6252-4310-AB75-BE2AA2B75AB4}" type="slidenum">
              <a:rPr lang="en-IN" smtClean="0"/>
              <a:t>14</a:t>
            </a:fld>
            <a:endParaRPr lang="en-IN"/>
          </a:p>
        </p:txBody>
      </p:sp>
    </p:spTree>
    <p:extLst>
      <p:ext uri="{BB962C8B-B14F-4D97-AF65-F5344CB8AC3E}">
        <p14:creationId xmlns:p14="http://schemas.microsoft.com/office/powerpoint/2010/main" val="396094501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Thank you.</a:t>
            </a:r>
          </a:p>
        </p:txBody>
      </p:sp>
      <p:sp>
        <p:nvSpPr>
          <p:cNvPr id="4" name="Slide Number Placeholder 3"/>
          <p:cNvSpPr>
            <a:spLocks noGrp="1"/>
          </p:cNvSpPr>
          <p:nvPr>
            <p:ph type="sldNum" sz="quarter" idx="5"/>
          </p:nvPr>
        </p:nvSpPr>
        <p:spPr/>
        <p:txBody>
          <a:bodyPr/>
          <a:lstStyle/>
          <a:p>
            <a:fld id="{81AB29AA-6252-4310-AB75-BE2AA2B75AB4}" type="slidenum">
              <a:rPr lang="en-IN" smtClean="0"/>
              <a:t>15</a:t>
            </a:fld>
            <a:endParaRPr lang="en-IN"/>
          </a:p>
        </p:txBody>
      </p:sp>
    </p:spTree>
    <p:extLst>
      <p:ext uri="{BB962C8B-B14F-4D97-AF65-F5344CB8AC3E}">
        <p14:creationId xmlns:p14="http://schemas.microsoft.com/office/powerpoint/2010/main" val="20848141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A612E-6255-8780-4EA5-628009F6C41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170E008-3F3E-9930-B3C1-1FE0FE6BD1A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FBAFB94-8BBB-0986-C2A4-BF9CB269222F}"/>
              </a:ext>
            </a:extLst>
          </p:cNvPr>
          <p:cNvSpPr>
            <a:spLocks noGrp="1"/>
          </p:cNvSpPr>
          <p:nvPr>
            <p:ph type="dt" sz="half" idx="10"/>
          </p:nvPr>
        </p:nvSpPr>
        <p:spPr/>
        <p:txBody>
          <a:bodyPr/>
          <a:lstStyle/>
          <a:p>
            <a:fld id="{F0AEB77D-1D35-4988-9DFE-8268F32E7B72}" type="datetimeFigureOut">
              <a:rPr lang="en-IN" smtClean="0"/>
              <a:t>14-03-2026</a:t>
            </a:fld>
            <a:endParaRPr lang="en-IN"/>
          </a:p>
        </p:txBody>
      </p:sp>
      <p:sp>
        <p:nvSpPr>
          <p:cNvPr id="5" name="Footer Placeholder 4">
            <a:extLst>
              <a:ext uri="{FF2B5EF4-FFF2-40B4-BE49-F238E27FC236}">
                <a16:creationId xmlns:a16="http://schemas.microsoft.com/office/drawing/2014/main" id="{116EB5C2-1A41-6E86-480B-8E1DCE6547E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550465-CDC6-7AA7-09FB-AE0E8BCACB7C}"/>
              </a:ext>
            </a:extLst>
          </p:cNvPr>
          <p:cNvSpPr>
            <a:spLocks noGrp="1"/>
          </p:cNvSpPr>
          <p:nvPr>
            <p:ph type="sldNum" sz="quarter" idx="12"/>
          </p:nvPr>
        </p:nvSpPr>
        <p:spPr/>
        <p:txBody>
          <a:bodyPr/>
          <a:lstStyle/>
          <a:p>
            <a:fld id="{68070822-7F96-4BE1-BBDE-45B58F5D2791}" type="slidenum">
              <a:rPr lang="en-IN" smtClean="0"/>
              <a:t>‹#›</a:t>
            </a:fld>
            <a:endParaRPr lang="en-IN"/>
          </a:p>
        </p:txBody>
      </p:sp>
    </p:spTree>
    <p:extLst>
      <p:ext uri="{BB962C8B-B14F-4D97-AF65-F5344CB8AC3E}">
        <p14:creationId xmlns:p14="http://schemas.microsoft.com/office/powerpoint/2010/main" val="42376534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4DEDE4-4F13-067C-EEF0-08B69B52A0B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B94625E-F2F6-F67A-F580-DA5F406A776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6FAB1D3-7A02-3BA2-20DA-309298A70AF4}"/>
              </a:ext>
            </a:extLst>
          </p:cNvPr>
          <p:cNvSpPr>
            <a:spLocks noGrp="1"/>
          </p:cNvSpPr>
          <p:nvPr>
            <p:ph type="dt" sz="half" idx="10"/>
          </p:nvPr>
        </p:nvSpPr>
        <p:spPr/>
        <p:txBody>
          <a:bodyPr/>
          <a:lstStyle/>
          <a:p>
            <a:fld id="{F0AEB77D-1D35-4988-9DFE-8268F32E7B72}" type="datetimeFigureOut">
              <a:rPr lang="en-IN" smtClean="0"/>
              <a:t>14-03-2026</a:t>
            </a:fld>
            <a:endParaRPr lang="en-IN"/>
          </a:p>
        </p:txBody>
      </p:sp>
      <p:sp>
        <p:nvSpPr>
          <p:cNvPr id="5" name="Footer Placeholder 4">
            <a:extLst>
              <a:ext uri="{FF2B5EF4-FFF2-40B4-BE49-F238E27FC236}">
                <a16:creationId xmlns:a16="http://schemas.microsoft.com/office/drawing/2014/main" id="{DF338D54-2FE0-C669-420B-B6F9F730FD4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127BE4B-D4FC-C538-C5C5-2751FBCB8C94}"/>
              </a:ext>
            </a:extLst>
          </p:cNvPr>
          <p:cNvSpPr>
            <a:spLocks noGrp="1"/>
          </p:cNvSpPr>
          <p:nvPr>
            <p:ph type="sldNum" sz="quarter" idx="12"/>
          </p:nvPr>
        </p:nvSpPr>
        <p:spPr/>
        <p:txBody>
          <a:bodyPr/>
          <a:lstStyle/>
          <a:p>
            <a:fld id="{68070822-7F96-4BE1-BBDE-45B58F5D2791}" type="slidenum">
              <a:rPr lang="en-IN" smtClean="0"/>
              <a:t>‹#›</a:t>
            </a:fld>
            <a:endParaRPr lang="en-IN"/>
          </a:p>
        </p:txBody>
      </p:sp>
    </p:spTree>
    <p:extLst>
      <p:ext uri="{BB962C8B-B14F-4D97-AF65-F5344CB8AC3E}">
        <p14:creationId xmlns:p14="http://schemas.microsoft.com/office/powerpoint/2010/main" val="4047599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5BCCF-A0BB-6CDD-54C8-3D172D194D4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8998BE2-F670-A709-93A7-00FEF2561D5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2F781C8-8EEE-EF2C-FD4E-D37E85AB5E71}"/>
              </a:ext>
            </a:extLst>
          </p:cNvPr>
          <p:cNvSpPr>
            <a:spLocks noGrp="1"/>
          </p:cNvSpPr>
          <p:nvPr>
            <p:ph type="dt" sz="half" idx="10"/>
          </p:nvPr>
        </p:nvSpPr>
        <p:spPr/>
        <p:txBody>
          <a:bodyPr/>
          <a:lstStyle/>
          <a:p>
            <a:fld id="{F0AEB77D-1D35-4988-9DFE-8268F32E7B72}" type="datetimeFigureOut">
              <a:rPr lang="en-IN" smtClean="0"/>
              <a:t>14-03-2026</a:t>
            </a:fld>
            <a:endParaRPr lang="en-IN"/>
          </a:p>
        </p:txBody>
      </p:sp>
      <p:sp>
        <p:nvSpPr>
          <p:cNvPr id="5" name="Footer Placeholder 4">
            <a:extLst>
              <a:ext uri="{FF2B5EF4-FFF2-40B4-BE49-F238E27FC236}">
                <a16:creationId xmlns:a16="http://schemas.microsoft.com/office/drawing/2014/main" id="{A48046FE-9F09-026E-991A-C97765C292F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5B695D3-86EC-1745-2FBE-7695D1206B57}"/>
              </a:ext>
            </a:extLst>
          </p:cNvPr>
          <p:cNvSpPr>
            <a:spLocks noGrp="1"/>
          </p:cNvSpPr>
          <p:nvPr>
            <p:ph type="sldNum" sz="quarter" idx="12"/>
          </p:nvPr>
        </p:nvSpPr>
        <p:spPr/>
        <p:txBody>
          <a:bodyPr/>
          <a:lstStyle/>
          <a:p>
            <a:fld id="{68070822-7F96-4BE1-BBDE-45B58F5D2791}" type="slidenum">
              <a:rPr lang="en-IN" smtClean="0"/>
              <a:t>‹#›</a:t>
            </a:fld>
            <a:endParaRPr lang="en-IN"/>
          </a:p>
        </p:txBody>
      </p:sp>
    </p:spTree>
    <p:extLst>
      <p:ext uri="{BB962C8B-B14F-4D97-AF65-F5344CB8AC3E}">
        <p14:creationId xmlns:p14="http://schemas.microsoft.com/office/powerpoint/2010/main" val="25693189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7F84C-75EA-6558-0783-1115913A56A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05C22AB-F453-C3B9-ED1D-5F0E5D6C7E5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507C561-BA10-1F85-57CC-D1173C09D8B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8C927F2-CF27-FBC5-B3A2-232980C998D4}"/>
              </a:ext>
            </a:extLst>
          </p:cNvPr>
          <p:cNvSpPr>
            <a:spLocks noGrp="1"/>
          </p:cNvSpPr>
          <p:nvPr>
            <p:ph type="dt" sz="half" idx="10"/>
          </p:nvPr>
        </p:nvSpPr>
        <p:spPr/>
        <p:txBody>
          <a:bodyPr/>
          <a:lstStyle/>
          <a:p>
            <a:fld id="{F0AEB77D-1D35-4988-9DFE-8268F32E7B72}" type="datetimeFigureOut">
              <a:rPr lang="en-IN" smtClean="0"/>
              <a:t>14-03-2026</a:t>
            </a:fld>
            <a:endParaRPr lang="en-IN"/>
          </a:p>
        </p:txBody>
      </p:sp>
      <p:sp>
        <p:nvSpPr>
          <p:cNvPr id="6" name="Footer Placeholder 5">
            <a:extLst>
              <a:ext uri="{FF2B5EF4-FFF2-40B4-BE49-F238E27FC236}">
                <a16:creationId xmlns:a16="http://schemas.microsoft.com/office/drawing/2014/main" id="{A8B606B9-18BA-C8F8-B311-50B8455B0A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82F2663-3988-1EC0-8E50-EE15AB8011A7}"/>
              </a:ext>
            </a:extLst>
          </p:cNvPr>
          <p:cNvSpPr>
            <a:spLocks noGrp="1"/>
          </p:cNvSpPr>
          <p:nvPr>
            <p:ph type="sldNum" sz="quarter" idx="12"/>
          </p:nvPr>
        </p:nvSpPr>
        <p:spPr/>
        <p:txBody>
          <a:bodyPr/>
          <a:lstStyle/>
          <a:p>
            <a:fld id="{68070822-7F96-4BE1-BBDE-45B58F5D2791}" type="slidenum">
              <a:rPr lang="en-IN" smtClean="0"/>
              <a:t>‹#›</a:t>
            </a:fld>
            <a:endParaRPr lang="en-IN"/>
          </a:p>
        </p:txBody>
      </p:sp>
    </p:spTree>
    <p:extLst>
      <p:ext uri="{BB962C8B-B14F-4D97-AF65-F5344CB8AC3E}">
        <p14:creationId xmlns:p14="http://schemas.microsoft.com/office/powerpoint/2010/main" val="41474305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95423D-BE19-C8AC-1BB9-F2CC8D08D2A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2D75595C-D24C-5415-67A6-E1772ADA92B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1C1254-7F8C-EF6B-4260-00ECBBE908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903C177-678A-DE21-B976-0CEECCDAC8A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0FF39DA-4F05-25D1-4172-6DA095C4E97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8854F12-09A1-7631-D62D-B4AF4CAB23FF}"/>
              </a:ext>
            </a:extLst>
          </p:cNvPr>
          <p:cNvSpPr>
            <a:spLocks noGrp="1"/>
          </p:cNvSpPr>
          <p:nvPr>
            <p:ph type="dt" sz="half" idx="10"/>
          </p:nvPr>
        </p:nvSpPr>
        <p:spPr/>
        <p:txBody>
          <a:bodyPr/>
          <a:lstStyle/>
          <a:p>
            <a:fld id="{F0AEB77D-1D35-4988-9DFE-8268F32E7B72}" type="datetimeFigureOut">
              <a:rPr lang="en-IN" smtClean="0"/>
              <a:t>14-03-2026</a:t>
            </a:fld>
            <a:endParaRPr lang="en-IN"/>
          </a:p>
        </p:txBody>
      </p:sp>
      <p:sp>
        <p:nvSpPr>
          <p:cNvPr id="8" name="Footer Placeholder 7">
            <a:extLst>
              <a:ext uri="{FF2B5EF4-FFF2-40B4-BE49-F238E27FC236}">
                <a16:creationId xmlns:a16="http://schemas.microsoft.com/office/drawing/2014/main" id="{E39F67B0-9479-3533-CDC9-6ABFA8A7514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6825FF9-00AE-9900-0B10-AA553B32F0C8}"/>
              </a:ext>
            </a:extLst>
          </p:cNvPr>
          <p:cNvSpPr>
            <a:spLocks noGrp="1"/>
          </p:cNvSpPr>
          <p:nvPr>
            <p:ph type="sldNum" sz="quarter" idx="12"/>
          </p:nvPr>
        </p:nvSpPr>
        <p:spPr/>
        <p:txBody>
          <a:bodyPr/>
          <a:lstStyle/>
          <a:p>
            <a:fld id="{68070822-7F96-4BE1-BBDE-45B58F5D2791}" type="slidenum">
              <a:rPr lang="en-IN" smtClean="0"/>
              <a:t>‹#›</a:t>
            </a:fld>
            <a:endParaRPr lang="en-IN"/>
          </a:p>
        </p:txBody>
      </p:sp>
    </p:spTree>
    <p:extLst>
      <p:ext uri="{BB962C8B-B14F-4D97-AF65-F5344CB8AC3E}">
        <p14:creationId xmlns:p14="http://schemas.microsoft.com/office/powerpoint/2010/main" val="41861329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B5F9A-8AB5-8C34-9FB5-77E0711A9D6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417C1BD-1CCC-0415-80A6-154E549BEDF8}"/>
              </a:ext>
            </a:extLst>
          </p:cNvPr>
          <p:cNvSpPr>
            <a:spLocks noGrp="1"/>
          </p:cNvSpPr>
          <p:nvPr>
            <p:ph type="dt" sz="half" idx="10"/>
          </p:nvPr>
        </p:nvSpPr>
        <p:spPr/>
        <p:txBody>
          <a:bodyPr/>
          <a:lstStyle/>
          <a:p>
            <a:fld id="{F0AEB77D-1D35-4988-9DFE-8268F32E7B72}" type="datetimeFigureOut">
              <a:rPr lang="en-IN" smtClean="0"/>
              <a:t>14-03-2026</a:t>
            </a:fld>
            <a:endParaRPr lang="en-IN"/>
          </a:p>
        </p:txBody>
      </p:sp>
      <p:sp>
        <p:nvSpPr>
          <p:cNvPr id="4" name="Footer Placeholder 3">
            <a:extLst>
              <a:ext uri="{FF2B5EF4-FFF2-40B4-BE49-F238E27FC236}">
                <a16:creationId xmlns:a16="http://schemas.microsoft.com/office/drawing/2014/main" id="{4BECCEE8-8B04-4496-D363-741B0FE80D1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242F5CF5-C7AE-A20E-D58E-3D4438769675}"/>
              </a:ext>
            </a:extLst>
          </p:cNvPr>
          <p:cNvSpPr>
            <a:spLocks noGrp="1"/>
          </p:cNvSpPr>
          <p:nvPr>
            <p:ph type="sldNum" sz="quarter" idx="12"/>
          </p:nvPr>
        </p:nvSpPr>
        <p:spPr/>
        <p:txBody>
          <a:bodyPr/>
          <a:lstStyle/>
          <a:p>
            <a:fld id="{68070822-7F96-4BE1-BBDE-45B58F5D2791}" type="slidenum">
              <a:rPr lang="en-IN" smtClean="0"/>
              <a:t>‹#›</a:t>
            </a:fld>
            <a:endParaRPr lang="en-IN"/>
          </a:p>
        </p:txBody>
      </p:sp>
    </p:spTree>
    <p:extLst>
      <p:ext uri="{BB962C8B-B14F-4D97-AF65-F5344CB8AC3E}">
        <p14:creationId xmlns:p14="http://schemas.microsoft.com/office/powerpoint/2010/main" val="6729195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F3B9E0-71D1-89F7-E90E-FEB6FACC2312}"/>
              </a:ext>
            </a:extLst>
          </p:cNvPr>
          <p:cNvSpPr>
            <a:spLocks noGrp="1"/>
          </p:cNvSpPr>
          <p:nvPr>
            <p:ph type="dt" sz="half" idx="10"/>
          </p:nvPr>
        </p:nvSpPr>
        <p:spPr/>
        <p:txBody>
          <a:bodyPr/>
          <a:lstStyle/>
          <a:p>
            <a:fld id="{F0AEB77D-1D35-4988-9DFE-8268F32E7B72}" type="datetimeFigureOut">
              <a:rPr lang="en-IN" smtClean="0"/>
              <a:t>14-03-2026</a:t>
            </a:fld>
            <a:endParaRPr lang="en-IN"/>
          </a:p>
        </p:txBody>
      </p:sp>
      <p:sp>
        <p:nvSpPr>
          <p:cNvPr id="3" name="Footer Placeholder 2">
            <a:extLst>
              <a:ext uri="{FF2B5EF4-FFF2-40B4-BE49-F238E27FC236}">
                <a16:creationId xmlns:a16="http://schemas.microsoft.com/office/drawing/2014/main" id="{A3DE2F07-0FF7-6655-D50A-738904450B1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997DE48-574B-C443-FF71-3F1D8CE3B9C3}"/>
              </a:ext>
            </a:extLst>
          </p:cNvPr>
          <p:cNvSpPr>
            <a:spLocks noGrp="1"/>
          </p:cNvSpPr>
          <p:nvPr>
            <p:ph type="sldNum" sz="quarter" idx="12"/>
          </p:nvPr>
        </p:nvSpPr>
        <p:spPr/>
        <p:txBody>
          <a:bodyPr/>
          <a:lstStyle/>
          <a:p>
            <a:fld id="{68070822-7F96-4BE1-BBDE-45B58F5D2791}" type="slidenum">
              <a:rPr lang="en-IN" smtClean="0"/>
              <a:t>‹#›</a:t>
            </a:fld>
            <a:endParaRPr lang="en-IN"/>
          </a:p>
        </p:txBody>
      </p:sp>
    </p:spTree>
    <p:extLst>
      <p:ext uri="{BB962C8B-B14F-4D97-AF65-F5344CB8AC3E}">
        <p14:creationId xmlns:p14="http://schemas.microsoft.com/office/powerpoint/2010/main" val="680558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8A064-537B-630A-B813-780D82F1F52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8415364-A7E5-EFE0-1C20-205659E1CA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1EFB8E1-D77A-14C0-FFCD-36557B0363F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B2512C9-8D25-B237-C7B8-A832DC1A7766}"/>
              </a:ext>
            </a:extLst>
          </p:cNvPr>
          <p:cNvSpPr>
            <a:spLocks noGrp="1"/>
          </p:cNvSpPr>
          <p:nvPr>
            <p:ph type="dt" sz="half" idx="10"/>
          </p:nvPr>
        </p:nvSpPr>
        <p:spPr/>
        <p:txBody>
          <a:bodyPr/>
          <a:lstStyle/>
          <a:p>
            <a:fld id="{F0AEB77D-1D35-4988-9DFE-8268F32E7B72}" type="datetimeFigureOut">
              <a:rPr lang="en-IN" smtClean="0"/>
              <a:t>14-03-2026</a:t>
            </a:fld>
            <a:endParaRPr lang="en-IN"/>
          </a:p>
        </p:txBody>
      </p:sp>
      <p:sp>
        <p:nvSpPr>
          <p:cNvPr id="6" name="Footer Placeholder 5">
            <a:extLst>
              <a:ext uri="{FF2B5EF4-FFF2-40B4-BE49-F238E27FC236}">
                <a16:creationId xmlns:a16="http://schemas.microsoft.com/office/drawing/2014/main" id="{57F67A83-839E-8D10-83DC-C130926E36F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8A14FE8-3B6A-2CEC-0739-5AB547100BF7}"/>
              </a:ext>
            </a:extLst>
          </p:cNvPr>
          <p:cNvSpPr>
            <a:spLocks noGrp="1"/>
          </p:cNvSpPr>
          <p:nvPr>
            <p:ph type="sldNum" sz="quarter" idx="12"/>
          </p:nvPr>
        </p:nvSpPr>
        <p:spPr/>
        <p:txBody>
          <a:bodyPr/>
          <a:lstStyle/>
          <a:p>
            <a:fld id="{68070822-7F96-4BE1-BBDE-45B58F5D2791}" type="slidenum">
              <a:rPr lang="en-IN" smtClean="0"/>
              <a:t>‹#›</a:t>
            </a:fld>
            <a:endParaRPr lang="en-IN"/>
          </a:p>
        </p:txBody>
      </p:sp>
    </p:spTree>
    <p:extLst>
      <p:ext uri="{BB962C8B-B14F-4D97-AF65-F5344CB8AC3E}">
        <p14:creationId xmlns:p14="http://schemas.microsoft.com/office/powerpoint/2010/main" val="39456352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97595-1BF0-950D-41C6-AE4BC76D04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748569A-5FFF-ACFB-5C24-B7BC144AFFB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D66F93F-EB4C-3161-E8C4-4285A22245C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19C5B9B-0455-4E8C-EAFD-3E03895BBCE2}"/>
              </a:ext>
            </a:extLst>
          </p:cNvPr>
          <p:cNvSpPr>
            <a:spLocks noGrp="1"/>
          </p:cNvSpPr>
          <p:nvPr>
            <p:ph type="dt" sz="half" idx="10"/>
          </p:nvPr>
        </p:nvSpPr>
        <p:spPr/>
        <p:txBody>
          <a:bodyPr/>
          <a:lstStyle/>
          <a:p>
            <a:fld id="{F0AEB77D-1D35-4988-9DFE-8268F32E7B72}" type="datetimeFigureOut">
              <a:rPr lang="en-IN" smtClean="0"/>
              <a:t>14-03-2026</a:t>
            </a:fld>
            <a:endParaRPr lang="en-IN"/>
          </a:p>
        </p:txBody>
      </p:sp>
      <p:sp>
        <p:nvSpPr>
          <p:cNvPr id="6" name="Footer Placeholder 5">
            <a:extLst>
              <a:ext uri="{FF2B5EF4-FFF2-40B4-BE49-F238E27FC236}">
                <a16:creationId xmlns:a16="http://schemas.microsoft.com/office/drawing/2014/main" id="{1AE5A997-A147-E4B9-92D6-38152A98DA5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2B06405-2C6D-320F-79A7-CAADC81D2D7F}"/>
              </a:ext>
            </a:extLst>
          </p:cNvPr>
          <p:cNvSpPr>
            <a:spLocks noGrp="1"/>
          </p:cNvSpPr>
          <p:nvPr>
            <p:ph type="sldNum" sz="quarter" idx="12"/>
          </p:nvPr>
        </p:nvSpPr>
        <p:spPr/>
        <p:txBody>
          <a:bodyPr/>
          <a:lstStyle/>
          <a:p>
            <a:fld id="{68070822-7F96-4BE1-BBDE-45B58F5D2791}" type="slidenum">
              <a:rPr lang="en-IN" smtClean="0"/>
              <a:t>‹#›</a:t>
            </a:fld>
            <a:endParaRPr lang="en-IN"/>
          </a:p>
        </p:txBody>
      </p:sp>
    </p:spTree>
    <p:extLst>
      <p:ext uri="{BB962C8B-B14F-4D97-AF65-F5344CB8AC3E}">
        <p14:creationId xmlns:p14="http://schemas.microsoft.com/office/powerpoint/2010/main" val="18767232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5238E-A6B1-98BD-CE5A-2AA2BB74FC3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EAEC29C-CFF4-B975-F301-8B49DA0DEE2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FFE11F7-631F-C199-DE30-DBF1B638FF40}"/>
              </a:ext>
            </a:extLst>
          </p:cNvPr>
          <p:cNvSpPr>
            <a:spLocks noGrp="1"/>
          </p:cNvSpPr>
          <p:nvPr>
            <p:ph type="dt" sz="half" idx="10"/>
          </p:nvPr>
        </p:nvSpPr>
        <p:spPr/>
        <p:txBody>
          <a:bodyPr/>
          <a:lstStyle/>
          <a:p>
            <a:fld id="{F0AEB77D-1D35-4988-9DFE-8268F32E7B72}" type="datetimeFigureOut">
              <a:rPr lang="en-IN" smtClean="0"/>
              <a:t>14-03-2026</a:t>
            </a:fld>
            <a:endParaRPr lang="en-IN"/>
          </a:p>
        </p:txBody>
      </p:sp>
      <p:sp>
        <p:nvSpPr>
          <p:cNvPr id="5" name="Footer Placeholder 4">
            <a:extLst>
              <a:ext uri="{FF2B5EF4-FFF2-40B4-BE49-F238E27FC236}">
                <a16:creationId xmlns:a16="http://schemas.microsoft.com/office/drawing/2014/main" id="{6B3C3F9D-6AA9-B26C-8E22-1BE00C42EEF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CC69987-19D1-078B-28BD-D9C003931CE7}"/>
              </a:ext>
            </a:extLst>
          </p:cNvPr>
          <p:cNvSpPr>
            <a:spLocks noGrp="1"/>
          </p:cNvSpPr>
          <p:nvPr>
            <p:ph type="sldNum" sz="quarter" idx="12"/>
          </p:nvPr>
        </p:nvSpPr>
        <p:spPr/>
        <p:txBody>
          <a:bodyPr/>
          <a:lstStyle/>
          <a:p>
            <a:fld id="{68070822-7F96-4BE1-BBDE-45B58F5D2791}" type="slidenum">
              <a:rPr lang="en-IN" smtClean="0"/>
              <a:t>‹#›</a:t>
            </a:fld>
            <a:endParaRPr lang="en-IN"/>
          </a:p>
        </p:txBody>
      </p:sp>
    </p:spTree>
    <p:extLst>
      <p:ext uri="{BB962C8B-B14F-4D97-AF65-F5344CB8AC3E}">
        <p14:creationId xmlns:p14="http://schemas.microsoft.com/office/powerpoint/2010/main" val="24218086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300DF2C-AC21-5D63-D727-63EBE29F1944}"/>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56C59AF-706E-9F21-004E-12DAC5EE5CB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8A4D7E1-0691-5DD5-54DE-90734947F78F}"/>
              </a:ext>
            </a:extLst>
          </p:cNvPr>
          <p:cNvSpPr>
            <a:spLocks noGrp="1"/>
          </p:cNvSpPr>
          <p:nvPr>
            <p:ph type="dt" sz="half" idx="10"/>
          </p:nvPr>
        </p:nvSpPr>
        <p:spPr/>
        <p:txBody>
          <a:bodyPr/>
          <a:lstStyle/>
          <a:p>
            <a:fld id="{F0AEB77D-1D35-4988-9DFE-8268F32E7B72}" type="datetimeFigureOut">
              <a:rPr lang="en-IN" smtClean="0"/>
              <a:t>14-03-2026</a:t>
            </a:fld>
            <a:endParaRPr lang="en-IN"/>
          </a:p>
        </p:txBody>
      </p:sp>
      <p:sp>
        <p:nvSpPr>
          <p:cNvPr id="5" name="Footer Placeholder 4">
            <a:extLst>
              <a:ext uri="{FF2B5EF4-FFF2-40B4-BE49-F238E27FC236}">
                <a16:creationId xmlns:a16="http://schemas.microsoft.com/office/drawing/2014/main" id="{771C7038-62D2-67B9-CC25-543362E4DBD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F27B3B2-CC35-ABEC-E3C9-39A8402A5960}"/>
              </a:ext>
            </a:extLst>
          </p:cNvPr>
          <p:cNvSpPr>
            <a:spLocks noGrp="1"/>
          </p:cNvSpPr>
          <p:nvPr>
            <p:ph type="sldNum" sz="quarter" idx="12"/>
          </p:nvPr>
        </p:nvSpPr>
        <p:spPr/>
        <p:txBody>
          <a:bodyPr/>
          <a:lstStyle/>
          <a:p>
            <a:fld id="{68070822-7F96-4BE1-BBDE-45B58F5D2791}" type="slidenum">
              <a:rPr lang="en-IN" smtClean="0"/>
              <a:t>‹#›</a:t>
            </a:fld>
            <a:endParaRPr lang="en-IN"/>
          </a:p>
        </p:txBody>
      </p:sp>
    </p:spTree>
    <p:extLst>
      <p:ext uri="{BB962C8B-B14F-4D97-AF65-F5344CB8AC3E}">
        <p14:creationId xmlns:p14="http://schemas.microsoft.com/office/powerpoint/2010/main" val="3752917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052016-F7C6-4260-D1D6-1117C2D07CE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D9CFAF-A23C-76D3-60A4-16B9FF8DC8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5F5FC64-3498-C436-B161-300A793D77C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0AEB77D-1D35-4988-9DFE-8268F32E7B72}" type="datetimeFigureOut">
              <a:rPr lang="en-IN" smtClean="0"/>
              <a:t>14-03-2026</a:t>
            </a:fld>
            <a:endParaRPr lang="en-IN"/>
          </a:p>
        </p:txBody>
      </p:sp>
      <p:sp>
        <p:nvSpPr>
          <p:cNvPr id="5" name="Footer Placeholder 4">
            <a:extLst>
              <a:ext uri="{FF2B5EF4-FFF2-40B4-BE49-F238E27FC236}">
                <a16:creationId xmlns:a16="http://schemas.microsoft.com/office/drawing/2014/main" id="{9DA2C811-844C-F605-E530-6B78C66901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04E8D77D-0BC0-3BAC-F2F6-A917D04EE25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070822-7F96-4BE1-BBDE-45B58F5D2791}" type="slidenum">
              <a:rPr lang="en-IN" smtClean="0"/>
              <a:t>‹#›</a:t>
            </a:fld>
            <a:endParaRPr lang="en-IN"/>
          </a:p>
        </p:txBody>
      </p:sp>
    </p:spTree>
    <p:extLst>
      <p:ext uri="{BB962C8B-B14F-4D97-AF65-F5344CB8AC3E}">
        <p14:creationId xmlns:p14="http://schemas.microsoft.com/office/powerpoint/2010/main" val="363277388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5.xml.rels><?xml version="1.0" encoding="UTF-8" standalone="yes"?>
<Relationships xmlns="http://schemas.openxmlformats.org/package/2006/relationships"><Relationship Id="rId3" Type="http://schemas.openxmlformats.org/officeDocument/2006/relationships/hyperlink" Target="https://www.linkedin.com/in/ruchir-a-308240128/" TargetMode="External"/><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hyperlink" Target="https://github.com/ruchira559"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ngled shot of pen on a graph">
            <a:extLst>
              <a:ext uri="{FF2B5EF4-FFF2-40B4-BE49-F238E27FC236}">
                <a16:creationId xmlns:a16="http://schemas.microsoft.com/office/drawing/2014/main" id="{3FD365C3-A86E-C6D0-B20E-4E998791A827}"/>
              </a:ext>
            </a:extLst>
          </p:cNvPr>
          <p:cNvPicPr>
            <a:picLocks noChangeAspect="1"/>
          </p:cNvPicPr>
          <p:nvPr/>
        </p:nvPicPr>
        <p:blipFill>
          <a:blip r:embed="rId3">
            <a:alphaModFix amt="50000"/>
          </a:blip>
          <a:srcRect t="9441" b="6289"/>
          <a:stretch>
            <a:fillRect/>
          </a:stretch>
        </p:blipFill>
        <p:spPr>
          <a:xfrm>
            <a:off x="20" y="1"/>
            <a:ext cx="12191980" cy="6857999"/>
          </a:xfrm>
          <a:prstGeom prst="rect">
            <a:avLst/>
          </a:prstGeom>
        </p:spPr>
      </p:pic>
      <p:sp>
        <p:nvSpPr>
          <p:cNvPr id="2" name="Title 1">
            <a:extLst>
              <a:ext uri="{FF2B5EF4-FFF2-40B4-BE49-F238E27FC236}">
                <a16:creationId xmlns:a16="http://schemas.microsoft.com/office/drawing/2014/main" id="{94CBEFA6-313A-91FC-4B18-8E908106E5C6}"/>
              </a:ext>
            </a:extLst>
          </p:cNvPr>
          <p:cNvSpPr>
            <a:spLocks noGrp="1"/>
          </p:cNvSpPr>
          <p:nvPr>
            <p:ph type="ctrTitle"/>
          </p:nvPr>
        </p:nvSpPr>
        <p:spPr>
          <a:xfrm>
            <a:off x="1524000" y="1122362"/>
            <a:ext cx="9144000" cy="2900518"/>
          </a:xfrm>
        </p:spPr>
        <p:txBody>
          <a:bodyPr>
            <a:normAutofit/>
          </a:bodyPr>
          <a:lstStyle/>
          <a:p>
            <a:r>
              <a:rPr lang="en-US">
                <a:solidFill>
                  <a:srgbClr val="FFFFFF"/>
                </a:solidFill>
              </a:rPr>
              <a:t>Credit Card Portfolio Analysis: A Strategic Overview</a:t>
            </a:r>
            <a:endParaRPr lang="en-IN">
              <a:solidFill>
                <a:srgbClr val="FFFFFF"/>
              </a:solidFill>
            </a:endParaRPr>
          </a:p>
        </p:txBody>
      </p:sp>
      <p:sp>
        <p:nvSpPr>
          <p:cNvPr id="3" name="Subtitle 2">
            <a:extLst>
              <a:ext uri="{FF2B5EF4-FFF2-40B4-BE49-F238E27FC236}">
                <a16:creationId xmlns:a16="http://schemas.microsoft.com/office/drawing/2014/main" id="{F36DE14A-88D1-3EFA-6070-76E6C89FB59A}"/>
              </a:ext>
            </a:extLst>
          </p:cNvPr>
          <p:cNvSpPr>
            <a:spLocks noGrp="1"/>
          </p:cNvSpPr>
          <p:nvPr>
            <p:ph type="subTitle" idx="1"/>
          </p:nvPr>
        </p:nvSpPr>
        <p:spPr>
          <a:xfrm>
            <a:off x="1524000" y="4159404"/>
            <a:ext cx="9144000" cy="1098395"/>
          </a:xfrm>
        </p:spPr>
        <p:txBody>
          <a:bodyPr>
            <a:normAutofit/>
          </a:bodyPr>
          <a:lstStyle/>
          <a:p>
            <a:r>
              <a:rPr lang="en-US">
                <a:solidFill>
                  <a:srgbClr val="FFFFFF"/>
                </a:solidFill>
              </a:rPr>
              <a:t>Driving business growth through data-driven customer insights.</a:t>
            </a:r>
            <a:endParaRPr lang="en-IN">
              <a:solidFill>
                <a:srgbClr val="FFFFFF"/>
              </a:solidFill>
            </a:endParaRPr>
          </a:p>
        </p:txBody>
      </p:sp>
      <p:pic>
        <p:nvPicPr>
          <p:cNvPr id="6" name="Picture 4" descr="Power BI for Office 365 | CPA Firm Tech">
            <a:extLst>
              <a:ext uri="{FF2B5EF4-FFF2-40B4-BE49-F238E27FC236}">
                <a16:creationId xmlns:a16="http://schemas.microsoft.com/office/drawing/2014/main" id="{41BCB751-5375-F39D-856E-AEC8B5D3BF1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473447" y="111326"/>
            <a:ext cx="1524000" cy="404217"/>
          </a:xfrm>
          <a:prstGeom prst="rect">
            <a:avLst/>
          </a:prstGeom>
          <a:noFill/>
          <a:extLst>
            <a:ext uri="{909E8E84-426E-40DD-AFC4-6F175D3DCCD1}">
              <a14:hiddenFill xmlns:a14="http://schemas.microsoft.com/office/drawing/2010/main">
                <a:solidFill>
                  <a:srgbClr val="FFFFFF"/>
                </a:solidFill>
              </a14:hiddenFill>
            </a:ext>
          </a:extLst>
        </p:spPr>
      </p:pic>
      <p:sp>
        <p:nvSpPr>
          <p:cNvPr id="7" name="Subtitle 2">
            <a:extLst>
              <a:ext uri="{FF2B5EF4-FFF2-40B4-BE49-F238E27FC236}">
                <a16:creationId xmlns:a16="http://schemas.microsoft.com/office/drawing/2014/main" id="{9E33464F-F5E7-5ACE-958A-1E01046B70A4}"/>
              </a:ext>
            </a:extLst>
          </p:cNvPr>
          <p:cNvSpPr txBox="1">
            <a:spLocks/>
          </p:cNvSpPr>
          <p:nvPr/>
        </p:nvSpPr>
        <p:spPr>
          <a:xfrm>
            <a:off x="9418320" y="5825338"/>
            <a:ext cx="2371344" cy="890714"/>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dirty="0"/>
              <a:t>Presented by:</a:t>
            </a:r>
            <a:br>
              <a:rPr lang="en-US" dirty="0"/>
            </a:br>
            <a:r>
              <a:rPr lang="en-US" dirty="0"/>
              <a:t>Ruchir Agrawal</a:t>
            </a:r>
            <a:endParaRPr lang="en-IN" dirty="0"/>
          </a:p>
        </p:txBody>
      </p:sp>
    </p:spTree>
    <p:extLst>
      <p:ext uri="{BB962C8B-B14F-4D97-AF65-F5344CB8AC3E}">
        <p14:creationId xmlns:p14="http://schemas.microsoft.com/office/powerpoint/2010/main" val="2560539464"/>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5A0118C5-4F8D-4CF4-BADD-53FEACC6C4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Oval 16">
            <a:extLst>
              <a:ext uri="{FF2B5EF4-FFF2-40B4-BE49-F238E27FC236}">
                <a16:creationId xmlns:a16="http://schemas.microsoft.com/office/drawing/2014/main" id="{A99050EE-26AF-4253-BD50-F0FCD965A8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0284" y="575361"/>
            <a:ext cx="5707277" cy="5707277"/>
          </a:xfrm>
          <a:prstGeom prst="ellipse">
            <a:avLst/>
          </a:prstGeom>
          <a:no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E0F5EB7-7402-E87A-E501-318E235C5385}"/>
              </a:ext>
            </a:extLst>
          </p:cNvPr>
          <p:cNvSpPr>
            <a:spLocks noGrp="1"/>
          </p:cNvSpPr>
          <p:nvPr>
            <p:ph type="title"/>
          </p:nvPr>
        </p:nvSpPr>
        <p:spPr>
          <a:xfrm>
            <a:off x="838200" y="1748452"/>
            <a:ext cx="4974771" cy="3587786"/>
          </a:xfrm>
        </p:spPr>
        <p:txBody>
          <a:bodyPr>
            <a:normAutofit/>
          </a:bodyPr>
          <a:lstStyle/>
          <a:p>
            <a:pPr algn="ctr"/>
            <a:r>
              <a:rPr lang="en-IN">
                <a:solidFill>
                  <a:schemeClr val="bg1"/>
                </a:solidFill>
              </a:rPr>
              <a:t>Defining the Mission</a:t>
            </a:r>
          </a:p>
        </p:txBody>
      </p:sp>
      <p:grpSp>
        <p:nvGrpSpPr>
          <p:cNvPr id="19" name="Graphic 190">
            <a:extLst>
              <a:ext uri="{FF2B5EF4-FFF2-40B4-BE49-F238E27FC236}">
                <a16:creationId xmlns:a16="http://schemas.microsoft.com/office/drawing/2014/main" id="{00E015F5-1A99-4E40-BC3D-7707802996B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93117" y="1193254"/>
            <a:ext cx="1291642" cy="429215"/>
            <a:chOff x="2504802" y="1755501"/>
            <a:chExt cx="1598829" cy="531293"/>
          </a:xfrm>
          <a:solidFill>
            <a:schemeClr val="bg1"/>
          </a:solidFill>
        </p:grpSpPr>
        <p:sp>
          <p:nvSpPr>
            <p:cNvPr id="13" name="Freeform: Shape 12">
              <a:extLst>
                <a:ext uri="{FF2B5EF4-FFF2-40B4-BE49-F238E27FC236}">
                  <a16:creationId xmlns:a16="http://schemas.microsoft.com/office/drawing/2014/main" id="{3FE6F571-2BB7-46DA-A3D9-B32ADDC16A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2113855"/>
              <a:ext cx="1598614" cy="172939"/>
            </a:xfrm>
            <a:custGeom>
              <a:avLst/>
              <a:gdLst>
                <a:gd name="connsiteX0" fmla="*/ 1248648 w 1598614"/>
                <a:gd name="connsiteY0" fmla="*/ 172939 h 172939"/>
                <a:gd name="connsiteX1" fmla="*/ 1123031 w 1598614"/>
                <a:gd name="connsiteY1" fmla="*/ 92708 h 172939"/>
                <a:gd name="connsiteX2" fmla="*/ 1024085 w 1598614"/>
                <a:gd name="connsiteY2" fmla="*/ 29469 h 172939"/>
                <a:gd name="connsiteX3" fmla="*/ 925140 w 1598614"/>
                <a:gd name="connsiteY3" fmla="*/ 92708 h 172939"/>
                <a:gd name="connsiteX4" fmla="*/ 799522 w 1598614"/>
                <a:gd name="connsiteY4" fmla="*/ 172939 h 172939"/>
                <a:gd name="connsiteX5" fmla="*/ 799522 w 1598614"/>
                <a:gd name="connsiteY5" fmla="*/ 172939 h 172939"/>
                <a:gd name="connsiteX6" fmla="*/ 673905 w 1598614"/>
                <a:gd name="connsiteY6" fmla="*/ 92708 h 172939"/>
                <a:gd name="connsiteX7" fmla="*/ 574959 w 1598614"/>
                <a:gd name="connsiteY7" fmla="*/ 29469 h 172939"/>
                <a:gd name="connsiteX8" fmla="*/ 476014 w 1598614"/>
                <a:gd name="connsiteY8" fmla="*/ 92708 h 172939"/>
                <a:gd name="connsiteX9" fmla="*/ 350396 w 1598614"/>
                <a:gd name="connsiteY9" fmla="*/ 172939 h 172939"/>
                <a:gd name="connsiteX10" fmla="*/ 224778 w 1598614"/>
                <a:gd name="connsiteY10" fmla="*/ 92708 h 172939"/>
                <a:gd name="connsiteX11" fmla="*/ 125833 w 1598614"/>
                <a:gd name="connsiteY11" fmla="*/ 29469 h 172939"/>
                <a:gd name="connsiteX12" fmla="*/ 26887 w 1598614"/>
                <a:gd name="connsiteY12" fmla="*/ 92708 h 172939"/>
                <a:gd name="connsiteX13" fmla="*/ 0 w 1598614"/>
                <a:gd name="connsiteY13" fmla="*/ 80232 h 172939"/>
                <a:gd name="connsiteX14" fmla="*/ 125618 w 1598614"/>
                <a:gd name="connsiteY14" fmla="*/ 0 h 172939"/>
                <a:gd name="connsiteX15" fmla="*/ 251235 w 1598614"/>
                <a:gd name="connsiteY15" fmla="*/ 80232 h 172939"/>
                <a:gd name="connsiteX16" fmla="*/ 350181 w 1598614"/>
                <a:gd name="connsiteY16" fmla="*/ 143471 h 172939"/>
                <a:gd name="connsiteX17" fmla="*/ 449126 w 1598614"/>
                <a:gd name="connsiteY17" fmla="*/ 80232 h 172939"/>
                <a:gd name="connsiteX18" fmla="*/ 574744 w 1598614"/>
                <a:gd name="connsiteY18" fmla="*/ 0 h 172939"/>
                <a:gd name="connsiteX19" fmla="*/ 700362 w 1598614"/>
                <a:gd name="connsiteY19" fmla="*/ 80232 h 172939"/>
                <a:gd name="connsiteX20" fmla="*/ 799307 w 1598614"/>
                <a:gd name="connsiteY20" fmla="*/ 143471 h 172939"/>
                <a:gd name="connsiteX21" fmla="*/ 799307 w 1598614"/>
                <a:gd name="connsiteY21" fmla="*/ 143471 h 172939"/>
                <a:gd name="connsiteX22" fmla="*/ 898253 w 1598614"/>
                <a:gd name="connsiteY22" fmla="*/ 80232 h 172939"/>
                <a:gd name="connsiteX23" fmla="*/ 1023870 w 1598614"/>
                <a:gd name="connsiteY23" fmla="*/ 0 h 172939"/>
                <a:gd name="connsiteX24" fmla="*/ 1149488 w 1598614"/>
                <a:gd name="connsiteY24" fmla="*/ 80232 h 172939"/>
                <a:gd name="connsiteX25" fmla="*/ 1248433 w 1598614"/>
                <a:gd name="connsiteY25" fmla="*/ 143471 h 172939"/>
                <a:gd name="connsiteX26" fmla="*/ 1347379 w 1598614"/>
                <a:gd name="connsiteY26" fmla="*/ 80232 h 172939"/>
                <a:gd name="connsiteX27" fmla="*/ 1472997 w 1598614"/>
                <a:gd name="connsiteY27" fmla="*/ 0 h 172939"/>
                <a:gd name="connsiteX28" fmla="*/ 1598614 w 1598614"/>
                <a:gd name="connsiteY28" fmla="*/ 80232 h 172939"/>
                <a:gd name="connsiteX29" fmla="*/ 1571942 w 1598614"/>
                <a:gd name="connsiteY29" fmla="*/ 92708 h 172939"/>
                <a:gd name="connsiteX30" fmla="*/ 1472997 w 1598614"/>
                <a:gd name="connsiteY30" fmla="*/ 29469 h 172939"/>
                <a:gd name="connsiteX31" fmla="*/ 1374051 w 1598614"/>
                <a:gd name="connsiteY31" fmla="*/ 92708 h 172939"/>
                <a:gd name="connsiteX32" fmla="*/ 1248648 w 1598614"/>
                <a:gd name="connsiteY32" fmla="*/ 172939 h 1729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614" h="172939">
                  <a:moveTo>
                    <a:pt x="1248648" y="172939"/>
                  </a:moveTo>
                  <a:cubicBezTo>
                    <a:pt x="1194229" y="172939"/>
                    <a:pt x="1146046" y="142180"/>
                    <a:pt x="1123031" y="92708"/>
                  </a:cubicBezTo>
                  <a:cubicBezTo>
                    <a:pt x="1104962" y="53775"/>
                    <a:pt x="1067105" y="29469"/>
                    <a:pt x="1024085" y="29469"/>
                  </a:cubicBezTo>
                  <a:cubicBezTo>
                    <a:pt x="981066" y="29469"/>
                    <a:pt x="943208" y="53775"/>
                    <a:pt x="925140" y="92708"/>
                  </a:cubicBezTo>
                  <a:cubicBezTo>
                    <a:pt x="902124" y="142180"/>
                    <a:pt x="853942" y="172939"/>
                    <a:pt x="799522" y="172939"/>
                  </a:cubicBezTo>
                  <a:cubicBezTo>
                    <a:pt x="799522" y="172939"/>
                    <a:pt x="799522" y="172939"/>
                    <a:pt x="799522" y="172939"/>
                  </a:cubicBezTo>
                  <a:cubicBezTo>
                    <a:pt x="744887" y="172939"/>
                    <a:pt x="696920" y="142180"/>
                    <a:pt x="673905" y="92708"/>
                  </a:cubicBezTo>
                  <a:cubicBezTo>
                    <a:pt x="655836" y="53775"/>
                    <a:pt x="617979" y="29469"/>
                    <a:pt x="574959" y="29469"/>
                  </a:cubicBezTo>
                  <a:cubicBezTo>
                    <a:pt x="531939" y="29469"/>
                    <a:pt x="494082" y="53775"/>
                    <a:pt x="476014" y="92708"/>
                  </a:cubicBezTo>
                  <a:cubicBezTo>
                    <a:pt x="452998" y="142180"/>
                    <a:pt x="405031" y="172939"/>
                    <a:pt x="350396" y="172939"/>
                  </a:cubicBezTo>
                  <a:cubicBezTo>
                    <a:pt x="295976" y="172939"/>
                    <a:pt x="247794" y="142180"/>
                    <a:pt x="224778" y="92708"/>
                  </a:cubicBezTo>
                  <a:cubicBezTo>
                    <a:pt x="206710" y="53775"/>
                    <a:pt x="168853" y="29469"/>
                    <a:pt x="125833" y="29469"/>
                  </a:cubicBezTo>
                  <a:cubicBezTo>
                    <a:pt x="82813" y="29469"/>
                    <a:pt x="44956" y="53775"/>
                    <a:pt x="26887" y="92708"/>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268" y="30759"/>
                    <a:pt x="969235" y="0"/>
                    <a:pt x="1023870" y="0"/>
                  </a:cubicBezTo>
                  <a:cubicBezTo>
                    <a:pt x="1078505" y="0"/>
                    <a:pt x="1126472" y="30759"/>
                    <a:pt x="1149488" y="80232"/>
                  </a:cubicBezTo>
                  <a:cubicBezTo>
                    <a:pt x="1167556" y="119165"/>
                    <a:pt x="1205414" y="143471"/>
                    <a:pt x="1248433" y="143471"/>
                  </a:cubicBezTo>
                  <a:cubicBezTo>
                    <a:pt x="1291453" y="143471"/>
                    <a:pt x="1329311" y="119165"/>
                    <a:pt x="1347379" y="80232"/>
                  </a:cubicBezTo>
                  <a:cubicBezTo>
                    <a:pt x="1370394" y="30759"/>
                    <a:pt x="1418361" y="0"/>
                    <a:pt x="1472997" y="0"/>
                  </a:cubicBezTo>
                  <a:cubicBezTo>
                    <a:pt x="1527632" y="0"/>
                    <a:pt x="1575814" y="30759"/>
                    <a:pt x="1598614" y="80232"/>
                  </a:cubicBezTo>
                  <a:lnTo>
                    <a:pt x="1571942" y="92708"/>
                  </a:lnTo>
                  <a:cubicBezTo>
                    <a:pt x="1553874" y="53775"/>
                    <a:pt x="1515801" y="29469"/>
                    <a:pt x="1472997" y="29469"/>
                  </a:cubicBezTo>
                  <a:cubicBezTo>
                    <a:pt x="1429977" y="29469"/>
                    <a:pt x="1392119" y="53775"/>
                    <a:pt x="1374051" y="92708"/>
                  </a:cubicBezTo>
                  <a:cubicBezTo>
                    <a:pt x="1351251" y="142180"/>
                    <a:pt x="1303069" y="172939"/>
                    <a:pt x="1248648" y="172939"/>
                  </a:cubicBezTo>
                  <a:close/>
                </a:path>
              </a:pathLst>
            </a:custGeom>
            <a:grpFill/>
            <a:ln w="21496" cap="flat">
              <a:noFill/>
              <a:prstDash val="solid"/>
              <a:miter/>
            </a:ln>
          </p:spPr>
          <p:txBody>
            <a:bodyPr rtlCol="0" anchor="ctr"/>
            <a:lstStyle/>
            <a:p>
              <a:endParaRPr lang="en-US"/>
            </a:p>
          </p:txBody>
        </p:sp>
        <p:sp>
          <p:nvSpPr>
            <p:cNvPr id="14" name="Freeform: Shape 13">
              <a:extLst>
                <a:ext uri="{FF2B5EF4-FFF2-40B4-BE49-F238E27FC236}">
                  <a16:creationId xmlns:a16="http://schemas.microsoft.com/office/drawing/2014/main" id="{A905CC16-753C-4B9F-B3E2-C456795AED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504802" y="1755501"/>
              <a:ext cx="1598829" cy="172724"/>
            </a:xfrm>
            <a:custGeom>
              <a:avLst/>
              <a:gdLst>
                <a:gd name="connsiteX0" fmla="*/ 1248648 w 1598829"/>
                <a:gd name="connsiteY0" fmla="*/ 172724 h 172724"/>
                <a:gd name="connsiteX1" fmla="*/ 1123031 w 1598829"/>
                <a:gd name="connsiteY1" fmla="*/ 92492 h 172724"/>
                <a:gd name="connsiteX2" fmla="*/ 1024085 w 1598829"/>
                <a:gd name="connsiteY2" fmla="*/ 29253 h 172724"/>
                <a:gd name="connsiteX3" fmla="*/ 925140 w 1598829"/>
                <a:gd name="connsiteY3" fmla="*/ 92492 h 172724"/>
                <a:gd name="connsiteX4" fmla="*/ 799522 w 1598829"/>
                <a:gd name="connsiteY4" fmla="*/ 172724 h 172724"/>
                <a:gd name="connsiteX5" fmla="*/ 799522 w 1598829"/>
                <a:gd name="connsiteY5" fmla="*/ 172724 h 172724"/>
                <a:gd name="connsiteX6" fmla="*/ 673905 w 1598829"/>
                <a:gd name="connsiteY6" fmla="*/ 92492 h 172724"/>
                <a:gd name="connsiteX7" fmla="*/ 574959 w 1598829"/>
                <a:gd name="connsiteY7" fmla="*/ 29253 h 172724"/>
                <a:gd name="connsiteX8" fmla="*/ 476014 w 1598829"/>
                <a:gd name="connsiteY8" fmla="*/ 92492 h 172724"/>
                <a:gd name="connsiteX9" fmla="*/ 350396 w 1598829"/>
                <a:gd name="connsiteY9" fmla="*/ 172724 h 172724"/>
                <a:gd name="connsiteX10" fmla="*/ 224778 w 1598829"/>
                <a:gd name="connsiteY10" fmla="*/ 92492 h 172724"/>
                <a:gd name="connsiteX11" fmla="*/ 125833 w 1598829"/>
                <a:gd name="connsiteY11" fmla="*/ 29253 h 172724"/>
                <a:gd name="connsiteX12" fmla="*/ 26887 w 1598829"/>
                <a:gd name="connsiteY12" fmla="*/ 92492 h 172724"/>
                <a:gd name="connsiteX13" fmla="*/ 0 w 1598829"/>
                <a:gd name="connsiteY13" fmla="*/ 80232 h 172724"/>
                <a:gd name="connsiteX14" fmla="*/ 125618 w 1598829"/>
                <a:gd name="connsiteY14" fmla="*/ 0 h 172724"/>
                <a:gd name="connsiteX15" fmla="*/ 251235 w 1598829"/>
                <a:gd name="connsiteY15" fmla="*/ 80232 h 172724"/>
                <a:gd name="connsiteX16" fmla="*/ 350181 w 1598829"/>
                <a:gd name="connsiteY16" fmla="*/ 143471 h 172724"/>
                <a:gd name="connsiteX17" fmla="*/ 449126 w 1598829"/>
                <a:gd name="connsiteY17" fmla="*/ 80232 h 172724"/>
                <a:gd name="connsiteX18" fmla="*/ 574744 w 1598829"/>
                <a:gd name="connsiteY18" fmla="*/ 0 h 172724"/>
                <a:gd name="connsiteX19" fmla="*/ 700362 w 1598829"/>
                <a:gd name="connsiteY19" fmla="*/ 80232 h 172724"/>
                <a:gd name="connsiteX20" fmla="*/ 799307 w 1598829"/>
                <a:gd name="connsiteY20" fmla="*/ 143471 h 172724"/>
                <a:gd name="connsiteX21" fmla="*/ 799307 w 1598829"/>
                <a:gd name="connsiteY21" fmla="*/ 143471 h 172724"/>
                <a:gd name="connsiteX22" fmla="*/ 898253 w 1598829"/>
                <a:gd name="connsiteY22" fmla="*/ 80232 h 172724"/>
                <a:gd name="connsiteX23" fmla="*/ 1024085 w 1598829"/>
                <a:gd name="connsiteY23" fmla="*/ 0 h 172724"/>
                <a:gd name="connsiteX24" fmla="*/ 1149703 w 1598829"/>
                <a:gd name="connsiteY24" fmla="*/ 80232 h 172724"/>
                <a:gd name="connsiteX25" fmla="*/ 1248648 w 1598829"/>
                <a:gd name="connsiteY25" fmla="*/ 143471 h 172724"/>
                <a:gd name="connsiteX26" fmla="*/ 1347594 w 1598829"/>
                <a:gd name="connsiteY26" fmla="*/ 80232 h 172724"/>
                <a:gd name="connsiteX27" fmla="*/ 1473212 w 1598829"/>
                <a:gd name="connsiteY27" fmla="*/ 0 h 172724"/>
                <a:gd name="connsiteX28" fmla="*/ 1598829 w 1598829"/>
                <a:gd name="connsiteY28" fmla="*/ 80232 h 172724"/>
                <a:gd name="connsiteX29" fmla="*/ 1572157 w 1598829"/>
                <a:gd name="connsiteY29" fmla="*/ 92492 h 172724"/>
                <a:gd name="connsiteX30" fmla="*/ 1473212 w 1598829"/>
                <a:gd name="connsiteY30" fmla="*/ 29253 h 172724"/>
                <a:gd name="connsiteX31" fmla="*/ 1374266 w 1598829"/>
                <a:gd name="connsiteY31" fmla="*/ 92492 h 172724"/>
                <a:gd name="connsiteX32" fmla="*/ 1248648 w 1598829"/>
                <a:gd name="connsiteY32" fmla="*/ 172724 h 172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598829" h="172724">
                  <a:moveTo>
                    <a:pt x="1248648" y="172724"/>
                  </a:moveTo>
                  <a:cubicBezTo>
                    <a:pt x="1194229" y="172724"/>
                    <a:pt x="1146046" y="141965"/>
                    <a:pt x="1123031" y="92492"/>
                  </a:cubicBezTo>
                  <a:cubicBezTo>
                    <a:pt x="1104962" y="53560"/>
                    <a:pt x="1067105" y="29253"/>
                    <a:pt x="1024085" y="29253"/>
                  </a:cubicBezTo>
                  <a:cubicBezTo>
                    <a:pt x="981066" y="29253"/>
                    <a:pt x="943208" y="53560"/>
                    <a:pt x="925140" y="92492"/>
                  </a:cubicBezTo>
                  <a:cubicBezTo>
                    <a:pt x="902124" y="141965"/>
                    <a:pt x="853942" y="172724"/>
                    <a:pt x="799522" y="172724"/>
                  </a:cubicBezTo>
                  <a:cubicBezTo>
                    <a:pt x="799522" y="172724"/>
                    <a:pt x="799522" y="172724"/>
                    <a:pt x="799522" y="172724"/>
                  </a:cubicBezTo>
                  <a:cubicBezTo>
                    <a:pt x="744887" y="172724"/>
                    <a:pt x="696920" y="141965"/>
                    <a:pt x="673905" y="92492"/>
                  </a:cubicBezTo>
                  <a:cubicBezTo>
                    <a:pt x="655836" y="53560"/>
                    <a:pt x="617979" y="29253"/>
                    <a:pt x="574959" y="29253"/>
                  </a:cubicBezTo>
                  <a:cubicBezTo>
                    <a:pt x="531939" y="29253"/>
                    <a:pt x="494082" y="53560"/>
                    <a:pt x="476014" y="92492"/>
                  </a:cubicBezTo>
                  <a:cubicBezTo>
                    <a:pt x="452998" y="141965"/>
                    <a:pt x="405031" y="172724"/>
                    <a:pt x="350396" y="172724"/>
                  </a:cubicBezTo>
                  <a:cubicBezTo>
                    <a:pt x="295976" y="172724"/>
                    <a:pt x="247794" y="141965"/>
                    <a:pt x="224778" y="92492"/>
                  </a:cubicBezTo>
                  <a:cubicBezTo>
                    <a:pt x="206710" y="53560"/>
                    <a:pt x="168853" y="29253"/>
                    <a:pt x="125833" y="29253"/>
                  </a:cubicBezTo>
                  <a:cubicBezTo>
                    <a:pt x="82813" y="29253"/>
                    <a:pt x="44956" y="53560"/>
                    <a:pt x="26887" y="92492"/>
                  </a:cubicBezTo>
                  <a:lnTo>
                    <a:pt x="0" y="80232"/>
                  </a:lnTo>
                  <a:cubicBezTo>
                    <a:pt x="23016" y="30759"/>
                    <a:pt x="70983" y="0"/>
                    <a:pt x="125618" y="0"/>
                  </a:cubicBezTo>
                  <a:cubicBezTo>
                    <a:pt x="180253" y="0"/>
                    <a:pt x="228220" y="30759"/>
                    <a:pt x="251235" y="80232"/>
                  </a:cubicBezTo>
                  <a:cubicBezTo>
                    <a:pt x="269304" y="119165"/>
                    <a:pt x="307376" y="143471"/>
                    <a:pt x="350181" y="143471"/>
                  </a:cubicBezTo>
                  <a:cubicBezTo>
                    <a:pt x="393201" y="143471"/>
                    <a:pt x="431058" y="119165"/>
                    <a:pt x="449126" y="80232"/>
                  </a:cubicBezTo>
                  <a:cubicBezTo>
                    <a:pt x="472142" y="30759"/>
                    <a:pt x="520324" y="0"/>
                    <a:pt x="574744" y="0"/>
                  </a:cubicBezTo>
                  <a:cubicBezTo>
                    <a:pt x="629164" y="0"/>
                    <a:pt x="677346" y="30759"/>
                    <a:pt x="700362" y="80232"/>
                  </a:cubicBezTo>
                  <a:cubicBezTo>
                    <a:pt x="718430" y="119165"/>
                    <a:pt x="756287" y="143471"/>
                    <a:pt x="799307" y="143471"/>
                  </a:cubicBezTo>
                  <a:lnTo>
                    <a:pt x="799307" y="143471"/>
                  </a:lnTo>
                  <a:cubicBezTo>
                    <a:pt x="842327" y="143471"/>
                    <a:pt x="880184" y="119165"/>
                    <a:pt x="898253" y="80232"/>
                  </a:cubicBezTo>
                  <a:cubicBezTo>
                    <a:pt x="921483" y="30759"/>
                    <a:pt x="969450" y="0"/>
                    <a:pt x="1024085" y="0"/>
                  </a:cubicBezTo>
                  <a:cubicBezTo>
                    <a:pt x="1078720" y="0"/>
                    <a:pt x="1126688" y="30759"/>
                    <a:pt x="1149703" y="80232"/>
                  </a:cubicBezTo>
                  <a:cubicBezTo>
                    <a:pt x="1167771" y="119165"/>
                    <a:pt x="1205629" y="143471"/>
                    <a:pt x="1248648" y="143471"/>
                  </a:cubicBezTo>
                  <a:cubicBezTo>
                    <a:pt x="1291668" y="143471"/>
                    <a:pt x="1329526" y="119165"/>
                    <a:pt x="1347594" y="80232"/>
                  </a:cubicBezTo>
                  <a:cubicBezTo>
                    <a:pt x="1370610" y="30759"/>
                    <a:pt x="1418792" y="0"/>
                    <a:pt x="1473212" y="0"/>
                  </a:cubicBezTo>
                  <a:cubicBezTo>
                    <a:pt x="1527847" y="0"/>
                    <a:pt x="1576029" y="30759"/>
                    <a:pt x="1598829" y="80232"/>
                  </a:cubicBezTo>
                  <a:lnTo>
                    <a:pt x="1572157" y="92492"/>
                  </a:lnTo>
                  <a:cubicBezTo>
                    <a:pt x="1554089" y="53560"/>
                    <a:pt x="1516016" y="29253"/>
                    <a:pt x="1473212" y="29253"/>
                  </a:cubicBezTo>
                  <a:cubicBezTo>
                    <a:pt x="1430192" y="29253"/>
                    <a:pt x="1392335" y="53560"/>
                    <a:pt x="1374266" y="92492"/>
                  </a:cubicBezTo>
                  <a:cubicBezTo>
                    <a:pt x="1351251" y="141965"/>
                    <a:pt x="1303069" y="172724"/>
                    <a:pt x="1248648" y="172724"/>
                  </a:cubicBezTo>
                  <a:close/>
                </a:path>
              </a:pathLst>
            </a:custGeom>
            <a:grpFill/>
            <a:ln w="21496" cap="flat">
              <a:noFill/>
              <a:prstDash val="solid"/>
              <a:miter/>
            </a:ln>
          </p:spPr>
          <p:txBody>
            <a:bodyPr rtlCol="0" anchor="ctr"/>
            <a:lstStyle/>
            <a:p>
              <a:endParaRPr lang="en-US"/>
            </a:p>
          </p:txBody>
        </p:sp>
      </p:grpSp>
      <p:sp>
        <p:nvSpPr>
          <p:cNvPr id="16" name="Graphic 212">
            <a:extLst>
              <a:ext uri="{FF2B5EF4-FFF2-40B4-BE49-F238E27FC236}">
                <a16:creationId xmlns:a16="http://schemas.microsoft.com/office/drawing/2014/main" id="{D0C78466-EB6E-45A0-99A6-A00789ACD90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rgbClr val="FFFFFF"/>
          </a:solid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sp>
        <p:nvSpPr>
          <p:cNvPr id="18" name="Graphic 212">
            <a:extLst>
              <a:ext uri="{FF2B5EF4-FFF2-40B4-BE49-F238E27FC236}">
                <a16:creationId xmlns:a16="http://schemas.microsoft.com/office/drawing/2014/main" id="{E99F76E4-5DFD-4DBE-B042-66FBCD118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397727" y="421588"/>
            <a:ext cx="1291468" cy="1291468"/>
          </a:xfrm>
          <a:custGeom>
            <a:avLst/>
            <a:gdLst>
              <a:gd name="connsiteX0" fmla="*/ 403574 w 807148"/>
              <a:gd name="connsiteY0" fmla="*/ 0 h 807148"/>
              <a:gd name="connsiteX1" fmla="*/ 0 w 807148"/>
              <a:gd name="connsiteY1" fmla="*/ 403574 h 807148"/>
              <a:gd name="connsiteX2" fmla="*/ 403574 w 807148"/>
              <a:gd name="connsiteY2" fmla="*/ 807149 h 807148"/>
              <a:gd name="connsiteX3" fmla="*/ 807149 w 807148"/>
              <a:gd name="connsiteY3" fmla="*/ 403574 h 807148"/>
              <a:gd name="connsiteX4" fmla="*/ 403574 w 807148"/>
              <a:gd name="connsiteY4" fmla="*/ 0 h 807148"/>
              <a:gd name="connsiteX5" fmla="*/ 403574 w 807148"/>
              <a:gd name="connsiteY5" fmla="*/ 667988 h 807148"/>
              <a:gd name="connsiteX6" fmla="*/ 139160 w 807148"/>
              <a:gd name="connsiteY6" fmla="*/ 403574 h 807148"/>
              <a:gd name="connsiteX7" fmla="*/ 403574 w 807148"/>
              <a:gd name="connsiteY7" fmla="*/ 139160 h 807148"/>
              <a:gd name="connsiteX8" fmla="*/ 667988 w 807148"/>
              <a:gd name="connsiteY8" fmla="*/ 403574 h 807148"/>
              <a:gd name="connsiteX9" fmla="*/ 403574 w 807148"/>
              <a:gd name="connsiteY9" fmla="*/ 667988 h 8071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07148" h="807148">
                <a:moveTo>
                  <a:pt x="403574" y="0"/>
                </a:moveTo>
                <a:cubicBezTo>
                  <a:pt x="180689" y="0"/>
                  <a:pt x="0" y="180689"/>
                  <a:pt x="0" y="403574"/>
                </a:cubicBezTo>
                <a:cubicBezTo>
                  <a:pt x="0" y="626459"/>
                  <a:pt x="180689" y="807149"/>
                  <a:pt x="403574" y="807149"/>
                </a:cubicBezTo>
                <a:cubicBezTo>
                  <a:pt x="626459" y="807149"/>
                  <a:pt x="807149" y="626459"/>
                  <a:pt x="807149" y="403574"/>
                </a:cubicBezTo>
                <a:cubicBezTo>
                  <a:pt x="807149" y="180689"/>
                  <a:pt x="626459" y="0"/>
                  <a:pt x="403574" y="0"/>
                </a:cubicBezTo>
                <a:close/>
                <a:moveTo>
                  <a:pt x="403574" y="667988"/>
                </a:moveTo>
                <a:cubicBezTo>
                  <a:pt x="257556" y="667988"/>
                  <a:pt x="139160" y="549593"/>
                  <a:pt x="139160" y="403574"/>
                </a:cubicBezTo>
                <a:cubicBezTo>
                  <a:pt x="139160" y="257556"/>
                  <a:pt x="257556" y="139160"/>
                  <a:pt x="403574" y="139160"/>
                </a:cubicBezTo>
                <a:cubicBezTo>
                  <a:pt x="549593" y="139160"/>
                  <a:pt x="667988" y="257556"/>
                  <a:pt x="667988" y="403574"/>
                </a:cubicBezTo>
                <a:cubicBezTo>
                  <a:pt x="667988" y="549593"/>
                  <a:pt x="549593" y="667988"/>
                  <a:pt x="403574" y="667988"/>
                </a:cubicBezTo>
                <a:close/>
              </a:path>
            </a:pathLst>
          </a:custGeom>
          <a:solidFill>
            <a:schemeClr val="accent2">
              <a:alpha val="30000"/>
            </a:schemeClr>
          </a:solidFill>
          <a:ln w="285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solidFill>
                <a:schemeClr val="lt1"/>
              </a:solidFill>
            </a:endParaRPr>
          </a:p>
        </p:txBody>
      </p:sp>
      <p:grpSp>
        <p:nvGrpSpPr>
          <p:cNvPr id="20" name="Graphic 4">
            <a:extLst>
              <a:ext uri="{FF2B5EF4-FFF2-40B4-BE49-F238E27FC236}">
                <a16:creationId xmlns:a16="http://schemas.microsoft.com/office/drawing/2014/main" id="{5468B3A9-705E-43C3-A742-0619B0D8F2E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solidFill>
        </p:grpSpPr>
        <p:sp>
          <p:nvSpPr>
            <p:cNvPr id="21" name="Freeform: Shape 20">
              <a:extLst>
                <a:ext uri="{FF2B5EF4-FFF2-40B4-BE49-F238E27FC236}">
                  <a16:creationId xmlns:a16="http://schemas.microsoft.com/office/drawing/2014/main" id="{29D439AD-5D67-497C-B831-D17FC3E592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2" name="Freeform: Shape 21">
              <a:extLst>
                <a:ext uri="{FF2B5EF4-FFF2-40B4-BE49-F238E27FC236}">
                  <a16:creationId xmlns:a16="http://schemas.microsoft.com/office/drawing/2014/main" id="{23F54BF2-C71C-45C5-9408-3B5E011B0FE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3" name="Freeform: Shape 22">
              <a:extLst>
                <a:ext uri="{FF2B5EF4-FFF2-40B4-BE49-F238E27FC236}">
                  <a16:creationId xmlns:a16="http://schemas.microsoft.com/office/drawing/2014/main" id="{2BBABE17-DB56-44AB-934B-63C07C79F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 name="Freeform: Shape 23">
              <a:extLst>
                <a:ext uri="{FF2B5EF4-FFF2-40B4-BE49-F238E27FC236}">
                  <a16:creationId xmlns:a16="http://schemas.microsoft.com/office/drawing/2014/main" id="{CB483D20-A128-4076-AF54-88646172B8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 name="Freeform: Shape 24">
              <a:extLst>
                <a:ext uri="{FF2B5EF4-FFF2-40B4-BE49-F238E27FC236}">
                  <a16:creationId xmlns:a16="http://schemas.microsoft.com/office/drawing/2014/main" id="{E5EFA818-FDDA-49E9-B11F-E9DC1854A9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6" name="Freeform: Shape 25">
              <a:extLst>
                <a:ext uri="{FF2B5EF4-FFF2-40B4-BE49-F238E27FC236}">
                  <a16:creationId xmlns:a16="http://schemas.microsoft.com/office/drawing/2014/main" id="{EA1F8728-F8F7-4828-A718-A15E7663EA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7" name="Freeform: Shape 26">
              <a:extLst>
                <a:ext uri="{FF2B5EF4-FFF2-40B4-BE49-F238E27FC236}">
                  <a16:creationId xmlns:a16="http://schemas.microsoft.com/office/drawing/2014/main" id="{8DA1F73F-AA1D-41D7-BAAB-292FD94A3E5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 name="Freeform: Shape 27">
              <a:extLst>
                <a:ext uri="{FF2B5EF4-FFF2-40B4-BE49-F238E27FC236}">
                  <a16:creationId xmlns:a16="http://schemas.microsoft.com/office/drawing/2014/main" id="{D9441DEA-C85E-4B9C-A48D-8437854C4C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9" name="Freeform: Shape 28">
              <a:extLst>
                <a:ext uri="{FF2B5EF4-FFF2-40B4-BE49-F238E27FC236}">
                  <a16:creationId xmlns:a16="http://schemas.microsoft.com/office/drawing/2014/main" id="{15EBAA20-1368-4495-8D7C-820FAD8ECF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0" name="Freeform: Shape 29">
              <a:extLst>
                <a:ext uri="{FF2B5EF4-FFF2-40B4-BE49-F238E27FC236}">
                  <a16:creationId xmlns:a16="http://schemas.microsoft.com/office/drawing/2014/main" id="{0FB92591-626C-4D2B-A3E6-EC8742D67B2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1" name="Freeform: Shape 30">
              <a:extLst>
                <a:ext uri="{FF2B5EF4-FFF2-40B4-BE49-F238E27FC236}">
                  <a16:creationId xmlns:a16="http://schemas.microsoft.com/office/drawing/2014/main" id="{D392448D-513F-4528-9D8D-A151982041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 name="Freeform: Shape 31">
              <a:extLst>
                <a:ext uri="{FF2B5EF4-FFF2-40B4-BE49-F238E27FC236}">
                  <a16:creationId xmlns:a16="http://schemas.microsoft.com/office/drawing/2014/main" id="{61946BAE-1546-4EA4-A108-A799BF5D2C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3" name="Freeform: Shape 32">
              <a:extLst>
                <a:ext uri="{FF2B5EF4-FFF2-40B4-BE49-F238E27FC236}">
                  <a16:creationId xmlns:a16="http://schemas.microsoft.com/office/drawing/2014/main" id="{42A8EC93-6A35-4D37-A8CB-59362BF875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4" name="Freeform: Shape 33">
              <a:extLst>
                <a:ext uri="{FF2B5EF4-FFF2-40B4-BE49-F238E27FC236}">
                  <a16:creationId xmlns:a16="http://schemas.microsoft.com/office/drawing/2014/main" id="{AFC3ECA2-E914-4D83-ABF9-B9FFD96E92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 name="Freeform: Shape 34">
              <a:extLst>
                <a:ext uri="{FF2B5EF4-FFF2-40B4-BE49-F238E27FC236}">
                  <a16:creationId xmlns:a16="http://schemas.microsoft.com/office/drawing/2014/main" id="{712B1108-9AAC-4F10-A64F-0D6963E518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6" name="Freeform: Shape 35">
              <a:extLst>
                <a:ext uri="{FF2B5EF4-FFF2-40B4-BE49-F238E27FC236}">
                  <a16:creationId xmlns:a16="http://schemas.microsoft.com/office/drawing/2014/main" id="{284CDA0C-B2AB-4791-83B1-C053C061D61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7" name="Freeform: Shape 36">
              <a:extLst>
                <a:ext uri="{FF2B5EF4-FFF2-40B4-BE49-F238E27FC236}">
                  <a16:creationId xmlns:a16="http://schemas.microsoft.com/office/drawing/2014/main" id="{F857BF6B-E0CA-49C0-8827-B44CE8B928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8" name="Freeform: Shape 37">
              <a:extLst>
                <a:ext uri="{FF2B5EF4-FFF2-40B4-BE49-F238E27FC236}">
                  <a16:creationId xmlns:a16="http://schemas.microsoft.com/office/drawing/2014/main" id="{6D7B06A7-ADDF-4F27-B11F-08422FC18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9" name="Freeform: Shape 38">
              <a:extLst>
                <a:ext uri="{FF2B5EF4-FFF2-40B4-BE49-F238E27FC236}">
                  <a16:creationId xmlns:a16="http://schemas.microsoft.com/office/drawing/2014/main" id="{E8B0DA6C-71D7-4FCB-AE4C-035E0ADB50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0" name="Freeform: Shape 39">
              <a:extLst>
                <a:ext uri="{FF2B5EF4-FFF2-40B4-BE49-F238E27FC236}">
                  <a16:creationId xmlns:a16="http://schemas.microsoft.com/office/drawing/2014/main" id="{EB078173-ADFB-480D-91A4-4D71C01098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41" name="Freeform: Shape 40">
              <a:extLst>
                <a:ext uri="{FF2B5EF4-FFF2-40B4-BE49-F238E27FC236}">
                  <a16:creationId xmlns:a16="http://schemas.microsoft.com/office/drawing/2014/main" id="{AAA4027A-C97B-4C9A-B04C-EBE2112200A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2" name="Freeform: Shape 41">
              <a:extLst>
                <a:ext uri="{FF2B5EF4-FFF2-40B4-BE49-F238E27FC236}">
                  <a16:creationId xmlns:a16="http://schemas.microsoft.com/office/drawing/2014/main" id="{C06DA92D-C6D0-4C7D-98CF-D9576912E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43" name="Freeform: Shape 42">
              <a:extLst>
                <a:ext uri="{FF2B5EF4-FFF2-40B4-BE49-F238E27FC236}">
                  <a16:creationId xmlns:a16="http://schemas.microsoft.com/office/drawing/2014/main" id="{D6601653-3941-4C9B-BD39-62EECE23A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4" name="Freeform: Shape 43">
              <a:extLst>
                <a:ext uri="{FF2B5EF4-FFF2-40B4-BE49-F238E27FC236}">
                  <a16:creationId xmlns:a16="http://schemas.microsoft.com/office/drawing/2014/main" id="{2BC4A394-4FFE-4BFE-9A59-2B624E071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5" name="Freeform: Shape 44">
              <a:extLst>
                <a:ext uri="{FF2B5EF4-FFF2-40B4-BE49-F238E27FC236}">
                  <a16:creationId xmlns:a16="http://schemas.microsoft.com/office/drawing/2014/main" id="{EB4EABA5-FDCF-4F6F-8FF1-6FDFF50580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6" name="Freeform: Shape 45">
              <a:extLst>
                <a:ext uri="{FF2B5EF4-FFF2-40B4-BE49-F238E27FC236}">
                  <a16:creationId xmlns:a16="http://schemas.microsoft.com/office/drawing/2014/main" id="{10F3C940-2320-488A-B24C-AB0A4FB539B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7" name="Freeform: Shape 46">
              <a:extLst>
                <a:ext uri="{FF2B5EF4-FFF2-40B4-BE49-F238E27FC236}">
                  <a16:creationId xmlns:a16="http://schemas.microsoft.com/office/drawing/2014/main" id="{F525BA82-37D8-47ED-AFF6-AE57124A4E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48" name="Freeform: Shape 47">
              <a:extLst>
                <a:ext uri="{FF2B5EF4-FFF2-40B4-BE49-F238E27FC236}">
                  <a16:creationId xmlns:a16="http://schemas.microsoft.com/office/drawing/2014/main" id="{C2D78955-C80F-4DA3-83AA-D28A5A6FA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49" name="Freeform: Shape 48">
              <a:extLst>
                <a:ext uri="{FF2B5EF4-FFF2-40B4-BE49-F238E27FC236}">
                  <a16:creationId xmlns:a16="http://schemas.microsoft.com/office/drawing/2014/main" id="{BC23DAAC-7C06-4012-8CBB-8E3126B68B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0" name="Freeform: Shape 49">
              <a:extLst>
                <a:ext uri="{FF2B5EF4-FFF2-40B4-BE49-F238E27FC236}">
                  <a16:creationId xmlns:a16="http://schemas.microsoft.com/office/drawing/2014/main" id="{60D19F80-DC80-49EC-8EDD-7889092C18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1" name="Freeform: Shape 50">
              <a:extLst>
                <a:ext uri="{FF2B5EF4-FFF2-40B4-BE49-F238E27FC236}">
                  <a16:creationId xmlns:a16="http://schemas.microsoft.com/office/drawing/2014/main" id="{11F50BB3-EA39-4693-BAE1-1101EF0A41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2" name="Freeform: Shape 51">
              <a:extLst>
                <a:ext uri="{FF2B5EF4-FFF2-40B4-BE49-F238E27FC236}">
                  <a16:creationId xmlns:a16="http://schemas.microsoft.com/office/drawing/2014/main" id="{00EFD45B-69A8-47F6-A5BF-779F7EB49F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3" name="Freeform: Shape 52">
              <a:extLst>
                <a:ext uri="{FF2B5EF4-FFF2-40B4-BE49-F238E27FC236}">
                  <a16:creationId xmlns:a16="http://schemas.microsoft.com/office/drawing/2014/main" id="{9E53C464-7272-4EBC-830B-CB29A96988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4" name="Freeform: Shape 53">
              <a:extLst>
                <a:ext uri="{FF2B5EF4-FFF2-40B4-BE49-F238E27FC236}">
                  <a16:creationId xmlns:a16="http://schemas.microsoft.com/office/drawing/2014/main" id="{B6BF10CE-C2AD-487A-9402-8D5C746ECF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5" name="Freeform: Shape 54">
              <a:extLst>
                <a:ext uri="{FF2B5EF4-FFF2-40B4-BE49-F238E27FC236}">
                  <a16:creationId xmlns:a16="http://schemas.microsoft.com/office/drawing/2014/main" id="{1064C7FE-F8EB-47EF-97FA-348A520599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56" name="Freeform: Shape 55">
              <a:extLst>
                <a:ext uri="{FF2B5EF4-FFF2-40B4-BE49-F238E27FC236}">
                  <a16:creationId xmlns:a16="http://schemas.microsoft.com/office/drawing/2014/main" id="{A991C553-06A1-4F26-BBBC-80F7E11E7A3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57" name="Freeform: Shape 56">
              <a:extLst>
                <a:ext uri="{FF2B5EF4-FFF2-40B4-BE49-F238E27FC236}">
                  <a16:creationId xmlns:a16="http://schemas.microsoft.com/office/drawing/2014/main" id="{BCE9C081-2191-4C84-956E-F106BB015C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8" name="Freeform: Shape 57">
              <a:extLst>
                <a:ext uri="{FF2B5EF4-FFF2-40B4-BE49-F238E27FC236}">
                  <a16:creationId xmlns:a16="http://schemas.microsoft.com/office/drawing/2014/main" id="{292F6F03-BC34-40C6-8F17-7A169CD72F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59" name="Freeform: Shape 58">
              <a:extLst>
                <a:ext uri="{FF2B5EF4-FFF2-40B4-BE49-F238E27FC236}">
                  <a16:creationId xmlns:a16="http://schemas.microsoft.com/office/drawing/2014/main" id="{A5101B80-7351-4F0F-AB7D-3E40B4D266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0" name="Freeform: Shape 59">
              <a:extLst>
                <a:ext uri="{FF2B5EF4-FFF2-40B4-BE49-F238E27FC236}">
                  <a16:creationId xmlns:a16="http://schemas.microsoft.com/office/drawing/2014/main" id="{0570EE1D-95AC-4660-8E96-7C8A36FEB6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1" name="Freeform: Shape 60">
              <a:extLst>
                <a:ext uri="{FF2B5EF4-FFF2-40B4-BE49-F238E27FC236}">
                  <a16:creationId xmlns:a16="http://schemas.microsoft.com/office/drawing/2014/main" id="{385D9A56-2D15-4E0A-B981-E168F09064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2" name="Freeform: Shape 61">
              <a:extLst>
                <a:ext uri="{FF2B5EF4-FFF2-40B4-BE49-F238E27FC236}">
                  <a16:creationId xmlns:a16="http://schemas.microsoft.com/office/drawing/2014/main" id="{28D0BA2F-9273-4EAA-AD17-C4EFE11403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63" name="Freeform: Shape 62">
              <a:extLst>
                <a:ext uri="{FF2B5EF4-FFF2-40B4-BE49-F238E27FC236}">
                  <a16:creationId xmlns:a16="http://schemas.microsoft.com/office/drawing/2014/main" id="{512CC54E-7976-4DC9-984C-45C2A23A721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64" name="Freeform: Shape 63">
              <a:extLst>
                <a:ext uri="{FF2B5EF4-FFF2-40B4-BE49-F238E27FC236}">
                  <a16:creationId xmlns:a16="http://schemas.microsoft.com/office/drawing/2014/main" id="{C8A3FC72-9FF9-41F6-97E0-45A0FEE946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5" name="Freeform: Shape 64">
              <a:extLst>
                <a:ext uri="{FF2B5EF4-FFF2-40B4-BE49-F238E27FC236}">
                  <a16:creationId xmlns:a16="http://schemas.microsoft.com/office/drawing/2014/main" id="{48918C16-C9B6-40D5-93A0-DB547B644A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6" name="Freeform: Shape 65">
              <a:extLst>
                <a:ext uri="{FF2B5EF4-FFF2-40B4-BE49-F238E27FC236}">
                  <a16:creationId xmlns:a16="http://schemas.microsoft.com/office/drawing/2014/main" id="{A05612C6-4858-4854-A3D3-90CF1E1C75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7" name="Freeform: Shape 66">
              <a:extLst>
                <a:ext uri="{FF2B5EF4-FFF2-40B4-BE49-F238E27FC236}">
                  <a16:creationId xmlns:a16="http://schemas.microsoft.com/office/drawing/2014/main" id="{A8E88D77-C726-4008-849C-DA7361F885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8" name="Freeform: Shape 67">
              <a:extLst>
                <a:ext uri="{FF2B5EF4-FFF2-40B4-BE49-F238E27FC236}">
                  <a16:creationId xmlns:a16="http://schemas.microsoft.com/office/drawing/2014/main" id="{24CFE7CA-C955-4365-90C3-6272CB9A3C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69" name="Freeform: Shape 68">
              <a:extLst>
                <a:ext uri="{FF2B5EF4-FFF2-40B4-BE49-F238E27FC236}">
                  <a16:creationId xmlns:a16="http://schemas.microsoft.com/office/drawing/2014/main" id="{38B43FC8-B81C-490A-A346-4C6235DA8A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70" name="Freeform: Shape 69">
              <a:extLst>
                <a:ext uri="{FF2B5EF4-FFF2-40B4-BE49-F238E27FC236}">
                  <a16:creationId xmlns:a16="http://schemas.microsoft.com/office/drawing/2014/main" id="{214D0221-0C97-4C71-B535-7506956EF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1" name="Freeform: Shape 70">
              <a:extLst>
                <a:ext uri="{FF2B5EF4-FFF2-40B4-BE49-F238E27FC236}">
                  <a16:creationId xmlns:a16="http://schemas.microsoft.com/office/drawing/2014/main" id="{ED0C44EA-BD25-49A3-9EB8-9D8DED7C19D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2" name="Freeform: Shape 71">
              <a:extLst>
                <a:ext uri="{FF2B5EF4-FFF2-40B4-BE49-F238E27FC236}">
                  <a16:creationId xmlns:a16="http://schemas.microsoft.com/office/drawing/2014/main" id="{A3C9CCF2-15CC-4F7D-87F5-7FFEBAC9C2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73" name="Freeform: Shape 72">
              <a:extLst>
                <a:ext uri="{FF2B5EF4-FFF2-40B4-BE49-F238E27FC236}">
                  <a16:creationId xmlns:a16="http://schemas.microsoft.com/office/drawing/2014/main" id="{8AA321D8-1D2C-472C-A2DB-EBB74498DD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74" name="Freeform: Shape 73">
              <a:extLst>
                <a:ext uri="{FF2B5EF4-FFF2-40B4-BE49-F238E27FC236}">
                  <a16:creationId xmlns:a16="http://schemas.microsoft.com/office/drawing/2014/main" id="{724680C1-4BB5-45DB-A558-82514418CF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75" name="Freeform: Shape 74">
              <a:extLst>
                <a:ext uri="{FF2B5EF4-FFF2-40B4-BE49-F238E27FC236}">
                  <a16:creationId xmlns:a16="http://schemas.microsoft.com/office/drawing/2014/main" id="{C94F4CEF-82DD-4CFB-8EE3-4AB115F6A0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76" name="Freeform: Shape 75">
              <a:extLst>
                <a:ext uri="{FF2B5EF4-FFF2-40B4-BE49-F238E27FC236}">
                  <a16:creationId xmlns:a16="http://schemas.microsoft.com/office/drawing/2014/main" id="{4F186C9C-C620-4426-A674-E40F808F66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7" name="Freeform: Shape 76">
              <a:extLst>
                <a:ext uri="{FF2B5EF4-FFF2-40B4-BE49-F238E27FC236}">
                  <a16:creationId xmlns:a16="http://schemas.microsoft.com/office/drawing/2014/main" id="{8929942C-BA3F-40EF-94DD-4A5C22C5B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78" name="Freeform: Shape 77">
              <a:extLst>
                <a:ext uri="{FF2B5EF4-FFF2-40B4-BE49-F238E27FC236}">
                  <a16:creationId xmlns:a16="http://schemas.microsoft.com/office/drawing/2014/main" id="{D234974B-3555-465B-95A7-1C63CE73867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79" name="Freeform: Shape 78">
              <a:extLst>
                <a:ext uri="{FF2B5EF4-FFF2-40B4-BE49-F238E27FC236}">
                  <a16:creationId xmlns:a16="http://schemas.microsoft.com/office/drawing/2014/main" id="{0E38F9FD-48AC-4C3E-9E75-D1C0B555E0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0" name="Freeform: Shape 79">
              <a:extLst>
                <a:ext uri="{FF2B5EF4-FFF2-40B4-BE49-F238E27FC236}">
                  <a16:creationId xmlns:a16="http://schemas.microsoft.com/office/drawing/2014/main" id="{3AA72E26-5C3D-4231-9042-E00AE43E80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81" name="Freeform: Shape 80">
              <a:extLst>
                <a:ext uri="{FF2B5EF4-FFF2-40B4-BE49-F238E27FC236}">
                  <a16:creationId xmlns:a16="http://schemas.microsoft.com/office/drawing/2014/main" id="{6684433D-3C9E-4C19-A801-D51CF3064F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82" name="Freeform: Shape 81">
              <a:extLst>
                <a:ext uri="{FF2B5EF4-FFF2-40B4-BE49-F238E27FC236}">
                  <a16:creationId xmlns:a16="http://schemas.microsoft.com/office/drawing/2014/main" id="{DADB0C3D-A021-4F40-93B3-76B61334FD9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3" name="Freeform: Shape 82">
              <a:extLst>
                <a:ext uri="{FF2B5EF4-FFF2-40B4-BE49-F238E27FC236}">
                  <a16:creationId xmlns:a16="http://schemas.microsoft.com/office/drawing/2014/main" id="{41781C18-F408-401D-8A86-99FFBB9895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4" name="Freeform: Shape 83">
              <a:extLst>
                <a:ext uri="{FF2B5EF4-FFF2-40B4-BE49-F238E27FC236}">
                  <a16:creationId xmlns:a16="http://schemas.microsoft.com/office/drawing/2014/main" id="{9D958D9F-E4B0-48B1-ADA4-3053AFB5D9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85" name="Freeform: Shape 84">
              <a:extLst>
                <a:ext uri="{FF2B5EF4-FFF2-40B4-BE49-F238E27FC236}">
                  <a16:creationId xmlns:a16="http://schemas.microsoft.com/office/drawing/2014/main" id="{43EFCD46-F0FB-499C-81B9-3508FE5C8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86" name="Freeform: Shape 85">
              <a:extLst>
                <a:ext uri="{FF2B5EF4-FFF2-40B4-BE49-F238E27FC236}">
                  <a16:creationId xmlns:a16="http://schemas.microsoft.com/office/drawing/2014/main" id="{2B6A130F-CB85-4BDA-8DDF-8DAAB2F7D0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87" name="Freeform: Shape 86">
              <a:extLst>
                <a:ext uri="{FF2B5EF4-FFF2-40B4-BE49-F238E27FC236}">
                  <a16:creationId xmlns:a16="http://schemas.microsoft.com/office/drawing/2014/main" id="{9359DA40-CA94-4B1F-9BE6-C800BEEC77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88" name="Freeform: Shape 87">
              <a:extLst>
                <a:ext uri="{FF2B5EF4-FFF2-40B4-BE49-F238E27FC236}">
                  <a16:creationId xmlns:a16="http://schemas.microsoft.com/office/drawing/2014/main" id="{73304FCD-8DAD-4BC8-A16E-84DDCA07FF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89" name="Freeform: Shape 88">
              <a:extLst>
                <a:ext uri="{FF2B5EF4-FFF2-40B4-BE49-F238E27FC236}">
                  <a16:creationId xmlns:a16="http://schemas.microsoft.com/office/drawing/2014/main" id="{BCB4864C-8F67-4BE7-89CC-664EA25EC5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0" name="Freeform: Shape 89">
              <a:extLst>
                <a:ext uri="{FF2B5EF4-FFF2-40B4-BE49-F238E27FC236}">
                  <a16:creationId xmlns:a16="http://schemas.microsoft.com/office/drawing/2014/main" id="{845F543D-67FC-4640-A2A1-69DA6D0528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91" name="Freeform: Shape 90">
              <a:extLst>
                <a:ext uri="{FF2B5EF4-FFF2-40B4-BE49-F238E27FC236}">
                  <a16:creationId xmlns:a16="http://schemas.microsoft.com/office/drawing/2014/main" id="{DBDB2A9C-60E5-4F7E-BA2B-4DD1595FB9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92" name="Freeform: Shape 91">
              <a:extLst>
                <a:ext uri="{FF2B5EF4-FFF2-40B4-BE49-F238E27FC236}">
                  <a16:creationId xmlns:a16="http://schemas.microsoft.com/office/drawing/2014/main" id="{72B10DA2-D88E-4952-BDB5-102E61B4B2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93" name="Freeform: Shape 92">
              <a:extLst>
                <a:ext uri="{FF2B5EF4-FFF2-40B4-BE49-F238E27FC236}">
                  <a16:creationId xmlns:a16="http://schemas.microsoft.com/office/drawing/2014/main" id="{AC5F5BED-3698-4F52-9977-D8CA2DC031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4" name="Freeform: Shape 93">
              <a:extLst>
                <a:ext uri="{FF2B5EF4-FFF2-40B4-BE49-F238E27FC236}">
                  <a16:creationId xmlns:a16="http://schemas.microsoft.com/office/drawing/2014/main" id="{E19CCEBC-AD20-45B2-A751-42B40BB31C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5" name="Freeform: Shape 94">
              <a:extLst>
                <a:ext uri="{FF2B5EF4-FFF2-40B4-BE49-F238E27FC236}">
                  <a16:creationId xmlns:a16="http://schemas.microsoft.com/office/drawing/2014/main" id="{3A978AD9-9A35-4B89-B3BC-61E54AD9EB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6" name="Freeform: Shape 95">
              <a:extLst>
                <a:ext uri="{FF2B5EF4-FFF2-40B4-BE49-F238E27FC236}">
                  <a16:creationId xmlns:a16="http://schemas.microsoft.com/office/drawing/2014/main" id="{77D8C808-AFC9-42DD-B253-0048903791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97" name="Freeform: Shape 96">
              <a:extLst>
                <a:ext uri="{FF2B5EF4-FFF2-40B4-BE49-F238E27FC236}">
                  <a16:creationId xmlns:a16="http://schemas.microsoft.com/office/drawing/2014/main" id="{EECD0BF1-7C64-407E-8306-4C447B1D32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98" name="Freeform: Shape 97">
              <a:extLst>
                <a:ext uri="{FF2B5EF4-FFF2-40B4-BE49-F238E27FC236}">
                  <a16:creationId xmlns:a16="http://schemas.microsoft.com/office/drawing/2014/main" id="{953B0F94-AC35-4CB2-878D-1DC7D68BE9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99" name="Freeform: Shape 98">
              <a:extLst>
                <a:ext uri="{FF2B5EF4-FFF2-40B4-BE49-F238E27FC236}">
                  <a16:creationId xmlns:a16="http://schemas.microsoft.com/office/drawing/2014/main" id="{08EA50C2-BB5F-4368-AA91-67B207C1AB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0" name="Freeform: Shape 99">
              <a:extLst>
                <a:ext uri="{FF2B5EF4-FFF2-40B4-BE49-F238E27FC236}">
                  <a16:creationId xmlns:a16="http://schemas.microsoft.com/office/drawing/2014/main" id="{DE45A7FE-0A45-45F6-8417-EBDA5A12D83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1" name="Freeform: Shape 100">
              <a:extLst>
                <a:ext uri="{FF2B5EF4-FFF2-40B4-BE49-F238E27FC236}">
                  <a16:creationId xmlns:a16="http://schemas.microsoft.com/office/drawing/2014/main" id="{DA8B8DC8-F88C-432E-A8C2-8D13FE874F0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2" name="Freeform: Shape 101">
              <a:extLst>
                <a:ext uri="{FF2B5EF4-FFF2-40B4-BE49-F238E27FC236}">
                  <a16:creationId xmlns:a16="http://schemas.microsoft.com/office/drawing/2014/main" id="{D02C5430-233D-49F7-B852-181D2B2F61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03" name="Freeform: Shape 102">
              <a:extLst>
                <a:ext uri="{FF2B5EF4-FFF2-40B4-BE49-F238E27FC236}">
                  <a16:creationId xmlns:a16="http://schemas.microsoft.com/office/drawing/2014/main" id="{76DB286F-9E15-441C-8697-57007B76C1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04" name="Freeform: Shape 103">
              <a:extLst>
                <a:ext uri="{FF2B5EF4-FFF2-40B4-BE49-F238E27FC236}">
                  <a16:creationId xmlns:a16="http://schemas.microsoft.com/office/drawing/2014/main" id="{534DC0EE-15B7-44AE-A7DC-8B5E22688A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05" name="Freeform: Shape 104">
              <a:extLst>
                <a:ext uri="{FF2B5EF4-FFF2-40B4-BE49-F238E27FC236}">
                  <a16:creationId xmlns:a16="http://schemas.microsoft.com/office/drawing/2014/main" id="{4FBE9900-F640-4248-9C4C-EDBE5E00AF6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6" name="Freeform: Shape 105">
              <a:extLst>
                <a:ext uri="{FF2B5EF4-FFF2-40B4-BE49-F238E27FC236}">
                  <a16:creationId xmlns:a16="http://schemas.microsoft.com/office/drawing/2014/main" id="{37FF04AF-F86B-49F8-AAB5-DA696591A1F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7" name="Freeform: Shape 106">
              <a:extLst>
                <a:ext uri="{FF2B5EF4-FFF2-40B4-BE49-F238E27FC236}">
                  <a16:creationId xmlns:a16="http://schemas.microsoft.com/office/drawing/2014/main" id="{710DCFEA-4572-47A3-A6BE-7B21F5758CE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08" name="Freeform: Shape 107">
              <a:extLst>
                <a:ext uri="{FF2B5EF4-FFF2-40B4-BE49-F238E27FC236}">
                  <a16:creationId xmlns:a16="http://schemas.microsoft.com/office/drawing/2014/main" id="{BA42ED8E-CCC8-478F-9EF4-625B633071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09" name="Freeform: Shape 108">
              <a:extLst>
                <a:ext uri="{FF2B5EF4-FFF2-40B4-BE49-F238E27FC236}">
                  <a16:creationId xmlns:a16="http://schemas.microsoft.com/office/drawing/2014/main" id="{146DF8F4-DF09-4E6C-887F-C9269E56A5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0" name="Freeform: Shape 109">
              <a:extLst>
                <a:ext uri="{FF2B5EF4-FFF2-40B4-BE49-F238E27FC236}">
                  <a16:creationId xmlns:a16="http://schemas.microsoft.com/office/drawing/2014/main" id="{7FF3916E-5C82-4956-A88B-81BFAC91B8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11" name="Freeform: Shape 110">
              <a:extLst>
                <a:ext uri="{FF2B5EF4-FFF2-40B4-BE49-F238E27FC236}">
                  <a16:creationId xmlns:a16="http://schemas.microsoft.com/office/drawing/2014/main" id="{7E5CF7AE-ED45-4AB5-9AEB-56FC964BFA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12" name="Freeform: Shape 111">
              <a:extLst>
                <a:ext uri="{FF2B5EF4-FFF2-40B4-BE49-F238E27FC236}">
                  <a16:creationId xmlns:a16="http://schemas.microsoft.com/office/drawing/2014/main" id="{7CFB132C-BEB1-4897-B1A4-97422811F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13" name="Freeform: Shape 112">
              <a:extLst>
                <a:ext uri="{FF2B5EF4-FFF2-40B4-BE49-F238E27FC236}">
                  <a16:creationId xmlns:a16="http://schemas.microsoft.com/office/drawing/2014/main" id="{4EE49F21-E336-41BC-8256-85A9AB597F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4" name="Freeform: Shape 113">
              <a:extLst>
                <a:ext uri="{FF2B5EF4-FFF2-40B4-BE49-F238E27FC236}">
                  <a16:creationId xmlns:a16="http://schemas.microsoft.com/office/drawing/2014/main" id="{C62510EE-BDCD-4393-9AD7-2D0C9A722D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5" name="Freeform: Shape 114">
              <a:extLst>
                <a:ext uri="{FF2B5EF4-FFF2-40B4-BE49-F238E27FC236}">
                  <a16:creationId xmlns:a16="http://schemas.microsoft.com/office/drawing/2014/main" id="{2420F94B-4F00-4C6C-97E3-BA5B5E6871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6" name="Freeform: Shape 115">
              <a:extLst>
                <a:ext uri="{FF2B5EF4-FFF2-40B4-BE49-F238E27FC236}">
                  <a16:creationId xmlns:a16="http://schemas.microsoft.com/office/drawing/2014/main" id="{E712560A-A110-4132-85D5-21BBBFA8C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7" name="Freeform: Shape 116">
              <a:extLst>
                <a:ext uri="{FF2B5EF4-FFF2-40B4-BE49-F238E27FC236}">
                  <a16:creationId xmlns:a16="http://schemas.microsoft.com/office/drawing/2014/main" id="{D1E3102B-23D5-43AE-A67D-583AAA52BA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18" name="Freeform: Shape 117">
              <a:extLst>
                <a:ext uri="{FF2B5EF4-FFF2-40B4-BE49-F238E27FC236}">
                  <a16:creationId xmlns:a16="http://schemas.microsoft.com/office/drawing/2014/main" id="{9D5ABE4E-EB80-423C-BBCE-9C1B77D9B0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19" name="Freeform: Shape 118">
              <a:extLst>
                <a:ext uri="{FF2B5EF4-FFF2-40B4-BE49-F238E27FC236}">
                  <a16:creationId xmlns:a16="http://schemas.microsoft.com/office/drawing/2014/main" id="{BEB8CCC5-38F5-4892-A00B-14B645BBDF5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0" name="Freeform: Shape 119">
              <a:extLst>
                <a:ext uri="{FF2B5EF4-FFF2-40B4-BE49-F238E27FC236}">
                  <a16:creationId xmlns:a16="http://schemas.microsoft.com/office/drawing/2014/main" id="{8860175F-F7D5-4464-AD61-5B435528FE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1" name="Freeform: Shape 120">
              <a:extLst>
                <a:ext uri="{FF2B5EF4-FFF2-40B4-BE49-F238E27FC236}">
                  <a16:creationId xmlns:a16="http://schemas.microsoft.com/office/drawing/2014/main" id="{E28C20B0-98AA-4A5B-8CE1-236A3F6CAA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2" name="Freeform: Shape 121">
              <a:extLst>
                <a:ext uri="{FF2B5EF4-FFF2-40B4-BE49-F238E27FC236}">
                  <a16:creationId xmlns:a16="http://schemas.microsoft.com/office/drawing/2014/main" id="{8A56719F-13F0-4B75-8C04-DAACD8FD86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3" name="Freeform: Shape 122">
              <a:extLst>
                <a:ext uri="{FF2B5EF4-FFF2-40B4-BE49-F238E27FC236}">
                  <a16:creationId xmlns:a16="http://schemas.microsoft.com/office/drawing/2014/main" id="{B30555DA-285C-4859-83DE-B16FF6D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4" name="Freeform: Shape 123">
              <a:extLst>
                <a:ext uri="{FF2B5EF4-FFF2-40B4-BE49-F238E27FC236}">
                  <a16:creationId xmlns:a16="http://schemas.microsoft.com/office/drawing/2014/main" id="{67AF00E9-C8D6-41C4-9703-5468F51639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25" name="Freeform: Shape 124">
              <a:extLst>
                <a:ext uri="{FF2B5EF4-FFF2-40B4-BE49-F238E27FC236}">
                  <a16:creationId xmlns:a16="http://schemas.microsoft.com/office/drawing/2014/main" id="{D07F88BD-A2E8-4F25-BB43-9372C6C9F3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6" name="Freeform: Shape 125">
              <a:extLst>
                <a:ext uri="{FF2B5EF4-FFF2-40B4-BE49-F238E27FC236}">
                  <a16:creationId xmlns:a16="http://schemas.microsoft.com/office/drawing/2014/main" id="{DFAE35DA-8283-4F4B-8C00-FF8EFE39B3C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27" name="Freeform: Shape 126">
              <a:extLst>
                <a:ext uri="{FF2B5EF4-FFF2-40B4-BE49-F238E27FC236}">
                  <a16:creationId xmlns:a16="http://schemas.microsoft.com/office/drawing/2014/main" id="{4340DEBE-A255-48E2-B7B2-AE881651CE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8" name="Freeform: Shape 127">
              <a:extLst>
                <a:ext uri="{FF2B5EF4-FFF2-40B4-BE49-F238E27FC236}">
                  <a16:creationId xmlns:a16="http://schemas.microsoft.com/office/drawing/2014/main" id="{FE968FB9-507A-4F2E-B346-15995081B1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29" name="Freeform: Shape 128">
              <a:extLst>
                <a:ext uri="{FF2B5EF4-FFF2-40B4-BE49-F238E27FC236}">
                  <a16:creationId xmlns:a16="http://schemas.microsoft.com/office/drawing/2014/main" id="{4DA99BD8-9C2B-46BF-AA27-ED405540D1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0" name="Freeform: Shape 129">
              <a:extLst>
                <a:ext uri="{FF2B5EF4-FFF2-40B4-BE49-F238E27FC236}">
                  <a16:creationId xmlns:a16="http://schemas.microsoft.com/office/drawing/2014/main" id="{50C84F67-D2C2-48DF-8537-DF99C6024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1" name="Freeform: Shape 130">
              <a:extLst>
                <a:ext uri="{FF2B5EF4-FFF2-40B4-BE49-F238E27FC236}">
                  <a16:creationId xmlns:a16="http://schemas.microsoft.com/office/drawing/2014/main" id="{F5CAEB9A-26A6-4FBF-916B-19FC9B0BFC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2" name="Freeform: Shape 131">
              <a:extLst>
                <a:ext uri="{FF2B5EF4-FFF2-40B4-BE49-F238E27FC236}">
                  <a16:creationId xmlns:a16="http://schemas.microsoft.com/office/drawing/2014/main" id="{E4DEDE1B-4819-4E4B-849E-330D7DF56C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3" name="Freeform: Shape 132">
              <a:extLst>
                <a:ext uri="{FF2B5EF4-FFF2-40B4-BE49-F238E27FC236}">
                  <a16:creationId xmlns:a16="http://schemas.microsoft.com/office/drawing/2014/main" id="{C441B73E-F19C-4313-8F46-F600603B36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34" name="Freeform: Shape 133">
              <a:extLst>
                <a:ext uri="{FF2B5EF4-FFF2-40B4-BE49-F238E27FC236}">
                  <a16:creationId xmlns:a16="http://schemas.microsoft.com/office/drawing/2014/main" id="{014FE805-EF51-4859-A6DF-CF75F9A0F5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5" name="Freeform: Shape 134">
              <a:extLst>
                <a:ext uri="{FF2B5EF4-FFF2-40B4-BE49-F238E27FC236}">
                  <a16:creationId xmlns:a16="http://schemas.microsoft.com/office/drawing/2014/main" id="{624CF2A5-BD9E-4570-8560-063BC70F26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6" name="Freeform: Shape 135">
              <a:extLst>
                <a:ext uri="{FF2B5EF4-FFF2-40B4-BE49-F238E27FC236}">
                  <a16:creationId xmlns:a16="http://schemas.microsoft.com/office/drawing/2014/main" id="{6BEC415C-7946-43B2-9AC8-348B6B5CD0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7" name="Freeform: Shape 136">
              <a:extLst>
                <a:ext uri="{FF2B5EF4-FFF2-40B4-BE49-F238E27FC236}">
                  <a16:creationId xmlns:a16="http://schemas.microsoft.com/office/drawing/2014/main" id="{1B615AD5-3365-43D4-8E16-377A2A2F97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8" name="Freeform: Shape 137">
              <a:extLst>
                <a:ext uri="{FF2B5EF4-FFF2-40B4-BE49-F238E27FC236}">
                  <a16:creationId xmlns:a16="http://schemas.microsoft.com/office/drawing/2014/main" id="{9D184DFD-DD33-491E-90FF-6E4ECA2668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39" name="Freeform: Shape 138">
              <a:extLst>
                <a:ext uri="{FF2B5EF4-FFF2-40B4-BE49-F238E27FC236}">
                  <a16:creationId xmlns:a16="http://schemas.microsoft.com/office/drawing/2014/main" id="{31B62FE1-0262-4B09-ABEA-8AA010137D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0" name="Freeform: Shape 139">
              <a:extLst>
                <a:ext uri="{FF2B5EF4-FFF2-40B4-BE49-F238E27FC236}">
                  <a16:creationId xmlns:a16="http://schemas.microsoft.com/office/drawing/2014/main" id="{20C539C6-FAA9-4EBE-93D9-1F946E14498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1" name="Freeform: Shape 140">
              <a:extLst>
                <a:ext uri="{FF2B5EF4-FFF2-40B4-BE49-F238E27FC236}">
                  <a16:creationId xmlns:a16="http://schemas.microsoft.com/office/drawing/2014/main" id="{8C6EF3FF-09E5-4099-A49B-CA364A6E837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2" name="Freeform: Shape 141">
              <a:extLst>
                <a:ext uri="{FF2B5EF4-FFF2-40B4-BE49-F238E27FC236}">
                  <a16:creationId xmlns:a16="http://schemas.microsoft.com/office/drawing/2014/main" id="{B3C5E06F-8F1E-4771-AAE4-B34B1D6A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3" name="Freeform: Shape 142">
              <a:extLst>
                <a:ext uri="{FF2B5EF4-FFF2-40B4-BE49-F238E27FC236}">
                  <a16:creationId xmlns:a16="http://schemas.microsoft.com/office/drawing/2014/main" id="{538D5AE9-76CC-4AE4-B026-656EDCB01B8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4" name="Freeform: Shape 143">
              <a:extLst>
                <a:ext uri="{FF2B5EF4-FFF2-40B4-BE49-F238E27FC236}">
                  <a16:creationId xmlns:a16="http://schemas.microsoft.com/office/drawing/2014/main" id="{30F1A9B9-52AB-4527-BD4A-1802F7C960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5" name="Freeform: Shape 144">
              <a:extLst>
                <a:ext uri="{FF2B5EF4-FFF2-40B4-BE49-F238E27FC236}">
                  <a16:creationId xmlns:a16="http://schemas.microsoft.com/office/drawing/2014/main" id="{46A57D78-C020-4EEF-971D-0C8802889A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6" name="Freeform: Shape 145">
              <a:extLst>
                <a:ext uri="{FF2B5EF4-FFF2-40B4-BE49-F238E27FC236}">
                  <a16:creationId xmlns:a16="http://schemas.microsoft.com/office/drawing/2014/main" id="{7666D7A3-5ABF-4EDE-A0C5-F2099B2D86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47" name="Freeform: Shape 146">
              <a:extLst>
                <a:ext uri="{FF2B5EF4-FFF2-40B4-BE49-F238E27FC236}">
                  <a16:creationId xmlns:a16="http://schemas.microsoft.com/office/drawing/2014/main" id="{13BC460A-E0FF-4658-A2FD-A3AF4D51DF4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148" name="Freeform: Shape 147">
              <a:extLst>
                <a:ext uri="{FF2B5EF4-FFF2-40B4-BE49-F238E27FC236}">
                  <a16:creationId xmlns:a16="http://schemas.microsoft.com/office/drawing/2014/main" id="{26467CC2-3AB3-4D37-8323-385B7399F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49" name="Freeform: Shape 148">
              <a:extLst>
                <a:ext uri="{FF2B5EF4-FFF2-40B4-BE49-F238E27FC236}">
                  <a16:creationId xmlns:a16="http://schemas.microsoft.com/office/drawing/2014/main" id="{563A1F58-33CE-4EDF-B902-3F43F69DA2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0" name="Freeform: Shape 149">
              <a:extLst>
                <a:ext uri="{FF2B5EF4-FFF2-40B4-BE49-F238E27FC236}">
                  <a16:creationId xmlns:a16="http://schemas.microsoft.com/office/drawing/2014/main" id="{DDCFAB2F-7E88-4A57-999A-2506A1FE71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1" name="Freeform: Shape 150">
              <a:extLst>
                <a:ext uri="{FF2B5EF4-FFF2-40B4-BE49-F238E27FC236}">
                  <a16:creationId xmlns:a16="http://schemas.microsoft.com/office/drawing/2014/main" id="{571BEB66-3787-441F-BB54-80C05C6F130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2" name="Freeform: Shape 151">
              <a:extLst>
                <a:ext uri="{FF2B5EF4-FFF2-40B4-BE49-F238E27FC236}">
                  <a16:creationId xmlns:a16="http://schemas.microsoft.com/office/drawing/2014/main" id="{641DC095-611E-4979-8664-6C0EB878FC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53" name="Freeform: Shape 152">
              <a:extLst>
                <a:ext uri="{FF2B5EF4-FFF2-40B4-BE49-F238E27FC236}">
                  <a16:creationId xmlns:a16="http://schemas.microsoft.com/office/drawing/2014/main" id="{210B9ECF-D859-4919-A9D6-3208548F005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54" name="Freeform: Shape 153">
              <a:extLst>
                <a:ext uri="{FF2B5EF4-FFF2-40B4-BE49-F238E27FC236}">
                  <a16:creationId xmlns:a16="http://schemas.microsoft.com/office/drawing/2014/main" id="{4FBC31D4-7E98-452C-8A87-822DE0432C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5" name="Freeform: Shape 154">
              <a:extLst>
                <a:ext uri="{FF2B5EF4-FFF2-40B4-BE49-F238E27FC236}">
                  <a16:creationId xmlns:a16="http://schemas.microsoft.com/office/drawing/2014/main" id="{E302346C-F328-435B-87ED-447C6F8542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6" name="Freeform: Shape 155">
              <a:extLst>
                <a:ext uri="{FF2B5EF4-FFF2-40B4-BE49-F238E27FC236}">
                  <a16:creationId xmlns:a16="http://schemas.microsoft.com/office/drawing/2014/main" id="{B94F507E-9E94-432E-AE8A-A6CB2C5D05C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157" name="Freeform: Shape 156">
              <a:extLst>
                <a:ext uri="{FF2B5EF4-FFF2-40B4-BE49-F238E27FC236}">
                  <a16:creationId xmlns:a16="http://schemas.microsoft.com/office/drawing/2014/main" id="{1FFAC4F0-FD7F-4943-B60E-E276F8B23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58" name="Freeform: Shape 157">
              <a:extLst>
                <a:ext uri="{FF2B5EF4-FFF2-40B4-BE49-F238E27FC236}">
                  <a16:creationId xmlns:a16="http://schemas.microsoft.com/office/drawing/2014/main" id="{A8A5D871-92FD-43C3-BF94-0B524FA7D3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159" name="Freeform: Shape 158">
              <a:extLst>
                <a:ext uri="{FF2B5EF4-FFF2-40B4-BE49-F238E27FC236}">
                  <a16:creationId xmlns:a16="http://schemas.microsoft.com/office/drawing/2014/main" id="{6A79A241-1665-453E-ADD4-18892D4F856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60" name="Freeform: Shape 159">
              <a:extLst>
                <a:ext uri="{FF2B5EF4-FFF2-40B4-BE49-F238E27FC236}">
                  <a16:creationId xmlns:a16="http://schemas.microsoft.com/office/drawing/2014/main" id="{81EABE18-4189-4E07-93C9-9B76673E3E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1" name="Freeform: Shape 160">
              <a:extLst>
                <a:ext uri="{FF2B5EF4-FFF2-40B4-BE49-F238E27FC236}">
                  <a16:creationId xmlns:a16="http://schemas.microsoft.com/office/drawing/2014/main" id="{B658A0EE-6F09-4EF7-B5E7-F23A556BDA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2" name="Freeform: Shape 161">
              <a:extLst>
                <a:ext uri="{FF2B5EF4-FFF2-40B4-BE49-F238E27FC236}">
                  <a16:creationId xmlns:a16="http://schemas.microsoft.com/office/drawing/2014/main" id="{15EB019C-C95B-4DE3-BD17-DC20F8007A1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3" name="Freeform: Shape 162">
              <a:extLst>
                <a:ext uri="{FF2B5EF4-FFF2-40B4-BE49-F238E27FC236}">
                  <a16:creationId xmlns:a16="http://schemas.microsoft.com/office/drawing/2014/main" id="{2948B3ED-79C1-47C8-B712-0BFB5536C37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4" name="Freeform: Shape 163">
              <a:extLst>
                <a:ext uri="{FF2B5EF4-FFF2-40B4-BE49-F238E27FC236}">
                  <a16:creationId xmlns:a16="http://schemas.microsoft.com/office/drawing/2014/main" id="{13387DB9-900B-422D-90F7-C5C7EB5D59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65" name="Freeform: Shape 164">
              <a:extLst>
                <a:ext uri="{FF2B5EF4-FFF2-40B4-BE49-F238E27FC236}">
                  <a16:creationId xmlns:a16="http://schemas.microsoft.com/office/drawing/2014/main" id="{48FDCCF3-E6D6-4CD0-9D47-02FE785C7A0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166" name="Freeform: Shape 165">
              <a:extLst>
                <a:ext uri="{FF2B5EF4-FFF2-40B4-BE49-F238E27FC236}">
                  <a16:creationId xmlns:a16="http://schemas.microsoft.com/office/drawing/2014/main" id="{BC14E8F6-33F6-47CE-9A24-EA71D71496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7" name="Freeform: Shape 166">
              <a:extLst>
                <a:ext uri="{FF2B5EF4-FFF2-40B4-BE49-F238E27FC236}">
                  <a16:creationId xmlns:a16="http://schemas.microsoft.com/office/drawing/2014/main" id="{F78CC38F-63FC-4552-B17B-8D79D3C8F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68" name="Freeform: Shape 167">
              <a:extLst>
                <a:ext uri="{FF2B5EF4-FFF2-40B4-BE49-F238E27FC236}">
                  <a16:creationId xmlns:a16="http://schemas.microsoft.com/office/drawing/2014/main" id="{89042823-A002-49CE-B03D-ED1291DC13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69" name="Freeform: Shape 168">
              <a:extLst>
                <a:ext uri="{FF2B5EF4-FFF2-40B4-BE49-F238E27FC236}">
                  <a16:creationId xmlns:a16="http://schemas.microsoft.com/office/drawing/2014/main" id="{96EFC6CE-198B-489B-B1EE-72CE842628B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0" name="Freeform: Shape 169">
              <a:extLst>
                <a:ext uri="{FF2B5EF4-FFF2-40B4-BE49-F238E27FC236}">
                  <a16:creationId xmlns:a16="http://schemas.microsoft.com/office/drawing/2014/main" id="{49FEA23D-54D9-45D7-9325-1E2F638C9C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1" name="Freeform: Shape 170">
              <a:extLst>
                <a:ext uri="{FF2B5EF4-FFF2-40B4-BE49-F238E27FC236}">
                  <a16:creationId xmlns:a16="http://schemas.microsoft.com/office/drawing/2014/main" id="{2DB04EE3-370F-49CE-BCFE-C2999C3CF2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2" name="Freeform: Shape 171">
              <a:extLst>
                <a:ext uri="{FF2B5EF4-FFF2-40B4-BE49-F238E27FC236}">
                  <a16:creationId xmlns:a16="http://schemas.microsoft.com/office/drawing/2014/main" id="{8BCBCC34-797D-41A8-8AD1-7E03E1BBFF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3" name="Freeform: Shape 172">
              <a:extLst>
                <a:ext uri="{FF2B5EF4-FFF2-40B4-BE49-F238E27FC236}">
                  <a16:creationId xmlns:a16="http://schemas.microsoft.com/office/drawing/2014/main" id="{AFF5C1F8-0EDE-4835-89E6-1FCB2EA395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4" name="Freeform: Shape 173">
              <a:extLst>
                <a:ext uri="{FF2B5EF4-FFF2-40B4-BE49-F238E27FC236}">
                  <a16:creationId xmlns:a16="http://schemas.microsoft.com/office/drawing/2014/main" id="{6171D504-6300-457C-AFCC-064DBB3FCC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75" name="Freeform: Shape 174">
              <a:extLst>
                <a:ext uri="{FF2B5EF4-FFF2-40B4-BE49-F238E27FC236}">
                  <a16:creationId xmlns:a16="http://schemas.microsoft.com/office/drawing/2014/main" id="{62ACE739-C8C4-4495-B04C-C3AFC44811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6" name="Freeform: Shape 175">
              <a:extLst>
                <a:ext uri="{FF2B5EF4-FFF2-40B4-BE49-F238E27FC236}">
                  <a16:creationId xmlns:a16="http://schemas.microsoft.com/office/drawing/2014/main" id="{3F4771CD-CDCA-4FFE-8EF5-E42D1781E7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77" name="Freeform: Shape 176">
              <a:extLst>
                <a:ext uri="{FF2B5EF4-FFF2-40B4-BE49-F238E27FC236}">
                  <a16:creationId xmlns:a16="http://schemas.microsoft.com/office/drawing/2014/main" id="{A10C0BFE-A8F9-4E21-9DFD-37A4D26C62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8" name="Freeform: Shape 177">
              <a:extLst>
                <a:ext uri="{FF2B5EF4-FFF2-40B4-BE49-F238E27FC236}">
                  <a16:creationId xmlns:a16="http://schemas.microsoft.com/office/drawing/2014/main" id="{4D8D4EF9-4EF7-4538-A4AE-439F9335EA9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79" name="Freeform: Shape 178">
              <a:extLst>
                <a:ext uri="{FF2B5EF4-FFF2-40B4-BE49-F238E27FC236}">
                  <a16:creationId xmlns:a16="http://schemas.microsoft.com/office/drawing/2014/main" id="{7E0500AB-5662-43B9-95C2-2EC80CC54F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0" name="Freeform: Shape 179">
              <a:extLst>
                <a:ext uri="{FF2B5EF4-FFF2-40B4-BE49-F238E27FC236}">
                  <a16:creationId xmlns:a16="http://schemas.microsoft.com/office/drawing/2014/main" id="{984021AD-A6A2-4CDA-A953-72FBA7598B9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181" name="Freeform: Shape 180">
              <a:extLst>
                <a:ext uri="{FF2B5EF4-FFF2-40B4-BE49-F238E27FC236}">
                  <a16:creationId xmlns:a16="http://schemas.microsoft.com/office/drawing/2014/main" id="{FD1FBF47-CAC8-4385-9DC7-C9BB6167E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2" name="Freeform: Shape 181">
              <a:extLst>
                <a:ext uri="{FF2B5EF4-FFF2-40B4-BE49-F238E27FC236}">
                  <a16:creationId xmlns:a16="http://schemas.microsoft.com/office/drawing/2014/main" id="{FBAEE482-005F-4288-8D66-09EA246C45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183" name="Freeform: Shape 182">
              <a:extLst>
                <a:ext uri="{FF2B5EF4-FFF2-40B4-BE49-F238E27FC236}">
                  <a16:creationId xmlns:a16="http://schemas.microsoft.com/office/drawing/2014/main" id="{2C5DCF49-33DE-4AFF-818E-42F59F280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184" name="Freeform: Shape 183">
              <a:extLst>
                <a:ext uri="{FF2B5EF4-FFF2-40B4-BE49-F238E27FC236}">
                  <a16:creationId xmlns:a16="http://schemas.microsoft.com/office/drawing/2014/main" id="{866903F3-208B-46D5-925B-254DC742914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5" name="Freeform: Shape 184">
              <a:extLst>
                <a:ext uri="{FF2B5EF4-FFF2-40B4-BE49-F238E27FC236}">
                  <a16:creationId xmlns:a16="http://schemas.microsoft.com/office/drawing/2014/main" id="{2550D219-E342-4A38-BB89-575C1EE7A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6" name="Freeform: Shape 185">
              <a:extLst>
                <a:ext uri="{FF2B5EF4-FFF2-40B4-BE49-F238E27FC236}">
                  <a16:creationId xmlns:a16="http://schemas.microsoft.com/office/drawing/2014/main" id="{5B5485FC-95D0-4660-9594-2C9BD3B776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187" name="Freeform: Shape 186">
              <a:extLst>
                <a:ext uri="{FF2B5EF4-FFF2-40B4-BE49-F238E27FC236}">
                  <a16:creationId xmlns:a16="http://schemas.microsoft.com/office/drawing/2014/main" id="{2EA358DA-C7E8-4DF8-B7D6-CC58295655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188" name="Freeform: Shape 187">
              <a:extLst>
                <a:ext uri="{FF2B5EF4-FFF2-40B4-BE49-F238E27FC236}">
                  <a16:creationId xmlns:a16="http://schemas.microsoft.com/office/drawing/2014/main" id="{7990E8BB-4369-4845-8436-A6F3FE1D11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189" name="Freeform: Shape 188">
              <a:extLst>
                <a:ext uri="{FF2B5EF4-FFF2-40B4-BE49-F238E27FC236}">
                  <a16:creationId xmlns:a16="http://schemas.microsoft.com/office/drawing/2014/main" id="{D6C050C5-1951-434B-A7FE-D271E73F82A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grpSp>
        <p:nvGrpSpPr>
          <p:cNvPr id="191" name="Graphic 4">
            <a:extLst>
              <a:ext uri="{FF2B5EF4-FFF2-40B4-BE49-F238E27FC236}">
                <a16:creationId xmlns:a16="http://schemas.microsoft.com/office/drawing/2014/main" id="{773717CC-ECEE-4ABF-BA61-C59F468017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680915" y="4748271"/>
            <a:ext cx="1330536" cy="1330521"/>
            <a:chOff x="5734037" y="3067039"/>
            <a:chExt cx="724483" cy="724489"/>
          </a:xfrm>
          <a:solidFill>
            <a:schemeClr val="bg1">
              <a:alpha val="60000"/>
            </a:schemeClr>
          </a:solidFill>
        </p:grpSpPr>
        <p:sp>
          <p:nvSpPr>
            <p:cNvPr id="192" name="Freeform: Shape 191">
              <a:extLst>
                <a:ext uri="{FF2B5EF4-FFF2-40B4-BE49-F238E27FC236}">
                  <a16:creationId xmlns:a16="http://schemas.microsoft.com/office/drawing/2014/main" id="{9A4FAE41-62DF-4B8E-BD66-8EC206E0E34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067039"/>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193" name="Freeform: Shape 192">
              <a:extLst>
                <a:ext uri="{FF2B5EF4-FFF2-40B4-BE49-F238E27FC236}">
                  <a16:creationId xmlns:a16="http://schemas.microsoft.com/office/drawing/2014/main" id="{564C7F1F-5546-40DC-A16B-C9A3E45777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4" name="Freeform: Shape 193">
              <a:extLst>
                <a:ext uri="{FF2B5EF4-FFF2-40B4-BE49-F238E27FC236}">
                  <a16:creationId xmlns:a16="http://schemas.microsoft.com/office/drawing/2014/main" id="{45583216-FC24-4B75-9703-DBEC401FF89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5" name="Freeform: Shape 194">
              <a:extLst>
                <a:ext uri="{FF2B5EF4-FFF2-40B4-BE49-F238E27FC236}">
                  <a16:creationId xmlns:a16="http://schemas.microsoft.com/office/drawing/2014/main" id="{2FD0A70D-2E7E-4048-8145-0F45EDBBCE0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6" name="Freeform: Shape 195">
              <a:extLst>
                <a:ext uri="{FF2B5EF4-FFF2-40B4-BE49-F238E27FC236}">
                  <a16:creationId xmlns:a16="http://schemas.microsoft.com/office/drawing/2014/main" id="{B703C78E-D176-4455-B7B5-2DB4F418DB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7" name="Freeform: Shape 196">
              <a:extLst>
                <a:ext uri="{FF2B5EF4-FFF2-40B4-BE49-F238E27FC236}">
                  <a16:creationId xmlns:a16="http://schemas.microsoft.com/office/drawing/2014/main" id="{AD23B98E-D1FB-4BD9-BA4A-060BC8266E2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198" name="Freeform: Shape 197">
              <a:extLst>
                <a:ext uri="{FF2B5EF4-FFF2-40B4-BE49-F238E27FC236}">
                  <a16:creationId xmlns:a16="http://schemas.microsoft.com/office/drawing/2014/main" id="{C1541992-EEDB-4D6B-BDA9-B66E58A170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199" name="Freeform: Shape 198">
              <a:extLst>
                <a:ext uri="{FF2B5EF4-FFF2-40B4-BE49-F238E27FC236}">
                  <a16:creationId xmlns:a16="http://schemas.microsoft.com/office/drawing/2014/main" id="{08072B3B-B852-4186-ACFE-F614251324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26284"/>
              <a:ext cx="14192" cy="14097"/>
            </a:xfrm>
            <a:custGeom>
              <a:avLst/>
              <a:gdLst>
                <a:gd name="connsiteX0" fmla="*/ 14192 w 14192"/>
                <a:gd name="connsiteY0" fmla="*/ 7049 h 14097"/>
                <a:gd name="connsiteX1" fmla="*/ 7144 w 14192"/>
                <a:gd name="connsiteY1" fmla="*/ 14097 h 14097"/>
                <a:gd name="connsiteX2" fmla="*/ 0 w 14192"/>
                <a:gd name="connsiteY2" fmla="*/ 7049 h 14097"/>
                <a:gd name="connsiteX3" fmla="*/ 7049 w 14192"/>
                <a:gd name="connsiteY3" fmla="*/ 0 h 14097"/>
                <a:gd name="connsiteX4" fmla="*/ 14192 w 14192"/>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9"/>
                  </a:moveTo>
                  <a:cubicBezTo>
                    <a:pt x="14192" y="10954"/>
                    <a:pt x="11049" y="14097"/>
                    <a:pt x="7144" y="14097"/>
                  </a:cubicBezTo>
                  <a:cubicBezTo>
                    <a:pt x="3239" y="14097"/>
                    <a:pt x="0" y="10954"/>
                    <a:pt x="0" y="7049"/>
                  </a:cubicBezTo>
                  <a:cubicBezTo>
                    <a:pt x="0" y="3143"/>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00" name="Freeform: Shape 199">
              <a:extLst>
                <a:ext uri="{FF2B5EF4-FFF2-40B4-BE49-F238E27FC236}">
                  <a16:creationId xmlns:a16="http://schemas.microsoft.com/office/drawing/2014/main" id="{7B5DD2CA-BCBA-4F3E-B472-840067686A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2628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1" name="Freeform: Shape 200">
              <a:extLst>
                <a:ext uri="{FF2B5EF4-FFF2-40B4-BE49-F238E27FC236}">
                  <a16:creationId xmlns:a16="http://schemas.microsoft.com/office/drawing/2014/main" id="{C7335DFE-05E4-4D45-B035-1D85E7648E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2" name="Freeform: Shape 201">
              <a:extLst>
                <a:ext uri="{FF2B5EF4-FFF2-40B4-BE49-F238E27FC236}">
                  <a16:creationId xmlns:a16="http://schemas.microsoft.com/office/drawing/2014/main" id="{ADCF9375-A092-491A-960D-A4DBB376C3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3" name="Freeform: Shape 202">
              <a:extLst>
                <a:ext uri="{FF2B5EF4-FFF2-40B4-BE49-F238E27FC236}">
                  <a16:creationId xmlns:a16="http://schemas.microsoft.com/office/drawing/2014/main" id="{95341599-7E99-490F-9AF8-07EAE5C8DB5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4" name="Freeform: Shape 203">
              <a:extLst>
                <a:ext uri="{FF2B5EF4-FFF2-40B4-BE49-F238E27FC236}">
                  <a16:creationId xmlns:a16="http://schemas.microsoft.com/office/drawing/2014/main" id="{E1C55EB0-818A-46E6-8D53-55031002907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126284"/>
              <a:ext cx="14097" cy="14097"/>
            </a:xfrm>
            <a:custGeom>
              <a:avLst/>
              <a:gdLst>
                <a:gd name="connsiteX0" fmla="*/ 14097 w 14097"/>
                <a:gd name="connsiteY0" fmla="*/ 7049 h 14097"/>
                <a:gd name="connsiteX1" fmla="*/ 7048 w 14097"/>
                <a:gd name="connsiteY1" fmla="*/ 14097 h 14097"/>
                <a:gd name="connsiteX2" fmla="*/ 0 w 14097"/>
                <a:gd name="connsiteY2" fmla="*/ 7049 h 14097"/>
                <a:gd name="connsiteX3" fmla="*/ 7048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05" name="Freeform: Shape 204">
              <a:extLst>
                <a:ext uri="{FF2B5EF4-FFF2-40B4-BE49-F238E27FC236}">
                  <a16:creationId xmlns:a16="http://schemas.microsoft.com/office/drawing/2014/main" id="{319B036C-5BD8-4F3B-8935-96D50F410D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2628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06" name="Freeform: Shape 205">
              <a:extLst>
                <a:ext uri="{FF2B5EF4-FFF2-40B4-BE49-F238E27FC236}">
                  <a16:creationId xmlns:a16="http://schemas.microsoft.com/office/drawing/2014/main" id="{A8445880-106C-4DC8-A250-D132F0D6F34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18543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07" name="Freeform: Shape 206">
              <a:extLst>
                <a:ext uri="{FF2B5EF4-FFF2-40B4-BE49-F238E27FC236}">
                  <a16:creationId xmlns:a16="http://schemas.microsoft.com/office/drawing/2014/main" id="{952AA1DD-5DBE-43CD-9B85-63C7626929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08" name="Freeform: Shape 207">
              <a:extLst>
                <a:ext uri="{FF2B5EF4-FFF2-40B4-BE49-F238E27FC236}">
                  <a16:creationId xmlns:a16="http://schemas.microsoft.com/office/drawing/2014/main" id="{2A412466-ED73-4944-83CE-224B1769C2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09" name="Freeform: Shape 208">
              <a:extLst>
                <a:ext uri="{FF2B5EF4-FFF2-40B4-BE49-F238E27FC236}">
                  <a16:creationId xmlns:a16="http://schemas.microsoft.com/office/drawing/2014/main" id="{807E195A-10DB-494C-A547-E1D0C6F616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0" name="Freeform: Shape 209">
              <a:extLst>
                <a:ext uri="{FF2B5EF4-FFF2-40B4-BE49-F238E27FC236}">
                  <a16:creationId xmlns:a16="http://schemas.microsoft.com/office/drawing/2014/main" id="{4CD4AECE-734D-4B90-984F-B2ABFA2B6F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1" name="Freeform: Shape 210">
              <a:extLst>
                <a:ext uri="{FF2B5EF4-FFF2-40B4-BE49-F238E27FC236}">
                  <a16:creationId xmlns:a16="http://schemas.microsoft.com/office/drawing/2014/main" id="{2927072E-8001-4AD1-A4C4-2EDBA3BF87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18543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12" name="Freeform: Shape 211">
              <a:extLst>
                <a:ext uri="{FF2B5EF4-FFF2-40B4-BE49-F238E27FC236}">
                  <a16:creationId xmlns:a16="http://schemas.microsoft.com/office/drawing/2014/main" id="{499D6F50-E593-46A3-81D8-73389276B2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18543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3" name="Freeform: Shape 212">
              <a:extLst>
                <a:ext uri="{FF2B5EF4-FFF2-40B4-BE49-F238E27FC236}">
                  <a16:creationId xmlns:a16="http://schemas.microsoft.com/office/drawing/2014/main" id="{7A96E600-84B4-452B-AE40-295FC5807E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24467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14" name="Freeform: Shape 213">
              <a:extLst>
                <a:ext uri="{FF2B5EF4-FFF2-40B4-BE49-F238E27FC236}">
                  <a16:creationId xmlns:a16="http://schemas.microsoft.com/office/drawing/2014/main" id="{CBBA17AC-C1AB-4BFC-A051-457275D1D6A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244677"/>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5" name="Freeform: Shape 214">
              <a:extLst>
                <a:ext uri="{FF2B5EF4-FFF2-40B4-BE49-F238E27FC236}">
                  <a16:creationId xmlns:a16="http://schemas.microsoft.com/office/drawing/2014/main" id="{488E850C-90D5-4D0F-A57D-7809327EF3A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6" name="Freeform: Shape 215">
              <a:extLst>
                <a:ext uri="{FF2B5EF4-FFF2-40B4-BE49-F238E27FC236}">
                  <a16:creationId xmlns:a16="http://schemas.microsoft.com/office/drawing/2014/main" id="{9F98D808-AB13-4D8D-B4C5-9D3215346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7" name="Freeform: Shape 216">
              <a:extLst>
                <a:ext uri="{FF2B5EF4-FFF2-40B4-BE49-F238E27FC236}">
                  <a16:creationId xmlns:a16="http://schemas.microsoft.com/office/drawing/2014/main" id="{95AFFBC0-FF37-4117-86FA-21ABDA17AB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18" name="Freeform: Shape 217">
              <a:extLst>
                <a:ext uri="{FF2B5EF4-FFF2-40B4-BE49-F238E27FC236}">
                  <a16:creationId xmlns:a16="http://schemas.microsoft.com/office/drawing/2014/main" id="{ED0AC42A-17B0-4154-968C-CAE2A04C28B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24467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19" name="Freeform: Shape 218">
              <a:extLst>
                <a:ext uri="{FF2B5EF4-FFF2-40B4-BE49-F238E27FC236}">
                  <a16:creationId xmlns:a16="http://schemas.microsoft.com/office/drawing/2014/main" id="{4A7A31A0-8490-4B9D-B9CC-7FF28053EB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244677"/>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0" name="Freeform: Shape 219">
              <a:extLst>
                <a:ext uri="{FF2B5EF4-FFF2-40B4-BE49-F238E27FC236}">
                  <a16:creationId xmlns:a16="http://schemas.microsoft.com/office/drawing/2014/main" id="{8188899C-6A74-43D8-B36C-F86B278C89C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03829"/>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1" name="Freeform: Shape 220">
              <a:extLst>
                <a:ext uri="{FF2B5EF4-FFF2-40B4-BE49-F238E27FC236}">
                  <a16:creationId xmlns:a16="http://schemas.microsoft.com/office/drawing/2014/main" id="{1537EAA6-95B6-4674-A7B9-40F9AB7F59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2" name="Freeform: Shape 221">
              <a:extLst>
                <a:ext uri="{FF2B5EF4-FFF2-40B4-BE49-F238E27FC236}">
                  <a16:creationId xmlns:a16="http://schemas.microsoft.com/office/drawing/2014/main" id="{F4B29507-C08F-4764-B703-0EB33A0FAC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3" name="Freeform: Shape 222">
              <a:extLst>
                <a:ext uri="{FF2B5EF4-FFF2-40B4-BE49-F238E27FC236}">
                  <a16:creationId xmlns:a16="http://schemas.microsoft.com/office/drawing/2014/main" id="{4200E500-6A99-47FC-A30F-FA4C85DA8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4" name="Freeform: Shape 223">
              <a:extLst>
                <a:ext uri="{FF2B5EF4-FFF2-40B4-BE49-F238E27FC236}">
                  <a16:creationId xmlns:a16="http://schemas.microsoft.com/office/drawing/2014/main" id="{9558677C-76AD-451F-AEEE-C5FEE4179C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5" name="Freeform: Shape 224">
              <a:extLst>
                <a:ext uri="{FF2B5EF4-FFF2-40B4-BE49-F238E27FC236}">
                  <a16:creationId xmlns:a16="http://schemas.microsoft.com/office/drawing/2014/main" id="{79E472E5-A81A-44E7-AEBA-C3A593497B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03829"/>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6" name="Freeform: Shape 225">
              <a:extLst>
                <a:ext uri="{FF2B5EF4-FFF2-40B4-BE49-F238E27FC236}">
                  <a16:creationId xmlns:a16="http://schemas.microsoft.com/office/drawing/2014/main" id="{5CD54F54-9E41-4635-A533-6CC6515E13E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27" name="Freeform: Shape 226">
              <a:extLst>
                <a:ext uri="{FF2B5EF4-FFF2-40B4-BE49-F238E27FC236}">
                  <a16:creationId xmlns:a16="http://schemas.microsoft.com/office/drawing/2014/main" id="{B22D6F46-74C0-49D9-8CD8-BC125E973D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363074"/>
              <a:ext cx="14192" cy="14097"/>
            </a:xfrm>
            <a:custGeom>
              <a:avLst/>
              <a:gdLst>
                <a:gd name="connsiteX0" fmla="*/ 14192 w 14192"/>
                <a:gd name="connsiteY0" fmla="*/ 7048 h 14097"/>
                <a:gd name="connsiteX1" fmla="*/ 7144 w 14192"/>
                <a:gd name="connsiteY1" fmla="*/ 14097 h 14097"/>
                <a:gd name="connsiteX2" fmla="*/ 0 w 14192"/>
                <a:gd name="connsiteY2" fmla="*/ 7048 h 14097"/>
                <a:gd name="connsiteX3" fmla="*/ 7049 w 14192"/>
                <a:gd name="connsiteY3" fmla="*/ 0 h 14097"/>
                <a:gd name="connsiteX4" fmla="*/ 14192 w 14192"/>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7">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28" name="Freeform: Shape 227">
              <a:extLst>
                <a:ext uri="{FF2B5EF4-FFF2-40B4-BE49-F238E27FC236}">
                  <a16:creationId xmlns:a16="http://schemas.microsoft.com/office/drawing/2014/main" id="{C6FAA6EC-EDF6-4522-ACD8-8D4F7FF872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29" name="Freeform: Shape 228">
              <a:extLst>
                <a:ext uri="{FF2B5EF4-FFF2-40B4-BE49-F238E27FC236}">
                  <a16:creationId xmlns:a16="http://schemas.microsoft.com/office/drawing/2014/main" id="{5F8364DC-ED1A-482D-A418-7941B199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0" name="Freeform: Shape 229">
              <a:extLst>
                <a:ext uri="{FF2B5EF4-FFF2-40B4-BE49-F238E27FC236}">
                  <a16:creationId xmlns:a16="http://schemas.microsoft.com/office/drawing/2014/main" id="{1896D361-70A8-4528-940B-F306550F88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1" name="Freeform: Shape 230">
              <a:extLst>
                <a:ext uri="{FF2B5EF4-FFF2-40B4-BE49-F238E27FC236}">
                  <a16:creationId xmlns:a16="http://schemas.microsoft.com/office/drawing/2014/main" id="{4D1CB00A-0CE1-4E25-ADCE-9562845F548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2" name="Freeform: Shape 231">
              <a:extLst>
                <a:ext uri="{FF2B5EF4-FFF2-40B4-BE49-F238E27FC236}">
                  <a16:creationId xmlns:a16="http://schemas.microsoft.com/office/drawing/2014/main" id="{E1B6761E-B7C6-4218-B95F-F6DEC0066D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363074"/>
              <a:ext cx="14097" cy="14097"/>
            </a:xfrm>
            <a:custGeom>
              <a:avLst/>
              <a:gdLst>
                <a:gd name="connsiteX0" fmla="*/ 14097 w 14097"/>
                <a:gd name="connsiteY0" fmla="*/ 7048 h 14097"/>
                <a:gd name="connsiteX1" fmla="*/ 7048 w 14097"/>
                <a:gd name="connsiteY1" fmla="*/ 14097 h 14097"/>
                <a:gd name="connsiteX2" fmla="*/ 0 w 14097"/>
                <a:gd name="connsiteY2" fmla="*/ 7048 h 14097"/>
                <a:gd name="connsiteX3" fmla="*/ 7048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3" name="Freeform: Shape 232">
              <a:extLst>
                <a:ext uri="{FF2B5EF4-FFF2-40B4-BE49-F238E27FC236}">
                  <a16:creationId xmlns:a16="http://schemas.microsoft.com/office/drawing/2014/main" id="{CA081177-DAC3-4667-91A1-4CC885D4A16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34" name="Freeform: Shape 233">
              <a:extLst>
                <a:ext uri="{FF2B5EF4-FFF2-40B4-BE49-F238E27FC236}">
                  <a16:creationId xmlns:a16="http://schemas.microsoft.com/office/drawing/2014/main" id="{435007DC-BB8D-43BA-9598-AE79AA262E1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2222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35" name="Freeform: Shape 234">
              <a:extLst>
                <a:ext uri="{FF2B5EF4-FFF2-40B4-BE49-F238E27FC236}">
                  <a16:creationId xmlns:a16="http://schemas.microsoft.com/office/drawing/2014/main" id="{46628B8A-02EC-44EF-B52C-5EBAFBCF9C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6" name="Freeform: Shape 235">
              <a:extLst>
                <a:ext uri="{FF2B5EF4-FFF2-40B4-BE49-F238E27FC236}">
                  <a16:creationId xmlns:a16="http://schemas.microsoft.com/office/drawing/2014/main" id="{2DACEC99-8F4C-495C-8EAA-670A3A02ED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7" name="Freeform: Shape 236">
              <a:extLst>
                <a:ext uri="{FF2B5EF4-FFF2-40B4-BE49-F238E27FC236}">
                  <a16:creationId xmlns:a16="http://schemas.microsoft.com/office/drawing/2014/main" id="{C8EFEAD4-1425-4357-9D8A-F326DABC6EC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8" name="Freeform: Shape 237">
              <a:extLst>
                <a:ext uri="{FF2B5EF4-FFF2-40B4-BE49-F238E27FC236}">
                  <a16:creationId xmlns:a16="http://schemas.microsoft.com/office/drawing/2014/main" id="{FDA70E94-A082-47D4-B4F8-142AEF1DC3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39" name="Freeform: Shape 238">
              <a:extLst>
                <a:ext uri="{FF2B5EF4-FFF2-40B4-BE49-F238E27FC236}">
                  <a16:creationId xmlns:a16="http://schemas.microsoft.com/office/drawing/2014/main" id="{10E96E8A-1EEA-4F1D-8CFE-12DC9B9E7A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42222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0" name="Freeform: Shape 239">
              <a:extLst>
                <a:ext uri="{FF2B5EF4-FFF2-40B4-BE49-F238E27FC236}">
                  <a16:creationId xmlns:a16="http://schemas.microsoft.com/office/drawing/2014/main" id="{B12D7CC4-A548-4FF7-A6B2-9151CFA9E3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41" name="Freeform: Shape 240">
              <a:extLst>
                <a:ext uri="{FF2B5EF4-FFF2-40B4-BE49-F238E27FC236}">
                  <a16:creationId xmlns:a16="http://schemas.microsoft.com/office/drawing/2014/main" id="{CB3F1C68-B597-4669-87F8-C80124ABE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067039"/>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6953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54"/>
                    <a:pt x="10954" y="14097"/>
                    <a:pt x="7049" y="14097"/>
                  </a:cubicBezTo>
                  <a:cubicBezTo>
                    <a:pt x="3143" y="14097"/>
                    <a:pt x="0" y="10954"/>
                    <a:pt x="0" y="7049"/>
                  </a:cubicBezTo>
                  <a:cubicBezTo>
                    <a:pt x="0" y="3143"/>
                    <a:pt x="3048" y="0"/>
                    <a:pt x="6953"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2" name="Freeform: Shape 241">
              <a:extLst>
                <a:ext uri="{FF2B5EF4-FFF2-40B4-BE49-F238E27FC236}">
                  <a16:creationId xmlns:a16="http://schemas.microsoft.com/office/drawing/2014/main" id="{A57037D2-0958-4F34-815F-C8CA7F86AE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3" name="Freeform: Shape 242">
              <a:extLst>
                <a:ext uri="{FF2B5EF4-FFF2-40B4-BE49-F238E27FC236}">
                  <a16:creationId xmlns:a16="http://schemas.microsoft.com/office/drawing/2014/main" id="{30AF3969-3F11-4157-B4B9-33B1314623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067039"/>
              <a:ext cx="14096" cy="14097"/>
            </a:xfrm>
            <a:custGeom>
              <a:avLst/>
              <a:gdLst>
                <a:gd name="connsiteX0" fmla="*/ 14097 w 14096"/>
                <a:gd name="connsiteY0" fmla="*/ 7049 h 14097"/>
                <a:gd name="connsiteX1" fmla="*/ 7049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9" y="14097"/>
                  </a:cubicBezTo>
                  <a:cubicBezTo>
                    <a:pt x="3143" y="14097"/>
                    <a:pt x="0" y="10954"/>
                    <a:pt x="0" y="7049"/>
                  </a:cubicBezTo>
                  <a:cubicBezTo>
                    <a:pt x="0" y="3143"/>
                    <a:pt x="3048" y="0"/>
                    <a:pt x="6953"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244" name="Freeform: Shape 243">
              <a:extLst>
                <a:ext uri="{FF2B5EF4-FFF2-40B4-BE49-F238E27FC236}">
                  <a16:creationId xmlns:a16="http://schemas.microsoft.com/office/drawing/2014/main" id="{51D613E3-18F5-4426-ADEB-DEC123E16B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45" name="Freeform: Shape 244">
              <a:extLst>
                <a:ext uri="{FF2B5EF4-FFF2-40B4-BE49-F238E27FC236}">
                  <a16:creationId xmlns:a16="http://schemas.microsoft.com/office/drawing/2014/main" id="{1DC25548-A3A9-4018-A29B-6972D353F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6953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048" y="0"/>
                    <a:pt x="6953"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246" name="Freeform: Shape 245">
              <a:extLst>
                <a:ext uri="{FF2B5EF4-FFF2-40B4-BE49-F238E27FC236}">
                  <a16:creationId xmlns:a16="http://schemas.microsoft.com/office/drawing/2014/main" id="{7EDE6372-94D2-435D-BD43-A20072D807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067039"/>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47" name="Freeform: Shape 246">
              <a:extLst>
                <a:ext uri="{FF2B5EF4-FFF2-40B4-BE49-F238E27FC236}">
                  <a16:creationId xmlns:a16="http://schemas.microsoft.com/office/drawing/2014/main" id="{729575A6-77E2-4199-8F0A-27C89330A0C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26281"/>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8" name="Freeform: Shape 247">
              <a:extLst>
                <a:ext uri="{FF2B5EF4-FFF2-40B4-BE49-F238E27FC236}">
                  <a16:creationId xmlns:a16="http://schemas.microsoft.com/office/drawing/2014/main" id="{12EB506D-59AD-4011-80F8-36A2BDB954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49" name="Freeform: Shape 248">
              <a:extLst>
                <a:ext uri="{FF2B5EF4-FFF2-40B4-BE49-F238E27FC236}">
                  <a16:creationId xmlns:a16="http://schemas.microsoft.com/office/drawing/2014/main" id="{92FD46FA-14EB-46A2-B4A3-ECD1F49BAC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26281"/>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50" name="Freeform: Shape 249">
              <a:extLst>
                <a:ext uri="{FF2B5EF4-FFF2-40B4-BE49-F238E27FC236}">
                  <a16:creationId xmlns:a16="http://schemas.microsoft.com/office/drawing/2014/main" id="{1CD84E07-49A9-40E3-B34C-91C156C9C60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51" name="Freeform: Shape 250">
              <a:extLst>
                <a:ext uri="{FF2B5EF4-FFF2-40B4-BE49-F238E27FC236}">
                  <a16:creationId xmlns:a16="http://schemas.microsoft.com/office/drawing/2014/main" id="{F3090306-C384-44A0-8C38-77397133BA0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26281"/>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52" name="Freeform: Shape 251">
              <a:extLst>
                <a:ext uri="{FF2B5EF4-FFF2-40B4-BE49-F238E27FC236}">
                  <a16:creationId xmlns:a16="http://schemas.microsoft.com/office/drawing/2014/main" id="{3515E97E-31A4-4273-AB55-8EAD74CB9E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2628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53" name="Freeform: Shape 252">
              <a:extLst>
                <a:ext uri="{FF2B5EF4-FFF2-40B4-BE49-F238E27FC236}">
                  <a16:creationId xmlns:a16="http://schemas.microsoft.com/office/drawing/2014/main" id="{792F63CA-0494-43E2-A0AA-37C35C83260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185433"/>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4" name="Freeform: Shape 253">
              <a:extLst>
                <a:ext uri="{FF2B5EF4-FFF2-40B4-BE49-F238E27FC236}">
                  <a16:creationId xmlns:a16="http://schemas.microsoft.com/office/drawing/2014/main" id="{5389A040-E4CC-4CE7-8B9F-40ECA9ACE1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5" name="Freeform: Shape 254">
              <a:extLst>
                <a:ext uri="{FF2B5EF4-FFF2-40B4-BE49-F238E27FC236}">
                  <a16:creationId xmlns:a16="http://schemas.microsoft.com/office/drawing/2014/main" id="{1BA51B23-705C-49BE-B606-8A9B623E0A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185433"/>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56" name="Freeform: Shape 255">
              <a:extLst>
                <a:ext uri="{FF2B5EF4-FFF2-40B4-BE49-F238E27FC236}">
                  <a16:creationId xmlns:a16="http://schemas.microsoft.com/office/drawing/2014/main" id="{B16EF17A-F451-4B5B-9052-33A9116E9D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57" name="Freeform: Shape 256">
              <a:extLst>
                <a:ext uri="{FF2B5EF4-FFF2-40B4-BE49-F238E27FC236}">
                  <a16:creationId xmlns:a16="http://schemas.microsoft.com/office/drawing/2014/main" id="{1B20B7D1-27D7-4E1A-A317-E9E7A105A94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18543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58" name="Freeform: Shape 257">
              <a:extLst>
                <a:ext uri="{FF2B5EF4-FFF2-40B4-BE49-F238E27FC236}">
                  <a16:creationId xmlns:a16="http://schemas.microsoft.com/office/drawing/2014/main" id="{1E3FADAF-FD1D-45B2-A40D-EBDD536E756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185432"/>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59" name="Freeform: Shape 258">
              <a:extLst>
                <a:ext uri="{FF2B5EF4-FFF2-40B4-BE49-F238E27FC236}">
                  <a16:creationId xmlns:a16="http://schemas.microsoft.com/office/drawing/2014/main" id="{301257BA-BCE2-4479-A04F-A9DBFAF928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244676"/>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0" name="Freeform: Shape 259">
              <a:extLst>
                <a:ext uri="{FF2B5EF4-FFF2-40B4-BE49-F238E27FC236}">
                  <a16:creationId xmlns:a16="http://schemas.microsoft.com/office/drawing/2014/main" id="{619D0ABC-04D9-405A-A52F-5EEC01762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1" name="Freeform: Shape 260">
              <a:extLst>
                <a:ext uri="{FF2B5EF4-FFF2-40B4-BE49-F238E27FC236}">
                  <a16:creationId xmlns:a16="http://schemas.microsoft.com/office/drawing/2014/main" id="{123AE5C7-608A-47A7-B7A1-55662B70BF3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244676"/>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62" name="Freeform: Shape 261">
              <a:extLst>
                <a:ext uri="{FF2B5EF4-FFF2-40B4-BE49-F238E27FC236}">
                  <a16:creationId xmlns:a16="http://schemas.microsoft.com/office/drawing/2014/main" id="{957BDA1A-3081-45EB-A31E-3F98EC6DC30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63" name="Freeform: Shape 262">
              <a:extLst>
                <a:ext uri="{FF2B5EF4-FFF2-40B4-BE49-F238E27FC236}">
                  <a16:creationId xmlns:a16="http://schemas.microsoft.com/office/drawing/2014/main" id="{683DDA50-C794-4DC5-8297-CFDEB8DCB4A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244676"/>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64" name="Freeform: Shape 263">
              <a:extLst>
                <a:ext uri="{FF2B5EF4-FFF2-40B4-BE49-F238E27FC236}">
                  <a16:creationId xmlns:a16="http://schemas.microsoft.com/office/drawing/2014/main" id="{FA42024A-A832-4635-9CE6-B968232CE8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24467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5" name="Freeform: Shape 264">
              <a:extLst>
                <a:ext uri="{FF2B5EF4-FFF2-40B4-BE49-F238E27FC236}">
                  <a16:creationId xmlns:a16="http://schemas.microsoft.com/office/drawing/2014/main" id="{564D00AA-3E68-4F56-80A0-08D5DFFB61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03829"/>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6" name="Freeform: Shape 265">
              <a:extLst>
                <a:ext uri="{FF2B5EF4-FFF2-40B4-BE49-F238E27FC236}">
                  <a16:creationId xmlns:a16="http://schemas.microsoft.com/office/drawing/2014/main" id="{D988A711-E3E8-4172-AFE1-60E93FF10AF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7" name="Freeform: Shape 266">
              <a:extLst>
                <a:ext uri="{FF2B5EF4-FFF2-40B4-BE49-F238E27FC236}">
                  <a16:creationId xmlns:a16="http://schemas.microsoft.com/office/drawing/2014/main" id="{7A89FF34-EE34-461C-A3EF-73AC3801B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03829"/>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68" name="Freeform: Shape 267">
              <a:extLst>
                <a:ext uri="{FF2B5EF4-FFF2-40B4-BE49-F238E27FC236}">
                  <a16:creationId xmlns:a16="http://schemas.microsoft.com/office/drawing/2014/main" id="{80D55E43-BE59-444D-B32B-9C0306A126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69" name="Freeform: Shape 268">
              <a:extLst>
                <a:ext uri="{FF2B5EF4-FFF2-40B4-BE49-F238E27FC236}">
                  <a16:creationId xmlns:a16="http://schemas.microsoft.com/office/drawing/2014/main" id="{639C823F-B16B-4DF7-BA6E-0D832AAB27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70" name="Freeform: Shape 269">
              <a:extLst>
                <a:ext uri="{FF2B5EF4-FFF2-40B4-BE49-F238E27FC236}">
                  <a16:creationId xmlns:a16="http://schemas.microsoft.com/office/drawing/2014/main" id="{2E623C08-172F-41EA-90CB-59ED0D583B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03829"/>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1" name="Freeform: Shape 270">
              <a:extLst>
                <a:ext uri="{FF2B5EF4-FFF2-40B4-BE49-F238E27FC236}">
                  <a16:creationId xmlns:a16="http://schemas.microsoft.com/office/drawing/2014/main" id="{94C0577F-0FF9-47D5-8C6D-FC7B4CC3183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363072"/>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2" name="Freeform: Shape 271">
              <a:extLst>
                <a:ext uri="{FF2B5EF4-FFF2-40B4-BE49-F238E27FC236}">
                  <a16:creationId xmlns:a16="http://schemas.microsoft.com/office/drawing/2014/main" id="{30C80E9D-7909-4C52-ACAD-80FF874F993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3" name="Freeform: Shape 272">
              <a:extLst>
                <a:ext uri="{FF2B5EF4-FFF2-40B4-BE49-F238E27FC236}">
                  <a16:creationId xmlns:a16="http://schemas.microsoft.com/office/drawing/2014/main" id="{2B9598CE-4E74-4A54-BAB8-59379D21146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363072"/>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274" name="Freeform: Shape 273">
              <a:extLst>
                <a:ext uri="{FF2B5EF4-FFF2-40B4-BE49-F238E27FC236}">
                  <a16:creationId xmlns:a16="http://schemas.microsoft.com/office/drawing/2014/main" id="{E7188EAA-47E1-4B73-8682-C74A0421BE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275" name="Freeform: Shape 274">
              <a:extLst>
                <a:ext uri="{FF2B5EF4-FFF2-40B4-BE49-F238E27FC236}">
                  <a16:creationId xmlns:a16="http://schemas.microsoft.com/office/drawing/2014/main" id="{36900E8B-61F2-411F-B29F-A9CDC6E811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363072"/>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276" name="Freeform: Shape 275">
              <a:extLst>
                <a:ext uri="{FF2B5EF4-FFF2-40B4-BE49-F238E27FC236}">
                  <a16:creationId xmlns:a16="http://schemas.microsoft.com/office/drawing/2014/main" id="{0A25598A-334A-487D-9604-4753EAE81E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363074"/>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7" name="Freeform: Shape 276">
              <a:extLst>
                <a:ext uri="{FF2B5EF4-FFF2-40B4-BE49-F238E27FC236}">
                  <a16:creationId xmlns:a16="http://schemas.microsoft.com/office/drawing/2014/main" id="{C8DBE472-045A-491C-AB7C-4153EE2B00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69" y="342222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8" name="Freeform: Shape 277">
              <a:extLst>
                <a:ext uri="{FF2B5EF4-FFF2-40B4-BE49-F238E27FC236}">
                  <a16:creationId xmlns:a16="http://schemas.microsoft.com/office/drawing/2014/main" id="{2F6DD374-5D5F-48BB-8135-8F37EE2C2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79" name="Freeform: Shape 278">
              <a:extLst>
                <a:ext uri="{FF2B5EF4-FFF2-40B4-BE49-F238E27FC236}">
                  <a16:creationId xmlns:a16="http://schemas.microsoft.com/office/drawing/2014/main" id="{386B8A5A-00D0-4291-937B-931B3F19CD4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5" y="3422225"/>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280" name="Freeform: Shape 279">
              <a:extLst>
                <a:ext uri="{FF2B5EF4-FFF2-40B4-BE49-F238E27FC236}">
                  <a16:creationId xmlns:a16="http://schemas.microsoft.com/office/drawing/2014/main" id="{89C10BFA-8067-495D-810E-1F4085F7B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14"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1" name="Freeform: Shape 280">
              <a:extLst>
                <a:ext uri="{FF2B5EF4-FFF2-40B4-BE49-F238E27FC236}">
                  <a16:creationId xmlns:a16="http://schemas.microsoft.com/office/drawing/2014/main" id="{51F94E69-8294-4AB3-A457-3BD4ACF085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0" y="342222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282" name="Freeform: Shape 281">
              <a:extLst>
                <a:ext uri="{FF2B5EF4-FFF2-40B4-BE49-F238E27FC236}">
                  <a16:creationId xmlns:a16="http://schemas.microsoft.com/office/drawing/2014/main" id="{AD2859C5-45C5-4EE2-8272-0FA7A0235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0" y="34222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83" name="Freeform: Shape 282">
              <a:extLst>
                <a:ext uri="{FF2B5EF4-FFF2-40B4-BE49-F238E27FC236}">
                  <a16:creationId xmlns:a16="http://schemas.microsoft.com/office/drawing/2014/main" id="{14AFB321-1B9D-41AF-9686-8C689A3F4B1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481374"/>
              <a:ext cx="14192" cy="14096"/>
            </a:xfrm>
            <a:custGeom>
              <a:avLst/>
              <a:gdLst>
                <a:gd name="connsiteX0" fmla="*/ 14192 w 14192"/>
                <a:gd name="connsiteY0" fmla="*/ 7049 h 14096"/>
                <a:gd name="connsiteX1" fmla="*/ 7144 w 14192"/>
                <a:gd name="connsiteY1" fmla="*/ 14097 h 14096"/>
                <a:gd name="connsiteX2" fmla="*/ 0 w 14192"/>
                <a:gd name="connsiteY2" fmla="*/ 7049 h 14096"/>
                <a:gd name="connsiteX3" fmla="*/ 7049 w 14192"/>
                <a:gd name="connsiteY3" fmla="*/ 0 h 14096"/>
                <a:gd name="connsiteX4" fmla="*/ 14192 w 14192"/>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9"/>
                  </a:moveTo>
                  <a:cubicBezTo>
                    <a:pt x="14192" y="10954"/>
                    <a:pt x="11049" y="14097"/>
                    <a:pt x="7144" y="14097"/>
                  </a:cubicBezTo>
                  <a:cubicBezTo>
                    <a:pt x="3239" y="14097"/>
                    <a:pt x="0" y="11049"/>
                    <a:pt x="0" y="7049"/>
                  </a:cubicBezTo>
                  <a:cubicBezTo>
                    <a:pt x="0" y="3048"/>
                    <a:pt x="3143" y="0"/>
                    <a:pt x="7049" y="0"/>
                  </a:cubicBezTo>
                  <a:cubicBezTo>
                    <a:pt x="10954" y="0"/>
                    <a:pt x="14192" y="3143"/>
                    <a:pt x="14192" y="7049"/>
                  </a:cubicBezTo>
                  <a:close/>
                </a:path>
              </a:pathLst>
            </a:custGeom>
            <a:grpFill/>
            <a:ln w="9525" cap="flat">
              <a:noFill/>
              <a:prstDash val="solid"/>
              <a:miter/>
            </a:ln>
          </p:spPr>
          <p:txBody>
            <a:bodyPr rtlCol="0" anchor="ctr"/>
            <a:lstStyle/>
            <a:p>
              <a:endParaRPr lang="en-US"/>
            </a:p>
          </p:txBody>
        </p:sp>
        <p:sp>
          <p:nvSpPr>
            <p:cNvPr id="284" name="Freeform: Shape 283">
              <a:extLst>
                <a:ext uri="{FF2B5EF4-FFF2-40B4-BE49-F238E27FC236}">
                  <a16:creationId xmlns:a16="http://schemas.microsoft.com/office/drawing/2014/main" id="{5C4403F4-D893-4E4C-8DFE-E79AE6A62A6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5" name="Freeform: Shape 284">
              <a:extLst>
                <a:ext uri="{FF2B5EF4-FFF2-40B4-BE49-F238E27FC236}">
                  <a16:creationId xmlns:a16="http://schemas.microsoft.com/office/drawing/2014/main" id="{BA894316-677B-4B51-AF19-0D3FAF96A7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6" name="Freeform: Shape 285">
              <a:extLst>
                <a:ext uri="{FF2B5EF4-FFF2-40B4-BE49-F238E27FC236}">
                  <a16:creationId xmlns:a16="http://schemas.microsoft.com/office/drawing/2014/main" id="{07FDE9AD-8F5A-44B0-AC7E-30148150D05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7" name="Freeform: Shape 286">
              <a:extLst>
                <a:ext uri="{FF2B5EF4-FFF2-40B4-BE49-F238E27FC236}">
                  <a16:creationId xmlns:a16="http://schemas.microsoft.com/office/drawing/2014/main" id="{A4D0E6BA-489D-4EA4-994E-225F7D078B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88" name="Freeform: Shape 287">
              <a:extLst>
                <a:ext uri="{FF2B5EF4-FFF2-40B4-BE49-F238E27FC236}">
                  <a16:creationId xmlns:a16="http://schemas.microsoft.com/office/drawing/2014/main" id="{7EDFBCCB-EC92-4860-BBDB-2EC6355FEE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481374"/>
              <a:ext cx="14097" cy="14097"/>
            </a:xfrm>
            <a:custGeom>
              <a:avLst/>
              <a:gdLst>
                <a:gd name="connsiteX0" fmla="*/ 14097 w 14097"/>
                <a:gd name="connsiteY0" fmla="*/ 7049 h 14097"/>
                <a:gd name="connsiteX1" fmla="*/ 7049 w 14097"/>
                <a:gd name="connsiteY1" fmla="*/ 14097 h 14097"/>
                <a:gd name="connsiteX2" fmla="*/ 0 w 14097"/>
                <a:gd name="connsiteY2" fmla="*/ 7049 h 14097"/>
                <a:gd name="connsiteX3" fmla="*/ 7049 w 14097"/>
                <a:gd name="connsiteY3" fmla="*/ 0 h 14097"/>
                <a:gd name="connsiteX4" fmla="*/ 14097 w 14097"/>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9"/>
                  </a:moveTo>
                  <a:cubicBezTo>
                    <a:pt x="14097" y="10941"/>
                    <a:pt x="10941" y="14097"/>
                    <a:pt x="7049" y="14097"/>
                  </a:cubicBezTo>
                  <a:cubicBezTo>
                    <a:pt x="3156" y="14097"/>
                    <a:pt x="0" y="10941"/>
                    <a:pt x="0" y="7049"/>
                  </a:cubicBezTo>
                  <a:cubicBezTo>
                    <a:pt x="0" y="3156"/>
                    <a:pt x="3156" y="0"/>
                    <a:pt x="7049"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289" name="Freeform: Shape 288">
              <a:extLst>
                <a:ext uri="{FF2B5EF4-FFF2-40B4-BE49-F238E27FC236}">
                  <a16:creationId xmlns:a16="http://schemas.microsoft.com/office/drawing/2014/main" id="{459DBA8E-2EB0-4C51-A161-2C595B89D4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290" name="Freeform: Shape 289">
              <a:extLst>
                <a:ext uri="{FF2B5EF4-FFF2-40B4-BE49-F238E27FC236}">
                  <a16:creationId xmlns:a16="http://schemas.microsoft.com/office/drawing/2014/main" id="{FB1BA285-9A95-49B7-A098-F38400D92B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4062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1" name="Freeform: Shape 290">
              <a:extLst>
                <a:ext uri="{FF2B5EF4-FFF2-40B4-BE49-F238E27FC236}">
                  <a16:creationId xmlns:a16="http://schemas.microsoft.com/office/drawing/2014/main" id="{D29C405E-90F5-4AB5-8B5F-3CA2F1815A6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2" name="Freeform: Shape 291">
              <a:extLst>
                <a:ext uri="{FF2B5EF4-FFF2-40B4-BE49-F238E27FC236}">
                  <a16:creationId xmlns:a16="http://schemas.microsoft.com/office/drawing/2014/main" id="{F7214FFD-3321-412F-9CA5-4BC6E874F92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3" name="Freeform: Shape 292">
              <a:extLst>
                <a:ext uri="{FF2B5EF4-FFF2-40B4-BE49-F238E27FC236}">
                  <a16:creationId xmlns:a16="http://schemas.microsoft.com/office/drawing/2014/main" id="{5F16C3D8-64A1-443D-92A7-EA97518A63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4" name="Freeform: Shape 293">
              <a:extLst>
                <a:ext uri="{FF2B5EF4-FFF2-40B4-BE49-F238E27FC236}">
                  <a16:creationId xmlns:a16="http://schemas.microsoft.com/office/drawing/2014/main" id="{7E4EFAB9-436A-4B6B-A16B-8DA3F614A8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5" name="Freeform: Shape 294">
              <a:extLst>
                <a:ext uri="{FF2B5EF4-FFF2-40B4-BE49-F238E27FC236}">
                  <a16:creationId xmlns:a16="http://schemas.microsoft.com/office/drawing/2014/main" id="{037DDFC3-D7A5-443D-8417-D723296DA7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540620"/>
              <a:ext cx="14097" cy="14097"/>
            </a:xfrm>
            <a:custGeom>
              <a:avLst/>
              <a:gdLst>
                <a:gd name="connsiteX0" fmla="*/ 14097 w 14097"/>
                <a:gd name="connsiteY0" fmla="*/ 7048 h 14097"/>
                <a:gd name="connsiteX1" fmla="*/ 7049 w 14097"/>
                <a:gd name="connsiteY1" fmla="*/ 14097 h 14097"/>
                <a:gd name="connsiteX2" fmla="*/ 0 w 14097"/>
                <a:gd name="connsiteY2" fmla="*/ 7048 h 14097"/>
                <a:gd name="connsiteX3" fmla="*/ 7049 w 14097"/>
                <a:gd name="connsiteY3" fmla="*/ 0 h 14097"/>
                <a:gd name="connsiteX4" fmla="*/ 14097 w 14097"/>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7">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296" name="Freeform: Shape 295">
              <a:extLst>
                <a:ext uri="{FF2B5EF4-FFF2-40B4-BE49-F238E27FC236}">
                  <a16:creationId xmlns:a16="http://schemas.microsoft.com/office/drawing/2014/main" id="{253AC142-F4B4-47E8-BBEE-F7D0F8547F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4062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7" name="Freeform: Shape 296">
              <a:extLst>
                <a:ext uri="{FF2B5EF4-FFF2-40B4-BE49-F238E27FC236}">
                  <a16:creationId xmlns:a16="http://schemas.microsoft.com/office/drawing/2014/main" id="{890AAA82-94E2-41D0-AE92-9C87195CCB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8" y="359977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298" name="Freeform: Shape 297">
              <a:extLst>
                <a:ext uri="{FF2B5EF4-FFF2-40B4-BE49-F238E27FC236}">
                  <a16:creationId xmlns:a16="http://schemas.microsoft.com/office/drawing/2014/main" id="{FD33B856-EF4E-40FC-BDA0-9E26203D03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3" y="359977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299" name="Freeform: Shape 298">
              <a:extLst>
                <a:ext uri="{FF2B5EF4-FFF2-40B4-BE49-F238E27FC236}">
                  <a16:creationId xmlns:a16="http://schemas.microsoft.com/office/drawing/2014/main" id="{24AEBF58-C8A2-4D00-9AFB-B5012AEA369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3"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0" name="Freeform: Shape 299">
              <a:extLst>
                <a:ext uri="{FF2B5EF4-FFF2-40B4-BE49-F238E27FC236}">
                  <a16:creationId xmlns:a16="http://schemas.microsoft.com/office/drawing/2014/main" id="{21270E55-4211-4529-BDC3-29B80BDF50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1" name="Freeform: Shape 300">
              <a:extLst>
                <a:ext uri="{FF2B5EF4-FFF2-40B4-BE49-F238E27FC236}">
                  <a16:creationId xmlns:a16="http://schemas.microsoft.com/office/drawing/2014/main" id="{16DD7E91-EFBB-4DD7-B30F-4A13C20BED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2" name="Freeform: Shape 301">
              <a:extLst>
                <a:ext uri="{FF2B5EF4-FFF2-40B4-BE49-F238E27FC236}">
                  <a16:creationId xmlns:a16="http://schemas.microsoft.com/office/drawing/2014/main" id="{96260F31-66FB-4E2C-801E-701C2B859AA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599770"/>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3" name="Freeform: Shape 302">
              <a:extLst>
                <a:ext uri="{FF2B5EF4-FFF2-40B4-BE49-F238E27FC236}">
                  <a16:creationId xmlns:a16="http://schemas.microsoft.com/office/drawing/2014/main" id="{B5FEE1C9-3961-4400-AD3E-B5AD93A4748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59977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4" name="Freeform: Shape 303">
              <a:extLst>
                <a:ext uri="{FF2B5EF4-FFF2-40B4-BE49-F238E27FC236}">
                  <a16:creationId xmlns:a16="http://schemas.microsoft.com/office/drawing/2014/main" id="{34E1BE05-269F-4A13-99FE-2A973A0E773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7" y="3659014"/>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05" name="Freeform: Shape 304">
              <a:extLst>
                <a:ext uri="{FF2B5EF4-FFF2-40B4-BE49-F238E27FC236}">
                  <a16:creationId xmlns:a16="http://schemas.microsoft.com/office/drawing/2014/main" id="{2D591FBD-65C6-46C4-AF19-875D652DCF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2" y="3659014"/>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6" name="Freeform: Shape 305">
              <a:extLst>
                <a:ext uri="{FF2B5EF4-FFF2-40B4-BE49-F238E27FC236}">
                  <a16:creationId xmlns:a16="http://schemas.microsoft.com/office/drawing/2014/main" id="{85F7E635-CB45-4346-BBFB-10FF0576AF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2"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7" name="Freeform: Shape 306">
              <a:extLst>
                <a:ext uri="{FF2B5EF4-FFF2-40B4-BE49-F238E27FC236}">
                  <a16:creationId xmlns:a16="http://schemas.microsoft.com/office/drawing/2014/main" id="{3BDAC885-F0B3-4D66-8587-4384652983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8" name="Freeform: Shape 307">
              <a:extLst>
                <a:ext uri="{FF2B5EF4-FFF2-40B4-BE49-F238E27FC236}">
                  <a16:creationId xmlns:a16="http://schemas.microsoft.com/office/drawing/2014/main" id="{3427A7E1-71C9-42CC-9CAF-53642DC4D08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8"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09" name="Freeform: Shape 308">
              <a:extLst>
                <a:ext uri="{FF2B5EF4-FFF2-40B4-BE49-F238E27FC236}">
                  <a16:creationId xmlns:a16="http://schemas.microsoft.com/office/drawing/2014/main" id="{20BF60C4-2E5D-473E-96B6-D22BB8536F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3" y="3659014"/>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0" name="Freeform: Shape 309">
              <a:extLst>
                <a:ext uri="{FF2B5EF4-FFF2-40B4-BE49-F238E27FC236}">
                  <a16:creationId xmlns:a16="http://schemas.microsoft.com/office/drawing/2014/main" id="{C4703732-1088-4448-ACC0-D8BD901B2C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4" y="365901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1" name="Freeform: Shape 310">
              <a:extLst>
                <a:ext uri="{FF2B5EF4-FFF2-40B4-BE49-F238E27FC236}">
                  <a16:creationId xmlns:a16="http://schemas.microsoft.com/office/drawing/2014/main" id="{6777D706-23BF-4962-98D3-D5AE7DF4EC4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39" y="3718165"/>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2" name="Freeform: Shape 311">
              <a:extLst>
                <a:ext uri="{FF2B5EF4-FFF2-40B4-BE49-F238E27FC236}">
                  <a16:creationId xmlns:a16="http://schemas.microsoft.com/office/drawing/2014/main" id="{783FF777-4C59-44D0-9441-2B40E0A70E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4" y="3718165"/>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3" name="Freeform: Shape 312">
              <a:extLst>
                <a:ext uri="{FF2B5EF4-FFF2-40B4-BE49-F238E27FC236}">
                  <a16:creationId xmlns:a16="http://schemas.microsoft.com/office/drawing/2014/main" id="{2037F33C-65F4-44B6-9CB2-D32D1552C6C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4"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4" name="Freeform: Shape 313">
              <a:extLst>
                <a:ext uri="{FF2B5EF4-FFF2-40B4-BE49-F238E27FC236}">
                  <a16:creationId xmlns:a16="http://schemas.microsoft.com/office/drawing/2014/main" id="{E73BA403-F3FD-4D76-A516-5698375D6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7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5" name="Freeform: Shape 314">
              <a:extLst>
                <a:ext uri="{FF2B5EF4-FFF2-40B4-BE49-F238E27FC236}">
                  <a16:creationId xmlns:a16="http://schemas.microsoft.com/office/drawing/2014/main" id="{0AF0D29B-415A-4327-A4B4-B5DC8F0AC0A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29"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6" name="Freeform: Shape 315">
              <a:extLst>
                <a:ext uri="{FF2B5EF4-FFF2-40B4-BE49-F238E27FC236}">
                  <a16:creationId xmlns:a16="http://schemas.microsoft.com/office/drawing/2014/main" id="{374A9388-F55E-4F94-817D-5BFF0B59E7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74" y="3718165"/>
              <a:ext cx="14097" cy="14096"/>
            </a:xfrm>
            <a:custGeom>
              <a:avLst/>
              <a:gdLst>
                <a:gd name="connsiteX0" fmla="*/ 14097 w 14097"/>
                <a:gd name="connsiteY0" fmla="*/ 7048 h 14096"/>
                <a:gd name="connsiteX1" fmla="*/ 7048 w 14097"/>
                <a:gd name="connsiteY1" fmla="*/ 14097 h 14096"/>
                <a:gd name="connsiteX2" fmla="*/ 0 w 14097"/>
                <a:gd name="connsiteY2" fmla="*/ 7048 h 14096"/>
                <a:gd name="connsiteX3" fmla="*/ 7048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7" name="Freeform: Shape 316">
              <a:extLst>
                <a:ext uri="{FF2B5EF4-FFF2-40B4-BE49-F238E27FC236}">
                  <a16:creationId xmlns:a16="http://schemas.microsoft.com/office/drawing/2014/main" id="{30C52183-F223-4E0A-B713-C91589CEB8F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25" y="3718165"/>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18" name="Freeform: Shape 317">
              <a:extLst>
                <a:ext uri="{FF2B5EF4-FFF2-40B4-BE49-F238E27FC236}">
                  <a16:creationId xmlns:a16="http://schemas.microsoft.com/office/drawing/2014/main" id="{A6BEE030-DC6B-4CB1-A01B-95CC82552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34040" y="3777410"/>
              <a:ext cx="14192" cy="14096"/>
            </a:xfrm>
            <a:custGeom>
              <a:avLst/>
              <a:gdLst>
                <a:gd name="connsiteX0" fmla="*/ 14192 w 14192"/>
                <a:gd name="connsiteY0" fmla="*/ 7048 h 14096"/>
                <a:gd name="connsiteX1" fmla="*/ 7144 w 14192"/>
                <a:gd name="connsiteY1" fmla="*/ 14097 h 14096"/>
                <a:gd name="connsiteX2" fmla="*/ 0 w 14192"/>
                <a:gd name="connsiteY2" fmla="*/ 7048 h 14096"/>
                <a:gd name="connsiteX3" fmla="*/ 7049 w 14192"/>
                <a:gd name="connsiteY3" fmla="*/ 0 h 14096"/>
                <a:gd name="connsiteX4" fmla="*/ 14192 w 14192"/>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92" h="14096">
                  <a:moveTo>
                    <a:pt x="14192" y="7048"/>
                  </a:moveTo>
                  <a:cubicBezTo>
                    <a:pt x="14192" y="10954"/>
                    <a:pt x="11049" y="14097"/>
                    <a:pt x="7144" y="14097"/>
                  </a:cubicBezTo>
                  <a:cubicBezTo>
                    <a:pt x="3239" y="14097"/>
                    <a:pt x="0" y="10954"/>
                    <a:pt x="0" y="7048"/>
                  </a:cubicBezTo>
                  <a:cubicBezTo>
                    <a:pt x="0" y="3143"/>
                    <a:pt x="3143" y="0"/>
                    <a:pt x="7049" y="0"/>
                  </a:cubicBezTo>
                  <a:cubicBezTo>
                    <a:pt x="10954" y="0"/>
                    <a:pt x="14192" y="3143"/>
                    <a:pt x="14192" y="7048"/>
                  </a:cubicBezTo>
                  <a:close/>
                </a:path>
              </a:pathLst>
            </a:custGeom>
            <a:grpFill/>
            <a:ln w="9525" cap="flat">
              <a:noFill/>
              <a:prstDash val="solid"/>
              <a:miter/>
            </a:ln>
          </p:spPr>
          <p:txBody>
            <a:bodyPr rtlCol="0" anchor="ctr"/>
            <a:lstStyle/>
            <a:p>
              <a:endParaRPr lang="en-US"/>
            </a:p>
          </p:txBody>
        </p:sp>
        <p:sp>
          <p:nvSpPr>
            <p:cNvPr id="319" name="Freeform: Shape 318">
              <a:extLst>
                <a:ext uri="{FF2B5EF4-FFF2-40B4-BE49-F238E27FC236}">
                  <a16:creationId xmlns:a16="http://schemas.microsoft.com/office/drawing/2014/main" id="{2D41CF67-37BB-443C-85CF-2A05174FD47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793285"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0" name="Freeform: Shape 319">
              <a:extLst>
                <a:ext uri="{FF2B5EF4-FFF2-40B4-BE49-F238E27FC236}">
                  <a16:creationId xmlns:a16="http://schemas.microsoft.com/office/drawing/2014/main" id="{65A449CF-396F-45B8-B268-6824A4E89BB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852436"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1" name="Freeform: Shape 320">
              <a:extLst>
                <a:ext uri="{FF2B5EF4-FFF2-40B4-BE49-F238E27FC236}">
                  <a16:creationId xmlns:a16="http://schemas.microsoft.com/office/drawing/2014/main" id="{9C20A7EF-7013-4D6C-ADD8-868A931DF20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11683"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2" name="Freeform: Shape 321">
              <a:extLst>
                <a:ext uri="{FF2B5EF4-FFF2-40B4-BE49-F238E27FC236}">
                  <a16:creationId xmlns:a16="http://schemas.microsoft.com/office/drawing/2014/main" id="{F787692C-3BA9-4D4D-82F8-E497797AAED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970835"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3" name="Freeform: Shape 322">
              <a:extLst>
                <a:ext uri="{FF2B5EF4-FFF2-40B4-BE49-F238E27FC236}">
                  <a16:creationId xmlns:a16="http://schemas.microsoft.com/office/drawing/2014/main" id="{A6D539D6-A55E-40F5-83AC-A773405241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30082" y="3777410"/>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41"/>
                    <a:pt x="10941" y="14097"/>
                    <a:pt x="7049" y="14097"/>
                  </a:cubicBezTo>
                  <a:cubicBezTo>
                    <a:pt x="3156" y="14097"/>
                    <a:pt x="0" y="10941"/>
                    <a:pt x="0" y="7048"/>
                  </a:cubicBezTo>
                  <a:cubicBezTo>
                    <a:pt x="0" y="3156"/>
                    <a:pt x="3156" y="0"/>
                    <a:pt x="7049"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24" name="Freeform: Shape 323">
              <a:extLst>
                <a:ext uri="{FF2B5EF4-FFF2-40B4-BE49-F238E27FC236}">
                  <a16:creationId xmlns:a16="http://schemas.microsoft.com/office/drawing/2014/main" id="{D4D7922F-CA55-4202-B99F-ED303E7044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089231" y="3777408"/>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25" name="Freeform: Shape 324">
              <a:extLst>
                <a:ext uri="{FF2B5EF4-FFF2-40B4-BE49-F238E27FC236}">
                  <a16:creationId xmlns:a16="http://schemas.microsoft.com/office/drawing/2014/main" id="{4120C846-A602-4B6C-9C07-11D2B0F8A40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481374"/>
              <a:ext cx="14097" cy="14096"/>
            </a:xfrm>
            <a:custGeom>
              <a:avLst/>
              <a:gdLst>
                <a:gd name="connsiteX0" fmla="*/ 14097 w 14097"/>
                <a:gd name="connsiteY0" fmla="*/ 7049 h 14096"/>
                <a:gd name="connsiteX1" fmla="*/ 7049 w 14097"/>
                <a:gd name="connsiteY1" fmla="*/ 14097 h 14096"/>
                <a:gd name="connsiteX2" fmla="*/ 0 w 14097"/>
                <a:gd name="connsiteY2" fmla="*/ 7049 h 14096"/>
                <a:gd name="connsiteX3" fmla="*/ 7049 w 14097"/>
                <a:gd name="connsiteY3" fmla="*/ 0 h 14096"/>
                <a:gd name="connsiteX4" fmla="*/ 14097 w 14097"/>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9"/>
                  </a:moveTo>
                  <a:cubicBezTo>
                    <a:pt x="14097" y="10954"/>
                    <a:pt x="10954" y="14097"/>
                    <a:pt x="7049" y="14097"/>
                  </a:cubicBezTo>
                  <a:cubicBezTo>
                    <a:pt x="3143" y="14097"/>
                    <a:pt x="0" y="10954"/>
                    <a:pt x="0" y="7049"/>
                  </a:cubicBezTo>
                  <a:cubicBezTo>
                    <a:pt x="0" y="3143"/>
                    <a:pt x="3143" y="0"/>
                    <a:pt x="7049"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6" name="Freeform: Shape 325">
              <a:extLst>
                <a:ext uri="{FF2B5EF4-FFF2-40B4-BE49-F238E27FC236}">
                  <a16:creationId xmlns:a16="http://schemas.microsoft.com/office/drawing/2014/main" id="{84B5D527-4684-45F5-84CE-73642492DB3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7" name="Freeform: Shape 326">
              <a:extLst>
                <a:ext uri="{FF2B5EF4-FFF2-40B4-BE49-F238E27FC236}">
                  <a16:creationId xmlns:a16="http://schemas.microsoft.com/office/drawing/2014/main" id="{FF31CF21-8169-4D45-A115-9CF8D37189D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481374"/>
              <a:ext cx="14096" cy="14096"/>
            </a:xfrm>
            <a:custGeom>
              <a:avLst/>
              <a:gdLst>
                <a:gd name="connsiteX0" fmla="*/ 14097 w 14096"/>
                <a:gd name="connsiteY0" fmla="*/ 7049 h 14096"/>
                <a:gd name="connsiteX1" fmla="*/ 7049 w 14096"/>
                <a:gd name="connsiteY1" fmla="*/ 14097 h 14096"/>
                <a:gd name="connsiteX2" fmla="*/ 0 w 14096"/>
                <a:gd name="connsiteY2" fmla="*/ 7049 h 14096"/>
                <a:gd name="connsiteX3" fmla="*/ 7049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9" y="14097"/>
                  </a:cubicBezTo>
                  <a:cubicBezTo>
                    <a:pt x="3143" y="14097"/>
                    <a:pt x="0" y="10954"/>
                    <a:pt x="0" y="7049"/>
                  </a:cubicBezTo>
                  <a:cubicBezTo>
                    <a:pt x="0" y="3143"/>
                    <a:pt x="3143" y="0"/>
                    <a:pt x="7049" y="0"/>
                  </a:cubicBezTo>
                  <a:cubicBezTo>
                    <a:pt x="10859" y="0"/>
                    <a:pt x="14097" y="3143"/>
                    <a:pt x="14097" y="7049"/>
                  </a:cubicBezTo>
                  <a:close/>
                </a:path>
              </a:pathLst>
            </a:custGeom>
            <a:grpFill/>
            <a:ln w="9525" cap="flat">
              <a:noFill/>
              <a:prstDash val="solid"/>
              <a:miter/>
            </a:ln>
          </p:spPr>
          <p:txBody>
            <a:bodyPr rtlCol="0" anchor="ctr"/>
            <a:lstStyle/>
            <a:p>
              <a:endParaRPr lang="en-US"/>
            </a:p>
          </p:txBody>
        </p:sp>
        <p:sp>
          <p:nvSpPr>
            <p:cNvPr id="328" name="Freeform: Shape 327">
              <a:extLst>
                <a:ext uri="{FF2B5EF4-FFF2-40B4-BE49-F238E27FC236}">
                  <a16:creationId xmlns:a16="http://schemas.microsoft.com/office/drawing/2014/main" id="{DA8762B9-9CD8-4676-93F5-6C9358A940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954" y="0"/>
                    <a:pt x="14097" y="3143"/>
                    <a:pt x="14097" y="7049"/>
                  </a:cubicBezTo>
                  <a:close/>
                </a:path>
              </a:pathLst>
            </a:custGeom>
            <a:grpFill/>
            <a:ln w="9525" cap="flat">
              <a:noFill/>
              <a:prstDash val="solid"/>
              <a:miter/>
            </a:ln>
          </p:spPr>
          <p:txBody>
            <a:bodyPr rtlCol="0" anchor="ctr"/>
            <a:lstStyle/>
            <a:p>
              <a:endParaRPr lang="en-US"/>
            </a:p>
          </p:txBody>
        </p:sp>
        <p:sp>
          <p:nvSpPr>
            <p:cNvPr id="329" name="Freeform: Shape 328">
              <a:extLst>
                <a:ext uri="{FF2B5EF4-FFF2-40B4-BE49-F238E27FC236}">
                  <a16:creationId xmlns:a16="http://schemas.microsoft.com/office/drawing/2014/main" id="{A183E80A-70D1-4F52-A92D-D396648CCB7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481374"/>
              <a:ext cx="14096" cy="14096"/>
            </a:xfrm>
            <a:custGeom>
              <a:avLst/>
              <a:gdLst>
                <a:gd name="connsiteX0" fmla="*/ 14097 w 14096"/>
                <a:gd name="connsiteY0" fmla="*/ 7049 h 14096"/>
                <a:gd name="connsiteX1" fmla="*/ 7048 w 14096"/>
                <a:gd name="connsiteY1" fmla="*/ 14097 h 14096"/>
                <a:gd name="connsiteX2" fmla="*/ 0 w 14096"/>
                <a:gd name="connsiteY2" fmla="*/ 7049 h 14096"/>
                <a:gd name="connsiteX3" fmla="*/ 7048 w 14096"/>
                <a:gd name="connsiteY3" fmla="*/ 0 h 14096"/>
                <a:gd name="connsiteX4" fmla="*/ 14097 w 14096"/>
                <a:gd name="connsiteY4" fmla="*/ 7049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9"/>
                  </a:moveTo>
                  <a:cubicBezTo>
                    <a:pt x="14097" y="10954"/>
                    <a:pt x="10954" y="14097"/>
                    <a:pt x="7048" y="14097"/>
                  </a:cubicBezTo>
                  <a:cubicBezTo>
                    <a:pt x="3143" y="14097"/>
                    <a:pt x="0" y="10954"/>
                    <a:pt x="0" y="7049"/>
                  </a:cubicBezTo>
                  <a:cubicBezTo>
                    <a:pt x="0" y="3143"/>
                    <a:pt x="3143" y="0"/>
                    <a:pt x="7048" y="0"/>
                  </a:cubicBezTo>
                  <a:cubicBezTo>
                    <a:pt x="10858" y="0"/>
                    <a:pt x="14097" y="3143"/>
                    <a:pt x="14097" y="7049"/>
                  </a:cubicBezTo>
                  <a:close/>
                </a:path>
              </a:pathLst>
            </a:custGeom>
            <a:grpFill/>
            <a:ln w="9525" cap="flat">
              <a:noFill/>
              <a:prstDash val="solid"/>
              <a:miter/>
            </a:ln>
          </p:spPr>
          <p:txBody>
            <a:bodyPr rtlCol="0" anchor="ctr"/>
            <a:lstStyle/>
            <a:p>
              <a:endParaRPr lang="en-US"/>
            </a:p>
          </p:txBody>
        </p:sp>
        <p:sp>
          <p:nvSpPr>
            <p:cNvPr id="330" name="Freeform: Shape 329">
              <a:extLst>
                <a:ext uri="{FF2B5EF4-FFF2-40B4-BE49-F238E27FC236}">
                  <a16:creationId xmlns:a16="http://schemas.microsoft.com/office/drawing/2014/main" id="{83FBB0F7-E17E-4890-9B66-3625BA1468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481373"/>
              <a:ext cx="14096" cy="14097"/>
            </a:xfrm>
            <a:custGeom>
              <a:avLst/>
              <a:gdLst>
                <a:gd name="connsiteX0" fmla="*/ 14097 w 14096"/>
                <a:gd name="connsiteY0" fmla="*/ 7049 h 14097"/>
                <a:gd name="connsiteX1" fmla="*/ 7048 w 14096"/>
                <a:gd name="connsiteY1" fmla="*/ 14097 h 14097"/>
                <a:gd name="connsiteX2" fmla="*/ 0 w 14096"/>
                <a:gd name="connsiteY2" fmla="*/ 7049 h 14097"/>
                <a:gd name="connsiteX3" fmla="*/ 7048 w 14096"/>
                <a:gd name="connsiteY3" fmla="*/ 0 h 14097"/>
                <a:gd name="connsiteX4" fmla="*/ 14097 w 14096"/>
                <a:gd name="connsiteY4" fmla="*/ 7049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9"/>
                  </a:moveTo>
                  <a:cubicBezTo>
                    <a:pt x="14097" y="10941"/>
                    <a:pt x="10941" y="14097"/>
                    <a:pt x="7048" y="14097"/>
                  </a:cubicBezTo>
                  <a:cubicBezTo>
                    <a:pt x="3156" y="14097"/>
                    <a:pt x="0" y="10941"/>
                    <a:pt x="0" y="7049"/>
                  </a:cubicBezTo>
                  <a:cubicBezTo>
                    <a:pt x="0" y="3156"/>
                    <a:pt x="3156" y="0"/>
                    <a:pt x="7048" y="0"/>
                  </a:cubicBezTo>
                  <a:cubicBezTo>
                    <a:pt x="10941" y="0"/>
                    <a:pt x="14097" y="3156"/>
                    <a:pt x="14097" y="7049"/>
                  </a:cubicBezTo>
                  <a:close/>
                </a:path>
              </a:pathLst>
            </a:custGeom>
            <a:grpFill/>
            <a:ln w="9525" cap="flat">
              <a:noFill/>
              <a:prstDash val="solid"/>
              <a:miter/>
            </a:ln>
          </p:spPr>
          <p:txBody>
            <a:bodyPr rtlCol="0" anchor="ctr"/>
            <a:lstStyle/>
            <a:p>
              <a:endParaRPr lang="en-US"/>
            </a:p>
          </p:txBody>
        </p:sp>
        <p:sp>
          <p:nvSpPr>
            <p:cNvPr id="331" name="Freeform: Shape 330">
              <a:extLst>
                <a:ext uri="{FF2B5EF4-FFF2-40B4-BE49-F238E27FC236}">
                  <a16:creationId xmlns:a16="http://schemas.microsoft.com/office/drawing/2014/main" id="{708E7BF1-2D4D-44AB-A5CC-0ED91B8462E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40622"/>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2" name="Freeform: Shape 331">
              <a:extLst>
                <a:ext uri="{FF2B5EF4-FFF2-40B4-BE49-F238E27FC236}">
                  <a16:creationId xmlns:a16="http://schemas.microsoft.com/office/drawing/2014/main" id="{4B468C4E-6F63-4172-AE1F-8965744DBC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40623"/>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3" name="Freeform: Shape 332">
              <a:extLst>
                <a:ext uri="{FF2B5EF4-FFF2-40B4-BE49-F238E27FC236}">
                  <a16:creationId xmlns:a16="http://schemas.microsoft.com/office/drawing/2014/main" id="{974C7149-F567-4D55-8F48-511DCF3A81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406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34" name="Freeform: Shape 333">
              <a:extLst>
                <a:ext uri="{FF2B5EF4-FFF2-40B4-BE49-F238E27FC236}">
                  <a16:creationId xmlns:a16="http://schemas.microsoft.com/office/drawing/2014/main" id="{54A551FA-7E10-4D28-9A10-B9A06C0780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4062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5" name="Freeform: Shape 334">
              <a:extLst>
                <a:ext uri="{FF2B5EF4-FFF2-40B4-BE49-F238E27FC236}">
                  <a16:creationId xmlns:a16="http://schemas.microsoft.com/office/drawing/2014/main" id="{1D04F3C0-CE2C-4B8D-A5BD-0E994FD8D9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4063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36" name="Freeform: Shape 335">
              <a:extLst>
                <a:ext uri="{FF2B5EF4-FFF2-40B4-BE49-F238E27FC236}">
                  <a16:creationId xmlns:a16="http://schemas.microsoft.com/office/drawing/2014/main" id="{D2EA9230-DD52-48A9-B268-56744EA5065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40631"/>
              <a:ext cx="14096" cy="14097"/>
            </a:xfrm>
            <a:custGeom>
              <a:avLst/>
              <a:gdLst>
                <a:gd name="connsiteX0" fmla="*/ 14097 w 14096"/>
                <a:gd name="connsiteY0" fmla="*/ 7048 h 14097"/>
                <a:gd name="connsiteX1" fmla="*/ 7048 w 14096"/>
                <a:gd name="connsiteY1" fmla="*/ 14097 h 14097"/>
                <a:gd name="connsiteX2" fmla="*/ 0 w 14096"/>
                <a:gd name="connsiteY2" fmla="*/ 7048 h 14097"/>
                <a:gd name="connsiteX3" fmla="*/ 7048 w 14096"/>
                <a:gd name="connsiteY3" fmla="*/ 0 h 14097"/>
                <a:gd name="connsiteX4" fmla="*/ 14097 w 14096"/>
                <a:gd name="connsiteY4" fmla="*/ 7048 h 1409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7">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a:p>
          </p:txBody>
        </p:sp>
        <p:sp>
          <p:nvSpPr>
            <p:cNvPr id="337" name="Freeform: Shape 336">
              <a:extLst>
                <a:ext uri="{FF2B5EF4-FFF2-40B4-BE49-F238E27FC236}">
                  <a16:creationId xmlns:a16="http://schemas.microsoft.com/office/drawing/2014/main" id="{043A05F5-A8CF-4D01-AF12-95D1ECAE460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599781"/>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8" name="Freeform: Shape 337">
              <a:extLst>
                <a:ext uri="{FF2B5EF4-FFF2-40B4-BE49-F238E27FC236}">
                  <a16:creationId xmlns:a16="http://schemas.microsoft.com/office/drawing/2014/main" id="{1F47C6BC-BD1A-4291-B018-05E5A72E4B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39" name="Freeform: Shape 338">
              <a:extLst>
                <a:ext uri="{FF2B5EF4-FFF2-40B4-BE49-F238E27FC236}">
                  <a16:creationId xmlns:a16="http://schemas.microsoft.com/office/drawing/2014/main" id="{E5B89844-FD17-4048-A3F5-35E390C6EF7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599781"/>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0" name="Freeform: Shape 339">
              <a:extLst>
                <a:ext uri="{FF2B5EF4-FFF2-40B4-BE49-F238E27FC236}">
                  <a16:creationId xmlns:a16="http://schemas.microsoft.com/office/drawing/2014/main" id="{B5593F34-8B0E-4D34-9781-B594E2F5D7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599781"/>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1" name="Freeform: Shape 340">
              <a:extLst>
                <a:ext uri="{FF2B5EF4-FFF2-40B4-BE49-F238E27FC236}">
                  <a16:creationId xmlns:a16="http://schemas.microsoft.com/office/drawing/2014/main" id="{4428E4BB-2263-4D19-8254-C9B54B8565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599780"/>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2" name="Freeform: Shape 341">
              <a:extLst>
                <a:ext uri="{FF2B5EF4-FFF2-40B4-BE49-F238E27FC236}">
                  <a16:creationId xmlns:a16="http://schemas.microsoft.com/office/drawing/2014/main" id="{2366216E-6EA2-4872-8370-C5EC22520F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59978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3" name="Freeform: Shape 342">
              <a:extLst>
                <a:ext uri="{FF2B5EF4-FFF2-40B4-BE49-F238E27FC236}">
                  <a16:creationId xmlns:a16="http://schemas.microsoft.com/office/drawing/2014/main" id="{D66F8E3F-BF33-4F99-A1F0-EB5885BF2C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659026"/>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4" name="Freeform: Shape 343">
              <a:extLst>
                <a:ext uri="{FF2B5EF4-FFF2-40B4-BE49-F238E27FC236}">
                  <a16:creationId xmlns:a16="http://schemas.microsoft.com/office/drawing/2014/main" id="{EB506747-ED9D-43EA-BD67-DF7971849ED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5" name="Freeform: Shape 344">
              <a:extLst>
                <a:ext uri="{FF2B5EF4-FFF2-40B4-BE49-F238E27FC236}">
                  <a16:creationId xmlns:a16="http://schemas.microsoft.com/office/drawing/2014/main" id="{AC803CE8-FFF7-40EA-AF62-102724C324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659026"/>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46" name="Freeform: Shape 345">
              <a:extLst>
                <a:ext uri="{FF2B5EF4-FFF2-40B4-BE49-F238E27FC236}">
                  <a16:creationId xmlns:a16="http://schemas.microsoft.com/office/drawing/2014/main" id="{7EF6FFCA-06CC-4395-AEB0-425719A42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7" name="Freeform: Shape 346">
              <a:extLst>
                <a:ext uri="{FF2B5EF4-FFF2-40B4-BE49-F238E27FC236}">
                  <a16:creationId xmlns:a16="http://schemas.microsoft.com/office/drawing/2014/main" id="{0D95F285-AAC0-4F32-8665-2677878BD3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48" name="Freeform: Shape 347">
              <a:extLst>
                <a:ext uri="{FF2B5EF4-FFF2-40B4-BE49-F238E27FC236}">
                  <a16:creationId xmlns:a16="http://schemas.microsoft.com/office/drawing/2014/main" id="{8DFCCA2E-BF12-4D26-A5A4-A03387546AB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65902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49" name="Freeform: Shape 348">
              <a:extLst>
                <a:ext uri="{FF2B5EF4-FFF2-40B4-BE49-F238E27FC236}">
                  <a16:creationId xmlns:a16="http://schemas.microsoft.com/office/drawing/2014/main" id="{2ABEAC60-6AC3-4D6A-95F9-2E79F6BE00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6" y="3718177"/>
              <a:ext cx="14097" cy="14096"/>
            </a:xfrm>
            <a:custGeom>
              <a:avLst/>
              <a:gdLst>
                <a:gd name="connsiteX0" fmla="*/ 14097 w 14097"/>
                <a:gd name="connsiteY0" fmla="*/ 7048 h 14096"/>
                <a:gd name="connsiteX1" fmla="*/ 7049 w 14097"/>
                <a:gd name="connsiteY1" fmla="*/ 14097 h 14096"/>
                <a:gd name="connsiteX2" fmla="*/ 0 w 14097"/>
                <a:gd name="connsiteY2" fmla="*/ 7048 h 14096"/>
                <a:gd name="connsiteX3" fmla="*/ 7049 w 14097"/>
                <a:gd name="connsiteY3" fmla="*/ 0 h 14096"/>
                <a:gd name="connsiteX4" fmla="*/ 14097 w 14097"/>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6">
                  <a:moveTo>
                    <a:pt x="14097" y="7048"/>
                  </a:moveTo>
                  <a:cubicBezTo>
                    <a:pt x="14097" y="10954"/>
                    <a:pt x="10954" y="14097"/>
                    <a:pt x="7049" y="14097"/>
                  </a:cubicBezTo>
                  <a:cubicBezTo>
                    <a:pt x="3143" y="14097"/>
                    <a:pt x="0" y="10954"/>
                    <a:pt x="0" y="7048"/>
                  </a:cubicBezTo>
                  <a:cubicBezTo>
                    <a:pt x="0" y="3143"/>
                    <a:pt x="3143" y="0"/>
                    <a:pt x="7049"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0" name="Freeform: Shape 349">
              <a:extLst>
                <a:ext uri="{FF2B5EF4-FFF2-40B4-BE49-F238E27FC236}">
                  <a16:creationId xmlns:a16="http://schemas.microsoft.com/office/drawing/2014/main" id="{FA6015B7-49FE-4729-B2F4-585F0F305F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7"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1" name="Freeform: Shape 350">
              <a:extLst>
                <a:ext uri="{FF2B5EF4-FFF2-40B4-BE49-F238E27FC236}">
                  <a16:creationId xmlns:a16="http://schemas.microsoft.com/office/drawing/2014/main" id="{D611DEB1-76FE-4625-9449-88E52D15F43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72" y="3718177"/>
              <a:ext cx="14096" cy="14096"/>
            </a:xfrm>
            <a:custGeom>
              <a:avLst/>
              <a:gdLst>
                <a:gd name="connsiteX0" fmla="*/ 14097 w 14096"/>
                <a:gd name="connsiteY0" fmla="*/ 7048 h 14096"/>
                <a:gd name="connsiteX1" fmla="*/ 7049 w 14096"/>
                <a:gd name="connsiteY1" fmla="*/ 14097 h 14096"/>
                <a:gd name="connsiteX2" fmla="*/ 0 w 14096"/>
                <a:gd name="connsiteY2" fmla="*/ 7048 h 14096"/>
                <a:gd name="connsiteX3" fmla="*/ 7049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9" y="14097"/>
                  </a:cubicBezTo>
                  <a:cubicBezTo>
                    <a:pt x="3143" y="14097"/>
                    <a:pt x="0" y="10954"/>
                    <a:pt x="0" y="7048"/>
                  </a:cubicBezTo>
                  <a:cubicBezTo>
                    <a:pt x="0" y="3143"/>
                    <a:pt x="3143" y="0"/>
                    <a:pt x="7049" y="0"/>
                  </a:cubicBezTo>
                  <a:cubicBezTo>
                    <a:pt x="10859" y="0"/>
                    <a:pt x="14097" y="3143"/>
                    <a:pt x="14097" y="7048"/>
                  </a:cubicBezTo>
                  <a:close/>
                </a:path>
              </a:pathLst>
            </a:custGeom>
            <a:grpFill/>
            <a:ln w="9525" cap="flat">
              <a:noFill/>
              <a:prstDash val="solid"/>
              <a:miter/>
            </a:ln>
          </p:spPr>
          <p:txBody>
            <a:bodyPr rtlCol="0" anchor="ctr"/>
            <a:lstStyle/>
            <a:p>
              <a:endParaRPr lang="en-US"/>
            </a:p>
          </p:txBody>
        </p:sp>
        <p:sp>
          <p:nvSpPr>
            <p:cNvPr id="352" name="Freeform: Shape 351">
              <a:extLst>
                <a:ext uri="{FF2B5EF4-FFF2-40B4-BE49-F238E27FC236}">
                  <a16:creationId xmlns:a16="http://schemas.microsoft.com/office/drawing/2014/main" id="{97F031C1-1AA7-4CA7-ADD3-E0577626E19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2" y="3718177"/>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3" name="Freeform: Shape 352">
              <a:extLst>
                <a:ext uri="{FF2B5EF4-FFF2-40B4-BE49-F238E27FC236}">
                  <a16:creationId xmlns:a16="http://schemas.microsoft.com/office/drawing/2014/main" id="{96F5D0CB-22E6-4536-8403-F42527F31F4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68" y="3718172"/>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858" y="0"/>
                    <a:pt x="14097" y="3143"/>
                    <a:pt x="14097" y="7048"/>
                  </a:cubicBezTo>
                  <a:close/>
                </a:path>
              </a:pathLst>
            </a:custGeom>
            <a:grpFill/>
            <a:ln w="9525" cap="flat">
              <a:noFill/>
              <a:prstDash val="solid"/>
              <a:miter/>
            </a:ln>
          </p:spPr>
          <p:txBody>
            <a:bodyPr rtlCol="0" anchor="ctr"/>
            <a:lstStyle/>
            <a:p>
              <a:endParaRPr lang="en-US"/>
            </a:p>
          </p:txBody>
        </p:sp>
        <p:sp>
          <p:nvSpPr>
            <p:cNvPr id="354" name="Freeform: Shape 353">
              <a:extLst>
                <a:ext uri="{FF2B5EF4-FFF2-40B4-BE49-F238E27FC236}">
                  <a16:creationId xmlns:a16="http://schemas.microsoft.com/office/drawing/2014/main" id="{A32718AB-7401-4F66-9C77-E06C3CF7CD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17" y="3718176"/>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54"/>
                    <a:pt x="10954" y="14097"/>
                    <a:pt x="7048" y="14097"/>
                  </a:cubicBezTo>
                  <a:cubicBezTo>
                    <a:pt x="3143" y="14097"/>
                    <a:pt x="0" y="10954"/>
                    <a:pt x="0" y="7048"/>
                  </a:cubicBezTo>
                  <a:cubicBezTo>
                    <a:pt x="0" y="3143"/>
                    <a:pt x="3143" y="0"/>
                    <a:pt x="7048" y="0"/>
                  </a:cubicBezTo>
                  <a:cubicBezTo>
                    <a:pt x="10954" y="0"/>
                    <a:pt x="14097" y="3143"/>
                    <a:pt x="14097" y="7048"/>
                  </a:cubicBezTo>
                  <a:close/>
                </a:path>
              </a:pathLst>
            </a:custGeom>
            <a:grpFill/>
            <a:ln w="9525" cap="flat">
              <a:noFill/>
              <a:prstDash val="solid"/>
              <a:miter/>
            </a:ln>
          </p:spPr>
          <p:txBody>
            <a:bodyPr rtlCol="0" anchor="ctr"/>
            <a:lstStyle/>
            <a:p>
              <a:endParaRPr lang="en-US"/>
            </a:p>
          </p:txBody>
        </p:sp>
        <p:sp>
          <p:nvSpPr>
            <p:cNvPr id="355" name="Freeform: Shape 354">
              <a:extLst>
                <a:ext uri="{FF2B5EF4-FFF2-40B4-BE49-F238E27FC236}">
                  <a16:creationId xmlns:a16="http://schemas.microsoft.com/office/drawing/2014/main" id="{85B6B5F1-D1E4-45A3-8117-348D02D2A3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148472" y="3777419"/>
              <a:ext cx="14097" cy="14099"/>
            </a:xfrm>
            <a:custGeom>
              <a:avLst/>
              <a:gdLst>
                <a:gd name="connsiteX0" fmla="*/ 14097 w 14097"/>
                <a:gd name="connsiteY0" fmla="*/ 7051 h 14099"/>
                <a:gd name="connsiteX1" fmla="*/ 7049 w 14097"/>
                <a:gd name="connsiteY1" fmla="*/ 14099 h 14099"/>
                <a:gd name="connsiteX2" fmla="*/ 0 w 14097"/>
                <a:gd name="connsiteY2" fmla="*/ 7051 h 14099"/>
                <a:gd name="connsiteX3" fmla="*/ 7049 w 14097"/>
                <a:gd name="connsiteY3" fmla="*/ 2 h 14099"/>
                <a:gd name="connsiteX4" fmla="*/ 14097 w 14097"/>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7" h="14099">
                  <a:moveTo>
                    <a:pt x="14097" y="7051"/>
                  </a:moveTo>
                  <a:cubicBezTo>
                    <a:pt x="14097" y="10956"/>
                    <a:pt x="10954" y="14099"/>
                    <a:pt x="7049" y="14099"/>
                  </a:cubicBezTo>
                  <a:cubicBezTo>
                    <a:pt x="3143" y="14099"/>
                    <a:pt x="0" y="10956"/>
                    <a:pt x="0" y="7051"/>
                  </a:cubicBezTo>
                  <a:cubicBezTo>
                    <a:pt x="0" y="3145"/>
                    <a:pt x="3143" y="2"/>
                    <a:pt x="7049"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6" name="Freeform: Shape 355">
              <a:extLst>
                <a:ext uri="{FF2B5EF4-FFF2-40B4-BE49-F238E27FC236}">
                  <a16:creationId xmlns:a16="http://schemas.microsoft.com/office/drawing/2014/main" id="{534869FD-184C-42DB-B9DA-293DB67E5E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07622" y="377741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7" name="Freeform: Shape 356">
              <a:extLst>
                <a:ext uri="{FF2B5EF4-FFF2-40B4-BE49-F238E27FC236}">
                  <a16:creationId xmlns:a16="http://schemas.microsoft.com/office/drawing/2014/main" id="{A781504F-CAFD-4201-B288-8B4A809B43A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66868" y="3777419"/>
              <a:ext cx="14096" cy="14099"/>
            </a:xfrm>
            <a:custGeom>
              <a:avLst/>
              <a:gdLst>
                <a:gd name="connsiteX0" fmla="*/ 14097 w 14096"/>
                <a:gd name="connsiteY0" fmla="*/ 7051 h 14099"/>
                <a:gd name="connsiteX1" fmla="*/ 7049 w 14096"/>
                <a:gd name="connsiteY1" fmla="*/ 14099 h 14099"/>
                <a:gd name="connsiteX2" fmla="*/ 0 w 14096"/>
                <a:gd name="connsiteY2" fmla="*/ 7051 h 14099"/>
                <a:gd name="connsiteX3" fmla="*/ 7049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9" y="14099"/>
                  </a:cubicBezTo>
                  <a:cubicBezTo>
                    <a:pt x="3143" y="14099"/>
                    <a:pt x="0" y="10956"/>
                    <a:pt x="0" y="7051"/>
                  </a:cubicBezTo>
                  <a:cubicBezTo>
                    <a:pt x="0" y="3145"/>
                    <a:pt x="3143" y="2"/>
                    <a:pt x="7049" y="2"/>
                  </a:cubicBezTo>
                  <a:cubicBezTo>
                    <a:pt x="10859" y="-93"/>
                    <a:pt x="14097" y="3145"/>
                    <a:pt x="14097" y="7051"/>
                  </a:cubicBezTo>
                  <a:close/>
                </a:path>
              </a:pathLst>
            </a:custGeom>
            <a:grpFill/>
            <a:ln w="9525" cap="flat">
              <a:noFill/>
              <a:prstDash val="solid"/>
              <a:miter/>
            </a:ln>
          </p:spPr>
          <p:txBody>
            <a:bodyPr rtlCol="0" anchor="ctr"/>
            <a:lstStyle/>
            <a:p>
              <a:endParaRPr lang="en-US"/>
            </a:p>
          </p:txBody>
        </p:sp>
        <p:sp>
          <p:nvSpPr>
            <p:cNvPr id="358" name="Freeform: Shape 357">
              <a:extLst>
                <a:ext uri="{FF2B5EF4-FFF2-40B4-BE49-F238E27FC236}">
                  <a16:creationId xmlns:a16="http://schemas.microsoft.com/office/drawing/2014/main" id="{D9FC8348-2BA6-4631-8AA7-D63CD898C5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26024" y="3777383"/>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954" y="-93"/>
                    <a:pt x="14097" y="3145"/>
                    <a:pt x="14097" y="7051"/>
                  </a:cubicBezTo>
                  <a:close/>
                </a:path>
              </a:pathLst>
            </a:custGeom>
            <a:grpFill/>
            <a:ln w="9525" cap="flat">
              <a:noFill/>
              <a:prstDash val="solid"/>
              <a:miter/>
            </a:ln>
          </p:spPr>
          <p:txBody>
            <a:bodyPr rtlCol="0" anchor="ctr"/>
            <a:lstStyle/>
            <a:p>
              <a:endParaRPr lang="en-US"/>
            </a:p>
          </p:txBody>
        </p:sp>
        <p:sp>
          <p:nvSpPr>
            <p:cNvPr id="359" name="Freeform: Shape 358">
              <a:extLst>
                <a:ext uri="{FF2B5EF4-FFF2-40B4-BE49-F238E27FC236}">
                  <a16:creationId xmlns:a16="http://schemas.microsoft.com/office/drawing/2014/main" id="{C1AF95A2-64EA-45E2-A43B-1EBD569109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385287" y="3777429"/>
              <a:ext cx="14096" cy="14099"/>
            </a:xfrm>
            <a:custGeom>
              <a:avLst/>
              <a:gdLst>
                <a:gd name="connsiteX0" fmla="*/ 14097 w 14096"/>
                <a:gd name="connsiteY0" fmla="*/ 7051 h 14099"/>
                <a:gd name="connsiteX1" fmla="*/ 7048 w 14096"/>
                <a:gd name="connsiteY1" fmla="*/ 14099 h 14099"/>
                <a:gd name="connsiteX2" fmla="*/ 0 w 14096"/>
                <a:gd name="connsiteY2" fmla="*/ 7051 h 14099"/>
                <a:gd name="connsiteX3" fmla="*/ 7048 w 14096"/>
                <a:gd name="connsiteY3" fmla="*/ 2 h 14099"/>
                <a:gd name="connsiteX4" fmla="*/ 14097 w 14096"/>
                <a:gd name="connsiteY4" fmla="*/ 7051 h 140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9">
                  <a:moveTo>
                    <a:pt x="14097" y="7051"/>
                  </a:moveTo>
                  <a:cubicBezTo>
                    <a:pt x="14097" y="10956"/>
                    <a:pt x="10954" y="14099"/>
                    <a:pt x="7048" y="14099"/>
                  </a:cubicBezTo>
                  <a:cubicBezTo>
                    <a:pt x="3143" y="14099"/>
                    <a:pt x="0" y="10956"/>
                    <a:pt x="0" y="7051"/>
                  </a:cubicBezTo>
                  <a:cubicBezTo>
                    <a:pt x="0" y="3145"/>
                    <a:pt x="3143" y="2"/>
                    <a:pt x="7048" y="2"/>
                  </a:cubicBezTo>
                  <a:cubicBezTo>
                    <a:pt x="10858" y="-93"/>
                    <a:pt x="14097" y="3145"/>
                    <a:pt x="14097" y="7051"/>
                  </a:cubicBezTo>
                  <a:close/>
                </a:path>
              </a:pathLst>
            </a:custGeom>
            <a:grpFill/>
            <a:ln w="9525" cap="flat">
              <a:noFill/>
              <a:prstDash val="solid"/>
              <a:miter/>
            </a:ln>
          </p:spPr>
          <p:txBody>
            <a:bodyPr rtlCol="0" anchor="ctr"/>
            <a:lstStyle/>
            <a:p>
              <a:endParaRPr lang="en-US"/>
            </a:p>
          </p:txBody>
        </p:sp>
        <p:sp>
          <p:nvSpPr>
            <p:cNvPr id="360" name="Freeform: Shape 359">
              <a:extLst>
                <a:ext uri="{FF2B5EF4-FFF2-40B4-BE49-F238E27FC236}">
                  <a16:creationId xmlns:a16="http://schemas.microsoft.com/office/drawing/2014/main" id="{CFC80050-240D-434A-BFCB-DE4DA4FAFB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444424" y="3777424"/>
              <a:ext cx="14096" cy="14096"/>
            </a:xfrm>
            <a:custGeom>
              <a:avLst/>
              <a:gdLst>
                <a:gd name="connsiteX0" fmla="*/ 14097 w 14096"/>
                <a:gd name="connsiteY0" fmla="*/ 7048 h 14096"/>
                <a:gd name="connsiteX1" fmla="*/ 7048 w 14096"/>
                <a:gd name="connsiteY1" fmla="*/ 14097 h 14096"/>
                <a:gd name="connsiteX2" fmla="*/ 0 w 14096"/>
                <a:gd name="connsiteY2" fmla="*/ 7048 h 14096"/>
                <a:gd name="connsiteX3" fmla="*/ 7048 w 14096"/>
                <a:gd name="connsiteY3" fmla="*/ 0 h 14096"/>
                <a:gd name="connsiteX4" fmla="*/ 14097 w 14096"/>
                <a:gd name="connsiteY4" fmla="*/ 7048 h 140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096" h="14096">
                  <a:moveTo>
                    <a:pt x="14097" y="7048"/>
                  </a:moveTo>
                  <a:cubicBezTo>
                    <a:pt x="14097" y="10941"/>
                    <a:pt x="10941" y="14097"/>
                    <a:pt x="7048" y="14097"/>
                  </a:cubicBezTo>
                  <a:cubicBezTo>
                    <a:pt x="3156" y="14097"/>
                    <a:pt x="0" y="10941"/>
                    <a:pt x="0" y="7048"/>
                  </a:cubicBezTo>
                  <a:cubicBezTo>
                    <a:pt x="0" y="3156"/>
                    <a:pt x="3156" y="0"/>
                    <a:pt x="7048" y="0"/>
                  </a:cubicBezTo>
                  <a:cubicBezTo>
                    <a:pt x="10941" y="0"/>
                    <a:pt x="14097" y="3156"/>
                    <a:pt x="14097" y="7048"/>
                  </a:cubicBezTo>
                  <a:close/>
                </a:path>
              </a:pathLst>
            </a:custGeom>
            <a:grpFill/>
            <a:ln w="9525" cap="flat">
              <a:noFill/>
              <a:prstDash val="solid"/>
              <a:miter/>
            </a:ln>
          </p:spPr>
          <p:txBody>
            <a:bodyPr rtlCol="0" anchor="ctr"/>
            <a:lstStyle/>
            <a:p>
              <a:endParaRPr lang="en-US" dirty="0"/>
            </a:p>
          </p:txBody>
        </p:sp>
      </p:grpSp>
      <p:sp>
        <p:nvSpPr>
          <p:cNvPr id="3" name="Content Placeholder 2">
            <a:extLst>
              <a:ext uri="{FF2B5EF4-FFF2-40B4-BE49-F238E27FC236}">
                <a16:creationId xmlns:a16="http://schemas.microsoft.com/office/drawing/2014/main" id="{39E56352-C46C-773C-4F7F-DE752D9AF5A4}"/>
              </a:ext>
            </a:extLst>
          </p:cNvPr>
          <p:cNvSpPr>
            <a:spLocks noGrp="1"/>
          </p:cNvSpPr>
          <p:nvPr>
            <p:ph idx="1"/>
          </p:nvPr>
        </p:nvSpPr>
        <p:spPr>
          <a:xfrm>
            <a:off x="6477270" y="1130846"/>
            <a:ext cx="4974771" cy="4351338"/>
          </a:xfrm>
        </p:spPr>
        <p:txBody>
          <a:bodyPr>
            <a:normAutofit/>
          </a:bodyPr>
          <a:lstStyle/>
          <a:p>
            <a:r>
              <a:rPr lang="en-US" b="1">
                <a:solidFill>
                  <a:schemeClr val="bg1"/>
                </a:solidFill>
              </a:rPr>
              <a:t>Dashboard 1: </a:t>
            </a:r>
            <a:r>
              <a:rPr lang="en-US">
                <a:solidFill>
                  <a:schemeClr val="bg1"/>
                </a:solidFill>
              </a:rPr>
              <a:t>Deep-dive into Customer Demographics and behavior.</a:t>
            </a:r>
          </a:p>
          <a:p>
            <a:r>
              <a:rPr lang="en-US" b="1">
                <a:solidFill>
                  <a:schemeClr val="bg1"/>
                </a:solidFill>
              </a:rPr>
              <a:t>Dashboard 2: </a:t>
            </a:r>
            <a:r>
              <a:rPr lang="en-US">
                <a:solidFill>
                  <a:schemeClr val="bg1"/>
                </a:solidFill>
              </a:rPr>
              <a:t>Real-time Transaction monitoring and spending patterns.</a:t>
            </a:r>
          </a:p>
          <a:p>
            <a:r>
              <a:rPr lang="en-US" b="1">
                <a:solidFill>
                  <a:schemeClr val="bg1"/>
                </a:solidFill>
              </a:rPr>
              <a:t>Key Focus: </a:t>
            </a:r>
            <a:r>
              <a:rPr lang="en-US">
                <a:solidFill>
                  <a:schemeClr val="bg1"/>
                </a:solidFill>
              </a:rPr>
              <a:t>Gender-based performance, income-level spending, and weekly revenue trends.</a:t>
            </a:r>
            <a:endParaRPr lang="en-IN">
              <a:solidFill>
                <a:schemeClr val="bg1"/>
              </a:solidFill>
            </a:endParaRPr>
          </a:p>
        </p:txBody>
      </p:sp>
    </p:spTree>
    <p:extLst>
      <p:ext uri="{BB962C8B-B14F-4D97-AF65-F5344CB8AC3E}">
        <p14:creationId xmlns:p14="http://schemas.microsoft.com/office/powerpoint/2010/main" val="24114722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07EF6B7-1338-4443-8C46-6A318D952D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DAAE4CDD-124C-4DCF-9584-B6033B545DD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167271" cy="6858000"/>
          </a:xfrm>
          <a:custGeom>
            <a:avLst/>
            <a:gdLst>
              <a:gd name="connsiteX0" fmla="*/ 0 w 4167271"/>
              <a:gd name="connsiteY0" fmla="*/ 0 h 6858000"/>
              <a:gd name="connsiteX1" fmla="*/ 2259550 w 4167271"/>
              <a:gd name="connsiteY1" fmla="*/ 0 h 6858000"/>
              <a:gd name="connsiteX2" fmla="*/ 2387803 w 4167271"/>
              <a:gd name="connsiteY2" fmla="*/ 82222 h 6858000"/>
              <a:gd name="connsiteX3" fmla="*/ 4167271 w 4167271"/>
              <a:gd name="connsiteY3" fmla="*/ 3429000 h 6858000"/>
              <a:gd name="connsiteX4" fmla="*/ 2387803 w 4167271"/>
              <a:gd name="connsiteY4" fmla="*/ 6775779 h 6858000"/>
              <a:gd name="connsiteX5" fmla="*/ 2259550 w 4167271"/>
              <a:gd name="connsiteY5" fmla="*/ 6858000 h 6858000"/>
              <a:gd name="connsiteX6" fmla="*/ 0 w 4167271"/>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67271" h="6858000">
                <a:moveTo>
                  <a:pt x="0" y="0"/>
                </a:moveTo>
                <a:lnTo>
                  <a:pt x="2259550" y="0"/>
                </a:lnTo>
                <a:lnTo>
                  <a:pt x="2387803" y="82222"/>
                </a:lnTo>
                <a:cubicBezTo>
                  <a:pt x="3461407" y="807534"/>
                  <a:pt x="4167271" y="2035835"/>
                  <a:pt x="4167271" y="3429000"/>
                </a:cubicBezTo>
                <a:cubicBezTo>
                  <a:pt x="4167271" y="4822165"/>
                  <a:pt x="3461407" y="6050467"/>
                  <a:pt x="2387803" y="6775779"/>
                </a:cubicBezTo>
                <a:lnTo>
                  <a:pt x="2259550" y="6858000"/>
                </a:lnTo>
                <a:lnTo>
                  <a:pt x="0" y="685800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232D6BA-C49B-EFB4-E140-229F13CC605B}"/>
              </a:ext>
            </a:extLst>
          </p:cNvPr>
          <p:cNvSpPr>
            <a:spLocks noGrp="1"/>
          </p:cNvSpPr>
          <p:nvPr>
            <p:ph type="title"/>
          </p:nvPr>
        </p:nvSpPr>
        <p:spPr>
          <a:xfrm>
            <a:off x="686834" y="1153572"/>
            <a:ext cx="3200400" cy="4461163"/>
          </a:xfrm>
        </p:spPr>
        <p:txBody>
          <a:bodyPr>
            <a:normAutofit/>
          </a:bodyPr>
          <a:lstStyle/>
          <a:p>
            <a:r>
              <a:rPr lang="en-IN">
                <a:solidFill>
                  <a:srgbClr val="FFFFFF"/>
                </a:solidFill>
              </a:rPr>
              <a:t>The Foundation: Data &amp; Purpose</a:t>
            </a:r>
          </a:p>
        </p:txBody>
      </p:sp>
      <p:sp>
        <p:nvSpPr>
          <p:cNvPr id="12" name="Arc 11">
            <a:extLst>
              <a:ext uri="{FF2B5EF4-FFF2-40B4-BE49-F238E27FC236}">
                <a16:creationId xmlns:a16="http://schemas.microsoft.com/office/drawing/2014/main" id="{081E4A58-353D-44AE-B2FC-2A74E2E400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7550402" y="2455479"/>
            <a:ext cx="4083433" cy="4083433"/>
          </a:xfrm>
          <a:prstGeom prst="arc">
            <a:avLst/>
          </a:prstGeom>
          <a:ln w="127000" cap="rnd">
            <a:solidFill>
              <a:schemeClr val="accent4"/>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dirty="0"/>
          </a:p>
        </p:txBody>
      </p:sp>
      <p:sp>
        <p:nvSpPr>
          <p:cNvPr id="3" name="Content Placeholder 2">
            <a:extLst>
              <a:ext uri="{FF2B5EF4-FFF2-40B4-BE49-F238E27FC236}">
                <a16:creationId xmlns:a16="http://schemas.microsoft.com/office/drawing/2014/main" id="{C4F9AB51-978B-AF7C-9F2E-05DC525E0470}"/>
              </a:ext>
            </a:extLst>
          </p:cNvPr>
          <p:cNvSpPr>
            <a:spLocks noGrp="1"/>
          </p:cNvSpPr>
          <p:nvPr>
            <p:ph idx="1"/>
          </p:nvPr>
        </p:nvSpPr>
        <p:spPr>
          <a:xfrm>
            <a:off x="4447308" y="591344"/>
            <a:ext cx="6906491" cy="5585619"/>
          </a:xfrm>
        </p:spPr>
        <p:txBody>
          <a:bodyPr anchor="ctr">
            <a:normAutofit/>
          </a:bodyPr>
          <a:lstStyle/>
          <a:p>
            <a:r>
              <a:rPr lang="en-US" dirty="0"/>
              <a:t>Customer Data: 10k+ records (Age, Gender, Job, Income).</a:t>
            </a:r>
          </a:p>
          <a:p>
            <a:r>
              <a:rPr lang="en-US" dirty="0"/>
              <a:t>Transaction Data: Real-time logs (Amount, Category, Chip vs. Swipe).</a:t>
            </a:r>
          </a:p>
          <a:p>
            <a:r>
              <a:rPr lang="en-US" dirty="0"/>
              <a:t>The Why: To identify high-value segments and optimize marketing spend based on actual usage.</a:t>
            </a:r>
            <a:endParaRPr lang="en-IN" dirty="0"/>
          </a:p>
        </p:txBody>
      </p:sp>
    </p:spTree>
    <p:extLst>
      <p:ext uri="{BB962C8B-B14F-4D97-AF65-F5344CB8AC3E}">
        <p14:creationId xmlns:p14="http://schemas.microsoft.com/office/powerpoint/2010/main" val="4277409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7E946DE-B336-A434-B281-6F4E0710FDCC}"/>
              </a:ext>
            </a:extLst>
          </p:cNvPr>
          <p:cNvSpPr>
            <a:spLocks noGrp="1"/>
          </p:cNvSpPr>
          <p:nvPr>
            <p:ph type="title"/>
          </p:nvPr>
        </p:nvSpPr>
        <p:spPr>
          <a:xfrm>
            <a:off x="645064" y="525982"/>
            <a:ext cx="4282983" cy="1200361"/>
          </a:xfrm>
        </p:spPr>
        <p:txBody>
          <a:bodyPr anchor="b">
            <a:normAutofit/>
          </a:bodyPr>
          <a:lstStyle/>
          <a:p>
            <a:r>
              <a:rPr lang="en-IN" sz="3600"/>
              <a:t>Engineering the Data Pipeline</a:t>
            </a:r>
          </a:p>
        </p:txBody>
      </p:sp>
      <p:sp>
        <p:nvSpPr>
          <p:cNvPr id="20" name="Rectangle 19">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C4C050FB-D7F1-DBEE-73AE-20CE18F4CAE2}"/>
              </a:ext>
            </a:extLst>
          </p:cNvPr>
          <p:cNvSpPr>
            <a:spLocks noGrp="1"/>
          </p:cNvSpPr>
          <p:nvPr>
            <p:ph idx="1"/>
          </p:nvPr>
        </p:nvSpPr>
        <p:spPr>
          <a:xfrm>
            <a:off x="645066" y="2031101"/>
            <a:ext cx="4282984" cy="3511943"/>
          </a:xfrm>
        </p:spPr>
        <p:txBody>
          <a:bodyPr anchor="ctr">
            <a:normAutofit/>
          </a:bodyPr>
          <a:lstStyle/>
          <a:p>
            <a:r>
              <a:rPr lang="en-US" sz="1800" dirty="0"/>
              <a:t>Power Query: Standardized dates and removed nulls.</a:t>
            </a:r>
          </a:p>
          <a:p>
            <a:r>
              <a:rPr lang="en-US" sz="1800" dirty="0"/>
              <a:t>Relationship: One-to-Many link via </a:t>
            </a:r>
            <a:r>
              <a:rPr lang="en-US" sz="1800" dirty="0" err="1"/>
              <a:t>Client_Num</a:t>
            </a:r>
            <a:r>
              <a:rPr lang="en-US" sz="1800" dirty="0"/>
              <a:t>.</a:t>
            </a:r>
          </a:p>
          <a:p>
            <a:r>
              <a:rPr lang="en-US" sz="1800" dirty="0"/>
              <a:t>Optimization: Transformed text-based 'Week-1' strings into numeric values for time-series logic.</a:t>
            </a:r>
            <a:endParaRPr lang="en-IN" sz="1800" dirty="0"/>
          </a:p>
        </p:txBody>
      </p:sp>
      <p:sp>
        <p:nvSpPr>
          <p:cNvPr id="21" name="Rectangle 20">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B11A6F03-54D1-2370-E568-3C38C0B6653D}"/>
              </a:ext>
            </a:extLst>
          </p:cNvPr>
          <p:cNvPicPr>
            <a:picLocks noChangeAspect="1"/>
          </p:cNvPicPr>
          <p:nvPr/>
        </p:nvPicPr>
        <p:blipFill>
          <a:blip r:embed="rId3"/>
          <a:stretch>
            <a:fillRect/>
          </a:stretch>
        </p:blipFill>
        <p:spPr>
          <a:xfrm>
            <a:off x="5987738" y="1982946"/>
            <a:ext cx="5628018" cy="2659237"/>
          </a:xfrm>
          <a:prstGeom prst="rect">
            <a:avLst/>
          </a:prstGeom>
        </p:spPr>
      </p:pic>
    </p:spTree>
    <p:extLst>
      <p:ext uri="{BB962C8B-B14F-4D97-AF65-F5344CB8AC3E}">
        <p14:creationId xmlns:p14="http://schemas.microsoft.com/office/powerpoint/2010/main" val="31567175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66E48AFA-8884-4F68-A44F-D2C1E8609C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84BBB3A5-AD04-00B7-DA1A-385E2103AEA9}"/>
              </a:ext>
            </a:extLst>
          </p:cNvPr>
          <p:cNvSpPr>
            <a:spLocks noGrp="1"/>
          </p:cNvSpPr>
          <p:nvPr>
            <p:ph type="title"/>
          </p:nvPr>
        </p:nvSpPr>
        <p:spPr>
          <a:xfrm>
            <a:off x="838201" y="3998018"/>
            <a:ext cx="3981854" cy="2216513"/>
          </a:xfrm>
        </p:spPr>
        <p:txBody>
          <a:bodyPr>
            <a:normAutofit/>
          </a:bodyPr>
          <a:lstStyle/>
          <a:p>
            <a:r>
              <a:rPr lang="en-US" dirty="0"/>
              <a:t>The Brain of the Report: DAX Measures</a:t>
            </a:r>
            <a:endParaRPr lang="en-IN" dirty="0"/>
          </a:p>
        </p:txBody>
      </p:sp>
      <p:sp>
        <p:nvSpPr>
          <p:cNvPr id="15" name="Arc 14">
            <a:extLst>
              <a:ext uri="{FF2B5EF4-FFF2-40B4-BE49-F238E27FC236}">
                <a16:creationId xmlns:a16="http://schemas.microsoft.com/office/drawing/2014/main" id="{969D19A6-08CB-498C-93EC-3FFB021FC6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269068">
            <a:off x="8717845" y="3339275"/>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3FF1B8F-C3F1-DAC5-AB7E-46BC685933D8}"/>
              </a:ext>
            </a:extLst>
          </p:cNvPr>
          <p:cNvPicPr>
            <a:picLocks noChangeAspect="1"/>
          </p:cNvPicPr>
          <p:nvPr/>
        </p:nvPicPr>
        <p:blipFill>
          <a:blip r:embed="rId3"/>
          <a:stretch>
            <a:fillRect/>
          </a:stretch>
        </p:blipFill>
        <p:spPr>
          <a:xfrm>
            <a:off x="659914" y="932941"/>
            <a:ext cx="10872172" cy="2500598"/>
          </a:xfrm>
          <a:custGeom>
            <a:avLst/>
            <a:gdLst/>
            <a:ahLst/>
            <a:cxnLst/>
            <a:rect l="l" t="t" r="r" b="b"/>
            <a:pathLst>
              <a:path w="10580201" h="2957472">
                <a:moveTo>
                  <a:pt x="88961" y="0"/>
                </a:moveTo>
                <a:lnTo>
                  <a:pt x="10491240" y="0"/>
                </a:lnTo>
                <a:cubicBezTo>
                  <a:pt x="10540372" y="0"/>
                  <a:pt x="10580201" y="39829"/>
                  <a:pt x="10580201" y="88961"/>
                </a:cubicBezTo>
                <a:lnTo>
                  <a:pt x="10580201" y="2868511"/>
                </a:lnTo>
                <a:cubicBezTo>
                  <a:pt x="10580201" y="2917643"/>
                  <a:pt x="10540372" y="2957472"/>
                  <a:pt x="10491240" y="2957472"/>
                </a:cubicBezTo>
                <a:lnTo>
                  <a:pt x="88961" y="2957472"/>
                </a:lnTo>
                <a:cubicBezTo>
                  <a:pt x="39829" y="2957472"/>
                  <a:pt x="0" y="2917643"/>
                  <a:pt x="0" y="2868511"/>
                </a:cubicBezTo>
                <a:lnTo>
                  <a:pt x="0" y="88961"/>
                </a:lnTo>
                <a:cubicBezTo>
                  <a:pt x="0" y="39829"/>
                  <a:pt x="39829" y="0"/>
                  <a:pt x="88961" y="0"/>
                </a:cubicBezTo>
                <a:close/>
              </a:path>
            </a:pathLst>
          </a:custGeom>
        </p:spPr>
      </p:pic>
      <p:sp>
        <p:nvSpPr>
          <p:cNvPr id="3" name="Content Placeholder 2">
            <a:extLst>
              <a:ext uri="{FF2B5EF4-FFF2-40B4-BE49-F238E27FC236}">
                <a16:creationId xmlns:a16="http://schemas.microsoft.com/office/drawing/2014/main" id="{5CA14889-7DCD-8D7B-BAC8-104A96BFA425}"/>
              </a:ext>
            </a:extLst>
          </p:cNvPr>
          <p:cNvSpPr>
            <a:spLocks noGrp="1"/>
          </p:cNvSpPr>
          <p:nvPr>
            <p:ph idx="1"/>
          </p:nvPr>
        </p:nvSpPr>
        <p:spPr>
          <a:xfrm>
            <a:off x="4970835" y="3998019"/>
            <a:ext cx="6382966" cy="2216512"/>
          </a:xfrm>
        </p:spPr>
        <p:txBody>
          <a:bodyPr>
            <a:normAutofit/>
          </a:bodyPr>
          <a:lstStyle/>
          <a:p>
            <a:r>
              <a:rPr lang="en-US" sz="2200"/>
              <a:t>Categorization: Custom groups for Age and Income.</a:t>
            </a:r>
          </a:p>
          <a:p>
            <a:r>
              <a:rPr lang="en-US" sz="2200"/>
              <a:t>Time Intelligence: Current vs. Previous week revenue logic.</a:t>
            </a:r>
          </a:p>
          <a:p>
            <a:r>
              <a:rPr lang="en-US" sz="2200"/>
              <a:t>KPIs: Automated calculations for WoW (Week-on-Week) growth.</a:t>
            </a:r>
            <a:endParaRPr lang="en-IN" sz="2200"/>
          </a:p>
        </p:txBody>
      </p:sp>
    </p:spTree>
    <p:extLst>
      <p:ext uri="{BB962C8B-B14F-4D97-AF65-F5344CB8AC3E}">
        <p14:creationId xmlns:p14="http://schemas.microsoft.com/office/powerpoint/2010/main" val="9929356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7A1CE1-158B-8618-DA38-EA00496006E3}"/>
              </a:ext>
            </a:extLst>
          </p:cNvPr>
          <p:cNvSpPr>
            <a:spLocks noGrp="1"/>
          </p:cNvSpPr>
          <p:nvPr>
            <p:ph type="title"/>
          </p:nvPr>
        </p:nvSpPr>
        <p:spPr>
          <a:xfrm>
            <a:off x="630936" y="640823"/>
            <a:ext cx="3419856" cy="5583148"/>
          </a:xfrm>
        </p:spPr>
        <p:txBody>
          <a:bodyPr anchor="ctr">
            <a:normAutofit/>
          </a:bodyPr>
          <a:lstStyle/>
          <a:p>
            <a:r>
              <a:rPr lang="en-IN" sz="4200"/>
              <a:t>Dashboard 1: Customer Demographics</a:t>
            </a:r>
          </a:p>
        </p:txBody>
      </p:sp>
      <p:sp>
        <p:nvSpPr>
          <p:cNvPr id="26"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063A1FA-ADE2-D3C0-EFF4-717E7D1C19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4296" y="648653"/>
            <a:ext cx="6894576" cy="3878198"/>
          </a:xfrm>
          <a:prstGeom prst="rect">
            <a:avLst/>
          </a:prstGeom>
        </p:spPr>
      </p:pic>
      <p:sp>
        <p:nvSpPr>
          <p:cNvPr id="3" name="Content Placeholder 2">
            <a:extLst>
              <a:ext uri="{FF2B5EF4-FFF2-40B4-BE49-F238E27FC236}">
                <a16:creationId xmlns:a16="http://schemas.microsoft.com/office/drawing/2014/main" id="{386D8CB8-AA05-DBF5-3026-6DA5C603952D}"/>
              </a:ext>
            </a:extLst>
          </p:cNvPr>
          <p:cNvSpPr>
            <a:spLocks noGrp="1"/>
          </p:cNvSpPr>
          <p:nvPr>
            <p:ph idx="1"/>
          </p:nvPr>
        </p:nvSpPr>
        <p:spPr>
          <a:xfrm>
            <a:off x="4654296" y="4798577"/>
            <a:ext cx="6894576" cy="1428487"/>
          </a:xfrm>
        </p:spPr>
        <p:txBody>
          <a:bodyPr anchor="t">
            <a:normAutofit/>
          </a:bodyPr>
          <a:lstStyle/>
          <a:p>
            <a:r>
              <a:rPr lang="en-US" sz="2000"/>
              <a:t>Interactive KPI Cards (Total Revenue, Customers, Interest).</a:t>
            </a:r>
          </a:p>
          <a:p>
            <a:r>
              <a:rPr lang="en-US" sz="2000"/>
              <a:t>Demographic breakdowns (Education, Marital Status, Job).</a:t>
            </a:r>
          </a:p>
          <a:p>
            <a:r>
              <a:rPr lang="en-US" sz="2000"/>
              <a:t>Geographic distribution by State.</a:t>
            </a:r>
            <a:endParaRPr lang="en-IN" sz="2000"/>
          </a:p>
        </p:txBody>
      </p:sp>
    </p:spTree>
    <p:extLst>
      <p:ext uri="{BB962C8B-B14F-4D97-AF65-F5344CB8AC3E}">
        <p14:creationId xmlns:p14="http://schemas.microsoft.com/office/powerpoint/2010/main" val="3787797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30" name="Freeform: Shape 29">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32" name="Freeform: Shape 31">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11B9CDC-A222-EAF5-1C06-96C10CEF5CC2}"/>
              </a:ext>
            </a:extLst>
          </p:cNvPr>
          <p:cNvSpPr>
            <a:spLocks noGrp="1"/>
          </p:cNvSpPr>
          <p:nvPr>
            <p:ph type="title"/>
          </p:nvPr>
        </p:nvSpPr>
        <p:spPr>
          <a:xfrm>
            <a:off x="371094" y="1161288"/>
            <a:ext cx="3438144" cy="1239012"/>
          </a:xfrm>
        </p:spPr>
        <p:txBody>
          <a:bodyPr vert="horz" lIns="91440" tIns="45720" rIns="91440" bIns="45720" rtlCol="0" anchor="ctr">
            <a:normAutofit/>
          </a:bodyPr>
          <a:lstStyle/>
          <a:p>
            <a:r>
              <a:rPr lang="en-US" sz="2800" kern="1200">
                <a:latin typeface="+mj-lt"/>
                <a:ea typeface="+mj-ea"/>
                <a:cs typeface="+mj-cs"/>
              </a:rPr>
              <a:t>Dashboard 1 Deep-Dive</a:t>
            </a:r>
          </a:p>
        </p:txBody>
      </p:sp>
      <p:sp>
        <p:nvSpPr>
          <p:cNvPr id="34" name="Rectangle 33">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6" name="Rectangle 35">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E2DC5244-0259-F52F-40C7-272789216849}"/>
              </a:ext>
            </a:extLst>
          </p:cNvPr>
          <p:cNvSpPr>
            <a:spLocks noGrp="1"/>
          </p:cNvSpPr>
          <p:nvPr>
            <p:ph idx="1"/>
          </p:nvPr>
        </p:nvSpPr>
        <p:spPr>
          <a:xfrm>
            <a:off x="371094" y="2718054"/>
            <a:ext cx="3438906" cy="3207258"/>
          </a:xfrm>
        </p:spPr>
        <p:txBody>
          <a:bodyPr vert="horz" lIns="91440" tIns="45720" rIns="91440" bIns="45720" rtlCol="0" anchor="t">
            <a:normAutofit/>
          </a:bodyPr>
          <a:lstStyle/>
          <a:p>
            <a:pPr marL="0" indent="0">
              <a:buNone/>
            </a:pPr>
            <a:r>
              <a:rPr lang="en-US" sz="1700" kern="1200">
                <a:latin typeface="+mn-lt"/>
                <a:ea typeface="+mn-ea"/>
                <a:cs typeface="+mn-cs"/>
              </a:rPr>
              <a:t>Focus: Note how high-income earners have an annual income of &gt; $70,000.</a:t>
            </a:r>
          </a:p>
        </p:txBody>
      </p:sp>
      <p:pic>
        <p:nvPicPr>
          <p:cNvPr id="5" name="Picture 4">
            <a:extLst>
              <a:ext uri="{FF2B5EF4-FFF2-40B4-BE49-F238E27FC236}">
                <a16:creationId xmlns:a16="http://schemas.microsoft.com/office/drawing/2014/main" id="{F2797116-FB30-6996-DA0C-F06077D1F99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0207" y="1161288"/>
            <a:ext cx="7207257" cy="4052515"/>
          </a:xfrm>
          <a:prstGeom prst="rect">
            <a:avLst/>
          </a:prstGeom>
        </p:spPr>
      </p:pic>
    </p:spTree>
    <p:extLst>
      <p:ext uri="{BB962C8B-B14F-4D97-AF65-F5344CB8AC3E}">
        <p14:creationId xmlns:p14="http://schemas.microsoft.com/office/powerpoint/2010/main" val="37213993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3FCE056-0E0A-1F71-60AD-88841267CFDA}"/>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3">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Freeform: Shape 15">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45F6C21-9F8D-967E-4961-185D2880FE8A}"/>
              </a:ext>
            </a:extLst>
          </p:cNvPr>
          <p:cNvSpPr>
            <a:spLocks noGrp="1"/>
          </p:cNvSpPr>
          <p:nvPr>
            <p:ph type="title"/>
          </p:nvPr>
        </p:nvSpPr>
        <p:spPr>
          <a:xfrm>
            <a:off x="371094" y="1161288"/>
            <a:ext cx="3438144" cy="1239012"/>
          </a:xfrm>
        </p:spPr>
        <p:txBody>
          <a:bodyPr anchor="ctr">
            <a:normAutofit/>
          </a:bodyPr>
          <a:lstStyle/>
          <a:p>
            <a:r>
              <a:rPr lang="en-IN" sz="2800"/>
              <a:t>Dashboard 1 Deep-Dive</a:t>
            </a:r>
          </a:p>
        </p:txBody>
      </p:sp>
      <p:sp>
        <p:nvSpPr>
          <p:cNvPr id="18" name="Rectangle 17">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1EF34319-50CD-C75B-C29E-58B72872F521}"/>
              </a:ext>
            </a:extLst>
          </p:cNvPr>
          <p:cNvSpPr>
            <a:spLocks noGrp="1"/>
          </p:cNvSpPr>
          <p:nvPr>
            <p:ph idx="1"/>
          </p:nvPr>
        </p:nvSpPr>
        <p:spPr>
          <a:xfrm>
            <a:off x="371094" y="2718054"/>
            <a:ext cx="3438906" cy="3207258"/>
          </a:xfrm>
        </p:spPr>
        <p:txBody>
          <a:bodyPr anchor="t">
            <a:normAutofit/>
          </a:bodyPr>
          <a:lstStyle/>
          <a:p>
            <a:r>
              <a:rPr lang="en-US" sz="1700"/>
              <a:t>Focus: Female customers with a Graduate-level education. This group represents a high-retention, low-risk segment.</a:t>
            </a:r>
            <a:endParaRPr lang="en-IN" sz="1700"/>
          </a:p>
        </p:txBody>
      </p:sp>
      <p:pic>
        <p:nvPicPr>
          <p:cNvPr id="5" name="Picture 4">
            <a:extLst>
              <a:ext uri="{FF2B5EF4-FFF2-40B4-BE49-F238E27FC236}">
                <a16:creationId xmlns:a16="http://schemas.microsoft.com/office/drawing/2014/main" id="{AA6867E7-F49B-FB97-BA1D-3157C68D3009}"/>
              </a:ext>
            </a:extLst>
          </p:cNvPr>
          <p:cNvPicPr>
            <a:picLocks noChangeAspect="1"/>
          </p:cNvPicPr>
          <p:nvPr/>
        </p:nvPicPr>
        <p:blipFill>
          <a:blip r:embed="rId3"/>
          <a:stretch>
            <a:fillRect/>
          </a:stretch>
        </p:blipFill>
        <p:spPr>
          <a:xfrm>
            <a:off x="4689607" y="1351898"/>
            <a:ext cx="7396133" cy="4154204"/>
          </a:xfrm>
          <a:prstGeom prst="rect">
            <a:avLst/>
          </a:prstGeom>
        </p:spPr>
      </p:pic>
    </p:spTree>
    <p:extLst>
      <p:ext uri="{BB962C8B-B14F-4D97-AF65-F5344CB8AC3E}">
        <p14:creationId xmlns:p14="http://schemas.microsoft.com/office/powerpoint/2010/main" val="28825503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2029452-EE43-9D77-7AE9-DE0FF3F119DC}"/>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3">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6" name="Freeform: Shape 15">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16BC1E-3AC4-F3EF-7F31-3E213368E5FF}"/>
              </a:ext>
            </a:extLst>
          </p:cNvPr>
          <p:cNvSpPr>
            <a:spLocks noGrp="1"/>
          </p:cNvSpPr>
          <p:nvPr>
            <p:ph type="title"/>
          </p:nvPr>
        </p:nvSpPr>
        <p:spPr>
          <a:xfrm>
            <a:off x="371094" y="1161288"/>
            <a:ext cx="3438144" cy="1239012"/>
          </a:xfrm>
        </p:spPr>
        <p:txBody>
          <a:bodyPr anchor="ctr">
            <a:normAutofit/>
          </a:bodyPr>
          <a:lstStyle/>
          <a:p>
            <a:r>
              <a:rPr lang="en-IN" sz="2800"/>
              <a:t>Dashboard 1 Deep-Dive</a:t>
            </a:r>
          </a:p>
        </p:txBody>
      </p:sp>
      <p:sp>
        <p:nvSpPr>
          <p:cNvPr id="18" name="Rectangle 17">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0" name="Rectangle 19">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0B69141D-997D-6653-D90A-C3F8ADABC39D}"/>
              </a:ext>
            </a:extLst>
          </p:cNvPr>
          <p:cNvSpPr>
            <a:spLocks noGrp="1"/>
          </p:cNvSpPr>
          <p:nvPr>
            <p:ph idx="1"/>
          </p:nvPr>
        </p:nvSpPr>
        <p:spPr>
          <a:xfrm>
            <a:off x="371094" y="2718054"/>
            <a:ext cx="3438906" cy="3207258"/>
          </a:xfrm>
        </p:spPr>
        <p:txBody>
          <a:bodyPr anchor="t">
            <a:normAutofit/>
          </a:bodyPr>
          <a:lstStyle/>
          <a:p>
            <a:r>
              <a:rPr lang="en-US" sz="1700"/>
              <a:t>Focus: Male customers with 'Single' marital status. Represents the largest segment of 'Blue' cardholders—prime for 'Silver' tier upgrades based on credit score.</a:t>
            </a:r>
            <a:endParaRPr lang="en-IN" sz="1700"/>
          </a:p>
        </p:txBody>
      </p:sp>
      <p:pic>
        <p:nvPicPr>
          <p:cNvPr id="5" name="Picture 4">
            <a:extLst>
              <a:ext uri="{FF2B5EF4-FFF2-40B4-BE49-F238E27FC236}">
                <a16:creationId xmlns:a16="http://schemas.microsoft.com/office/drawing/2014/main" id="{3265127F-3B20-0822-A697-D3384DEF70A4}"/>
              </a:ext>
            </a:extLst>
          </p:cNvPr>
          <p:cNvPicPr>
            <a:picLocks noChangeAspect="1"/>
          </p:cNvPicPr>
          <p:nvPr/>
        </p:nvPicPr>
        <p:blipFill>
          <a:blip r:embed="rId3"/>
          <a:stretch>
            <a:fillRect/>
          </a:stretch>
        </p:blipFill>
        <p:spPr>
          <a:xfrm>
            <a:off x="4698750" y="1426546"/>
            <a:ext cx="7354774" cy="4130974"/>
          </a:xfrm>
          <a:prstGeom prst="rect">
            <a:avLst/>
          </a:prstGeom>
        </p:spPr>
      </p:pic>
    </p:spTree>
    <p:extLst>
      <p:ext uri="{BB962C8B-B14F-4D97-AF65-F5344CB8AC3E}">
        <p14:creationId xmlns:p14="http://schemas.microsoft.com/office/powerpoint/2010/main" val="39605658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A8908DB7-C3A6-4FCB-9820-CEE02B398C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E12193-59DB-1E0E-DAA5-3B305662B1F7}"/>
              </a:ext>
            </a:extLst>
          </p:cNvPr>
          <p:cNvSpPr>
            <a:spLocks noGrp="1"/>
          </p:cNvSpPr>
          <p:nvPr>
            <p:ph type="title"/>
          </p:nvPr>
        </p:nvSpPr>
        <p:spPr>
          <a:xfrm>
            <a:off x="630936" y="640823"/>
            <a:ext cx="3419856" cy="5583148"/>
          </a:xfrm>
        </p:spPr>
        <p:txBody>
          <a:bodyPr anchor="ctr">
            <a:normAutofit/>
          </a:bodyPr>
          <a:lstStyle/>
          <a:p>
            <a:r>
              <a:rPr lang="en-IN" sz="5400"/>
              <a:t>Dashboard 2: Transaction Insights</a:t>
            </a:r>
          </a:p>
        </p:txBody>
      </p:sp>
      <p:sp>
        <p:nvSpPr>
          <p:cNvPr id="26" name="sketch line">
            <a:extLst>
              <a:ext uri="{FF2B5EF4-FFF2-40B4-BE49-F238E27FC236}">
                <a16:creationId xmlns:a16="http://schemas.microsoft.com/office/drawing/2014/main" id="{535742DD-1B16-4E9D-B715-0D74B4574A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267200" y="630936"/>
            <a:ext cx="18288" cy="5590381"/>
          </a:xfrm>
          <a:custGeom>
            <a:avLst/>
            <a:gdLst>
              <a:gd name="csX0" fmla="*/ 0 w 18288"/>
              <a:gd name="csY0" fmla="*/ 0 h 5590381"/>
              <a:gd name="csX1" fmla="*/ 18288 w 18288"/>
              <a:gd name="csY1" fmla="*/ 0 h 5590381"/>
              <a:gd name="csX2" fmla="*/ 18288 w 18288"/>
              <a:gd name="csY2" fmla="*/ 754701 h 5590381"/>
              <a:gd name="csX3" fmla="*/ 18288 w 18288"/>
              <a:gd name="csY3" fmla="*/ 1565307 h 5590381"/>
              <a:gd name="csX4" fmla="*/ 18288 w 18288"/>
              <a:gd name="csY4" fmla="*/ 2152297 h 5590381"/>
              <a:gd name="csX5" fmla="*/ 18288 w 18288"/>
              <a:gd name="csY5" fmla="*/ 2906998 h 5590381"/>
              <a:gd name="csX6" fmla="*/ 18288 w 18288"/>
              <a:gd name="csY6" fmla="*/ 3549892 h 5590381"/>
              <a:gd name="csX7" fmla="*/ 18288 w 18288"/>
              <a:gd name="csY7" fmla="*/ 4080978 h 5590381"/>
              <a:gd name="csX8" fmla="*/ 18288 w 18288"/>
              <a:gd name="csY8" fmla="*/ 4835680 h 5590381"/>
              <a:gd name="csX9" fmla="*/ 18288 w 18288"/>
              <a:gd name="csY9" fmla="*/ 5590381 h 5590381"/>
              <a:gd name="csX10" fmla="*/ 0 w 18288"/>
              <a:gd name="csY10" fmla="*/ 5590381 h 5590381"/>
              <a:gd name="csX11" fmla="*/ 0 w 18288"/>
              <a:gd name="csY11" fmla="*/ 4835680 h 5590381"/>
              <a:gd name="csX12" fmla="*/ 0 w 18288"/>
              <a:gd name="csY12" fmla="*/ 4304593 h 5590381"/>
              <a:gd name="csX13" fmla="*/ 0 w 18288"/>
              <a:gd name="csY13" fmla="*/ 3773507 h 5590381"/>
              <a:gd name="csX14" fmla="*/ 0 w 18288"/>
              <a:gd name="csY14" fmla="*/ 3186517 h 5590381"/>
              <a:gd name="csX15" fmla="*/ 0 w 18288"/>
              <a:gd name="csY15" fmla="*/ 2487720 h 5590381"/>
              <a:gd name="csX16" fmla="*/ 0 w 18288"/>
              <a:gd name="csY16" fmla="*/ 1956633 h 5590381"/>
              <a:gd name="csX17" fmla="*/ 0 w 18288"/>
              <a:gd name="csY17" fmla="*/ 1425547 h 5590381"/>
              <a:gd name="csX18" fmla="*/ 0 w 18288"/>
              <a:gd name="csY18" fmla="*/ 614942 h 5590381"/>
              <a:gd name="csX19" fmla="*/ 0 w 18288"/>
              <a:gd name="csY19" fmla="*/ 0 h 559038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Lst>
            <a:rect l="l" t="t" r="r" b="b"/>
            <a:pathLst>
              <a:path w="18288" h="5590381" fill="none" extrusionOk="0">
                <a:moveTo>
                  <a:pt x="0" y="0"/>
                </a:moveTo>
                <a:cubicBezTo>
                  <a:pt x="7726" y="-435"/>
                  <a:pt x="14198" y="437"/>
                  <a:pt x="18288" y="0"/>
                </a:cubicBezTo>
                <a:cubicBezTo>
                  <a:pt x="-5226" y="225076"/>
                  <a:pt x="46275" y="562283"/>
                  <a:pt x="18288" y="754701"/>
                </a:cubicBezTo>
                <a:cubicBezTo>
                  <a:pt x="-9699" y="947119"/>
                  <a:pt x="30081" y="1239251"/>
                  <a:pt x="18288" y="1565307"/>
                </a:cubicBezTo>
                <a:cubicBezTo>
                  <a:pt x="6495" y="1891363"/>
                  <a:pt x="7160" y="1999140"/>
                  <a:pt x="18288" y="2152297"/>
                </a:cubicBezTo>
                <a:cubicBezTo>
                  <a:pt x="29417" y="2305454"/>
                  <a:pt x="28705" y="2598333"/>
                  <a:pt x="18288" y="2906998"/>
                </a:cubicBezTo>
                <a:cubicBezTo>
                  <a:pt x="7871" y="3215663"/>
                  <a:pt x="35263" y="3327412"/>
                  <a:pt x="18288" y="3549892"/>
                </a:cubicBezTo>
                <a:cubicBezTo>
                  <a:pt x="1313" y="3772372"/>
                  <a:pt x="38561" y="3843836"/>
                  <a:pt x="18288" y="4080978"/>
                </a:cubicBezTo>
                <a:cubicBezTo>
                  <a:pt x="-1985" y="4318120"/>
                  <a:pt x="-3806" y="4511166"/>
                  <a:pt x="18288" y="4835680"/>
                </a:cubicBezTo>
                <a:cubicBezTo>
                  <a:pt x="40382" y="5160194"/>
                  <a:pt x="-13070" y="5401748"/>
                  <a:pt x="18288" y="5590381"/>
                </a:cubicBezTo>
                <a:cubicBezTo>
                  <a:pt x="12010" y="5589863"/>
                  <a:pt x="6799" y="5589982"/>
                  <a:pt x="0" y="5590381"/>
                </a:cubicBezTo>
                <a:cubicBezTo>
                  <a:pt x="-6480" y="5250523"/>
                  <a:pt x="-32148" y="5052531"/>
                  <a:pt x="0" y="4835680"/>
                </a:cubicBezTo>
                <a:cubicBezTo>
                  <a:pt x="32148" y="4618829"/>
                  <a:pt x="5352" y="4496374"/>
                  <a:pt x="0" y="4304593"/>
                </a:cubicBezTo>
                <a:cubicBezTo>
                  <a:pt x="-5352" y="4112812"/>
                  <a:pt x="9645" y="3919423"/>
                  <a:pt x="0" y="3773507"/>
                </a:cubicBezTo>
                <a:cubicBezTo>
                  <a:pt x="-9645" y="3627591"/>
                  <a:pt x="-10654" y="3330687"/>
                  <a:pt x="0" y="3186517"/>
                </a:cubicBezTo>
                <a:cubicBezTo>
                  <a:pt x="10654" y="3042347"/>
                  <a:pt x="18181" y="2635923"/>
                  <a:pt x="0" y="2487720"/>
                </a:cubicBezTo>
                <a:cubicBezTo>
                  <a:pt x="-18181" y="2339517"/>
                  <a:pt x="-7947" y="2113537"/>
                  <a:pt x="0" y="1956633"/>
                </a:cubicBezTo>
                <a:cubicBezTo>
                  <a:pt x="7947" y="1799729"/>
                  <a:pt x="-15145" y="1657735"/>
                  <a:pt x="0" y="1425547"/>
                </a:cubicBezTo>
                <a:cubicBezTo>
                  <a:pt x="15145" y="1193359"/>
                  <a:pt x="-23832" y="948054"/>
                  <a:pt x="0" y="614942"/>
                </a:cubicBezTo>
                <a:cubicBezTo>
                  <a:pt x="23832" y="281831"/>
                  <a:pt x="2816" y="129878"/>
                  <a:pt x="0" y="0"/>
                </a:cubicBezTo>
                <a:close/>
              </a:path>
              <a:path w="18288" h="5590381" stroke="0" extrusionOk="0">
                <a:moveTo>
                  <a:pt x="0" y="0"/>
                </a:moveTo>
                <a:cubicBezTo>
                  <a:pt x="5871" y="848"/>
                  <a:pt x="11713" y="-200"/>
                  <a:pt x="18288" y="0"/>
                </a:cubicBezTo>
                <a:cubicBezTo>
                  <a:pt x="41141" y="165299"/>
                  <a:pt x="3613" y="427555"/>
                  <a:pt x="18288" y="698798"/>
                </a:cubicBezTo>
                <a:cubicBezTo>
                  <a:pt x="32963" y="970041"/>
                  <a:pt x="19680" y="1226199"/>
                  <a:pt x="18288" y="1397595"/>
                </a:cubicBezTo>
                <a:cubicBezTo>
                  <a:pt x="16896" y="1568991"/>
                  <a:pt x="38798" y="1794517"/>
                  <a:pt x="18288" y="2152297"/>
                </a:cubicBezTo>
                <a:cubicBezTo>
                  <a:pt x="-2222" y="2510077"/>
                  <a:pt x="40846" y="2594424"/>
                  <a:pt x="18288" y="2739287"/>
                </a:cubicBezTo>
                <a:cubicBezTo>
                  <a:pt x="-4270" y="2884150"/>
                  <a:pt x="27117" y="3129706"/>
                  <a:pt x="18288" y="3493988"/>
                </a:cubicBezTo>
                <a:cubicBezTo>
                  <a:pt x="9459" y="3858270"/>
                  <a:pt x="54201" y="4041447"/>
                  <a:pt x="18288" y="4304593"/>
                </a:cubicBezTo>
                <a:cubicBezTo>
                  <a:pt x="-17625" y="4567740"/>
                  <a:pt x="49627" y="5149125"/>
                  <a:pt x="18288" y="5590381"/>
                </a:cubicBezTo>
                <a:cubicBezTo>
                  <a:pt x="10860" y="5590744"/>
                  <a:pt x="7568" y="5590157"/>
                  <a:pt x="0" y="5590381"/>
                </a:cubicBezTo>
                <a:cubicBezTo>
                  <a:pt x="36767" y="5266821"/>
                  <a:pt x="-16223" y="5116146"/>
                  <a:pt x="0" y="4835680"/>
                </a:cubicBezTo>
                <a:cubicBezTo>
                  <a:pt x="16223" y="4555214"/>
                  <a:pt x="-16316" y="4356490"/>
                  <a:pt x="0" y="4136882"/>
                </a:cubicBezTo>
                <a:cubicBezTo>
                  <a:pt x="16316" y="3917274"/>
                  <a:pt x="8005" y="3773465"/>
                  <a:pt x="0" y="3549892"/>
                </a:cubicBezTo>
                <a:cubicBezTo>
                  <a:pt x="-8005" y="3326319"/>
                  <a:pt x="27623" y="3052456"/>
                  <a:pt x="0" y="2851094"/>
                </a:cubicBezTo>
                <a:cubicBezTo>
                  <a:pt x="-27623" y="2649732"/>
                  <a:pt x="5614" y="2455815"/>
                  <a:pt x="0" y="2264104"/>
                </a:cubicBezTo>
                <a:cubicBezTo>
                  <a:pt x="-5614" y="2072393"/>
                  <a:pt x="22598" y="1990723"/>
                  <a:pt x="0" y="1733018"/>
                </a:cubicBezTo>
                <a:cubicBezTo>
                  <a:pt x="-22598" y="1475313"/>
                  <a:pt x="-6965" y="1369123"/>
                  <a:pt x="0" y="1090124"/>
                </a:cubicBezTo>
                <a:cubicBezTo>
                  <a:pt x="6965" y="811125"/>
                  <a:pt x="-19273" y="50704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3114097614">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A7D5E7D-A8C4-C653-C334-BDC789EF8EF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654296" y="648653"/>
            <a:ext cx="6894576" cy="3878198"/>
          </a:xfrm>
          <a:prstGeom prst="rect">
            <a:avLst/>
          </a:prstGeom>
        </p:spPr>
      </p:pic>
      <p:sp>
        <p:nvSpPr>
          <p:cNvPr id="3" name="Content Placeholder 2">
            <a:extLst>
              <a:ext uri="{FF2B5EF4-FFF2-40B4-BE49-F238E27FC236}">
                <a16:creationId xmlns:a16="http://schemas.microsoft.com/office/drawing/2014/main" id="{DABADFBD-84D6-5B08-DFD7-5045DC4688F2}"/>
              </a:ext>
            </a:extLst>
          </p:cNvPr>
          <p:cNvSpPr>
            <a:spLocks noGrp="1"/>
          </p:cNvSpPr>
          <p:nvPr>
            <p:ph idx="1"/>
          </p:nvPr>
        </p:nvSpPr>
        <p:spPr>
          <a:xfrm>
            <a:off x="4654296" y="4798577"/>
            <a:ext cx="6894576" cy="1428487"/>
          </a:xfrm>
        </p:spPr>
        <p:txBody>
          <a:bodyPr anchor="t">
            <a:normAutofit/>
          </a:bodyPr>
          <a:lstStyle/>
          <a:p>
            <a:r>
              <a:rPr lang="en-US" sz="2200"/>
              <a:t>Spending by Category (Exp Type).</a:t>
            </a:r>
          </a:p>
          <a:p>
            <a:r>
              <a:rPr lang="en-US" sz="2200"/>
              <a:t>Weekly Revenue Trends.</a:t>
            </a:r>
          </a:p>
          <a:p>
            <a:r>
              <a:rPr lang="en-US" sz="2200"/>
              <a:t>Transaction Methods (Chip, Swipe, Online).</a:t>
            </a:r>
            <a:endParaRPr lang="en-IN" sz="2200"/>
          </a:p>
        </p:txBody>
      </p:sp>
    </p:spTree>
    <p:extLst>
      <p:ext uri="{BB962C8B-B14F-4D97-AF65-F5344CB8AC3E}">
        <p14:creationId xmlns:p14="http://schemas.microsoft.com/office/powerpoint/2010/main" val="18303611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Freeform: Shape 24">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27" name="Freeform: Shape 26">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52247B6-0ABB-CDFF-1079-997B0E77459E}"/>
              </a:ext>
            </a:extLst>
          </p:cNvPr>
          <p:cNvSpPr>
            <a:spLocks noGrp="1"/>
          </p:cNvSpPr>
          <p:nvPr>
            <p:ph type="title"/>
          </p:nvPr>
        </p:nvSpPr>
        <p:spPr>
          <a:xfrm>
            <a:off x="371094" y="1161288"/>
            <a:ext cx="3438144" cy="1239012"/>
          </a:xfrm>
        </p:spPr>
        <p:txBody>
          <a:bodyPr anchor="ctr">
            <a:normAutofit/>
          </a:bodyPr>
          <a:lstStyle/>
          <a:p>
            <a:r>
              <a:rPr lang="en-IN" sz="2800"/>
              <a:t>Dashboard 2 Deep-Dive</a:t>
            </a:r>
          </a:p>
        </p:txBody>
      </p:sp>
      <p:sp>
        <p:nvSpPr>
          <p:cNvPr id="29" name="Rectangle 28">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1" name="Rectangle 30">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5C0E9C87-5EDB-A15D-C42F-22E09448BB5A}"/>
              </a:ext>
            </a:extLst>
          </p:cNvPr>
          <p:cNvSpPr>
            <a:spLocks noGrp="1"/>
          </p:cNvSpPr>
          <p:nvPr>
            <p:ph idx="1"/>
          </p:nvPr>
        </p:nvSpPr>
        <p:spPr>
          <a:xfrm>
            <a:off x="371094" y="2718054"/>
            <a:ext cx="3438906" cy="3207258"/>
          </a:xfrm>
        </p:spPr>
        <p:txBody>
          <a:bodyPr anchor="t">
            <a:normAutofit/>
          </a:bodyPr>
          <a:lstStyle/>
          <a:p>
            <a:r>
              <a:rPr lang="en-US" sz="1700" dirty="0"/>
              <a:t>Focus: </a:t>
            </a:r>
            <a:r>
              <a:rPr lang="en-US" sz="1700"/>
              <a:t>Male customers using the 'Blue' (Standard) Card category. Dominance in essential spending - Bills, Fuel, and Grocery.</a:t>
            </a:r>
            <a:endParaRPr lang="en-IN" sz="1700" dirty="0"/>
          </a:p>
        </p:txBody>
      </p:sp>
      <p:pic>
        <p:nvPicPr>
          <p:cNvPr id="6" name="Picture 5">
            <a:extLst>
              <a:ext uri="{FF2B5EF4-FFF2-40B4-BE49-F238E27FC236}">
                <a16:creationId xmlns:a16="http://schemas.microsoft.com/office/drawing/2014/main" id="{F5EFD545-A16A-A0BD-DEE5-2E833B158D43}"/>
              </a:ext>
            </a:extLst>
          </p:cNvPr>
          <p:cNvPicPr>
            <a:picLocks noChangeAspect="1"/>
          </p:cNvPicPr>
          <p:nvPr/>
        </p:nvPicPr>
        <p:blipFill>
          <a:blip r:embed="rId3"/>
          <a:stretch>
            <a:fillRect/>
          </a:stretch>
        </p:blipFill>
        <p:spPr>
          <a:xfrm>
            <a:off x="4643394" y="1426546"/>
            <a:ext cx="7360883" cy="4137289"/>
          </a:xfrm>
          <a:prstGeom prst="rect">
            <a:avLst/>
          </a:prstGeom>
        </p:spPr>
      </p:pic>
    </p:spTree>
    <p:extLst>
      <p:ext uri="{BB962C8B-B14F-4D97-AF65-F5344CB8AC3E}">
        <p14:creationId xmlns:p14="http://schemas.microsoft.com/office/powerpoint/2010/main" val="2953593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3F94901-E004-1A79-9C1B-115273C4716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5322A7F-5403-474C-75DD-94A7F9812475}"/>
              </a:ext>
            </a:extLst>
          </p:cNvPr>
          <p:cNvSpPr>
            <a:spLocks noGrp="1"/>
          </p:cNvSpPr>
          <p:nvPr>
            <p:ph type="title"/>
          </p:nvPr>
        </p:nvSpPr>
        <p:spPr>
          <a:xfrm>
            <a:off x="371094" y="1161288"/>
            <a:ext cx="3438144" cy="1239012"/>
          </a:xfrm>
        </p:spPr>
        <p:txBody>
          <a:bodyPr anchor="ctr">
            <a:normAutofit/>
          </a:bodyPr>
          <a:lstStyle/>
          <a:p>
            <a:r>
              <a:rPr lang="en-IN" sz="2800"/>
              <a:t>Dashboard 2 Deep-Dive</a:t>
            </a:r>
          </a:p>
        </p:txBody>
      </p:sp>
      <p:sp>
        <p:nvSpPr>
          <p:cNvPr id="16" name="Rectangle 15">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FDD98B21-A6E8-73E0-1F3B-AA7605E6353F}"/>
              </a:ext>
            </a:extLst>
          </p:cNvPr>
          <p:cNvSpPr>
            <a:spLocks noGrp="1"/>
          </p:cNvSpPr>
          <p:nvPr>
            <p:ph idx="1"/>
          </p:nvPr>
        </p:nvSpPr>
        <p:spPr>
          <a:xfrm>
            <a:off x="371094" y="2718054"/>
            <a:ext cx="3438906" cy="3207258"/>
          </a:xfrm>
        </p:spPr>
        <p:txBody>
          <a:bodyPr anchor="t">
            <a:normAutofit/>
          </a:bodyPr>
          <a:lstStyle/>
          <a:p>
            <a:r>
              <a:rPr lang="en-US" sz="1700"/>
              <a:t>Focus: Physical "Card-Present" transactions via magnetic stripe or terminal swipe. Highly utilized in retail, grocery, and fuel sectors.</a:t>
            </a:r>
            <a:endParaRPr lang="en-IN" sz="1700"/>
          </a:p>
        </p:txBody>
      </p:sp>
      <p:pic>
        <p:nvPicPr>
          <p:cNvPr id="6" name="Picture 5">
            <a:extLst>
              <a:ext uri="{FF2B5EF4-FFF2-40B4-BE49-F238E27FC236}">
                <a16:creationId xmlns:a16="http://schemas.microsoft.com/office/drawing/2014/main" id="{81410588-4F3F-8521-DE22-D3C060B37643}"/>
              </a:ext>
            </a:extLst>
          </p:cNvPr>
          <p:cNvPicPr>
            <a:picLocks noChangeAspect="1"/>
          </p:cNvPicPr>
          <p:nvPr/>
        </p:nvPicPr>
        <p:blipFill>
          <a:blip r:embed="rId3"/>
          <a:stretch>
            <a:fillRect/>
          </a:stretch>
        </p:blipFill>
        <p:spPr>
          <a:xfrm>
            <a:off x="4698750" y="1426546"/>
            <a:ext cx="7363146" cy="4131172"/>
          </a:xfrm>
          <a:prstGeom prst="rect">
            <a:avLst/>
          </a:prstGeom>
        </p:spPr>
      </p:pic>
    </p:spTree>
    <p:extLst>
      <p:ext uri="{BB962C8B-B14F-4D97-AF65-F5344CB8AC3E}">
        <p14:creationId xmlns:p14="http://schemas.microsoft.com/office/powerpoint/2010/main" val="24104546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3361BA-C11C-B0F8-7F43-591881840DD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288C6B4-AFC3-407F-A595-EFFD38D4CC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Freeform: Shape 11">
            <a:extLst>
              <a:ext uri="{FF2B5EF4-FFF2-40B4-BE49-F238E27FC236}">
                <a16:creationId xmlns:a16="http://schemas.microsoft.com/office/drawing/2014/main" id="{CF236821-17FE-429B-8D2C-08E13A64EA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4455673" cy="6858000"/>
          </a:xfrm>
          <a:custGeom>
            <a:avLst/>
            <a:gdLst>
              <a:gd name="connsiteX0" fmla="*/ 0 w 4455673"/>
              <a:gd name="connsiteY0" fmla="*/ 0 h 6858000"/>
              <a:gd name="connsiteX1" fmla="*/ 3242695 w 4455673"/>
              <a:gd name="connsiteY1" fmla="*/ 0 h 6858000"/>
              <a:gd name="connsiteX2" fmla="*/ 3305678 w 4455673"/>
              <a:gd name="connsiteY2" fmla="*/ 69271 h 6858000"/>
              <a:gd name="connsiteX3" fmla="*/ 4455673 w 4455673"/>
              <a:gd name="connsiteY3" fmla="*/ 3429000 h 6858000"/>
              <a:gd name="connsiteX4" fmla="*/ 3305678 w 4455673"/>
              <a:gd name="connsiteY4" fmla="*/ 6788730 h 6858000"/>
              <a:gd name="connsiteX5" fmla="*/ 3242695 w 4455673"/>
              <a:gd name="connsiteY5" fmla="*/ 6858000 h 6858000"/>
              <a:gd name="connsiteX6" fmla="*/ 0 w 445567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55673" h="6858000">
                <a:moveTo>
                  <a:pt x="0" y="0"/>
                </a:moveTo>
                <a:lnTo>
                  <a:pt x="3242695" y="0"/>
                </a:lnTo>
                <a:lnTo>
                  <a:pt x="3305678" y="69271"/>
                </a:lnTo>
                <a:cubicBezTo>
                  <a:pt x="4016204" y="929100"/>
                  <a:pt x="4455673" y="2116944"/>
                  <a:pt x="4455673" y="3429000"/>
                </a:cubicBezTo>
                <a:cubicBezTo>
                  <a:pt x="4455673" y="4741056"/>
                  <a:pt x="4016204" y="5928900"/>
                  <a:pt x="3305678" y="6788730"/>
                </a:cubicBezTo>
                <a:lnTo>
                  <a:pt x="3242695" y="6858000"/>
                </a:lnTo>
                <a:lnTo>
                  <a:pt x="0" y="6858000"/>
                </a:lnTo>
                <a:close/>
              </a:path>
            </a:pathLst>
          </a:custGeom>
          <a:ln w="9525">
            <a:solidFill>
              <a:srgbClr val="EFEFEF"/>
            </a:solidFill>
          </a:ln>
          <a:effectLst>
            <a:outerShdw blurRad="88900" dist="38100" algn="l" rotWithShape="0">
              <a:schemeClr val="bg1">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useBgFill="1">
        <p:nvSpPr>
          <p:cNvPr id="14" name="Freeform: Shape 13">
            <a:extLst>
              <a:ext uri="{FF2B5EF4-FFF2-40B4-BE49-F238E27FC236}">
                <a16:creationId xmlns:a16="http://schemas.microsoft.com/office/drawing/2014/main" id="{C0BDBCD2-E081-43AB-9119-C55465E597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446529" cy="6858000"/>
          </a:xfrm>
          <a:custGeom>
            <a:avLst/>
            <a:gdLst>
              <a:gd name="connsiteX0" fmla="*/ 0 w 4446529"/>
              <a:gd name="connsiteY0" fmla="*/ 0 h 6858000"/>
              <a:gd name="connsiteX1" fmla="*/ 3233551 w 4446529"/>
              <a:gd name="connsiteY1" fmla="*/ 0 h 6858000"/>
              <a:gd name="connsiteX2" fmla="*/ 3296534 w 4446529"/>
              <a:gd name="connsiteY2" fmla="*/ 69271 h 6858000"/>
              <a:gd name="connsiteX3" fmla="*/ 4446529 w 4446529"/>
              <a:gd name="connsiteY3" fmla="*/ 3429000 h 6858000"/>
              <a:gd name="connsiteX4" fmla="*/ 3296534 w 4446529"/>
              <a:gd name="connsiteY4" fmla="*/ 6788730 h 6858000"/>
              <a:gd name="connsiteX5" fmla="*/ 3233551 w 4446529"/>
              <a:gd name="connsiteY5" fmla="*/ 6858000 h 6858000"/>
              <a:gd name="connsiteX6" fmla="*/ 0 w 4446529"/>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46529" h="6858000">
                <a:moveTo>
                  <a:pt x="0" y="0"/>
                </a:moveTo>
                <a:lnTo>
                  <a:pt x="3233551" y="0"/>
                </a:lnTo>
                <a:lnTo>
                  <a:pt x="3296534" y="69271"/>
                </a:lnTo>
                <a:cubicBezTo>
                  <a:pt x="4007060" y="929100"/>
                  <a:pt x="4446529" y="2116944"/>
                  <a:pt x="4446529" y="3429000"/>
                </a:cubicBezTo>
                <a:cubicBezTo>
                  <a:pt x="4446529" y="4741056"/>
                  <a:pt x="4007060" y="5928900"/>
                  <a:pt x="3296534" y="6788730"/>
                </a:cubicBezTo>
                <a:lnTo>
                  <a:pt x="3233551" y="6858000"/>
                </a:lnTo>
                <a:lnTo>
                  <a:pt x="0" y="6858000"/>
                </a:lnTo>
                <a:close/>
              </a:path>
            </a:pathLst>
          </a:custGeom>
          <a:ln w="9525">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C28699-E6DB-B060-0227-1DE38D915C71}"/>
              </a:ext>
            </a:extLst>
          </p:cNvPr>
          <p:cNvSpPr>
            <a:spLocks noGrp="1"/>
          </p:cNvSpPr>
          <p:nvPr>
            <p:ph type="title"/>
          </p:nvPr>
        </p:nvSpPr>
        <p:spPr>
          <a:xfrm>
            <a:off x="371094" y="1161288"/>
            <a:ext cx="3438144" cy="1239012"/>
          </a:xfrm>
        </p:spPr>
        <p:txBody>
          <a:bodyPr anchor="ctr">
            <a:normAutofit/>
          </a:bodyPr>
          <a:lstStyle/>
          <a:p>
            <a:r>
              <a:rPr lang="en-IN" sz="2800"/>
              <a:t>Dashboard 2 Deep-Dive</a:t>
            </a:r>
          </a:p>
        </p:txBody>
      </p:sp>
      <p:sp>
        <p:nvSpPr>
          <p:cNvPr id="16" name="Rectangle 15">
            <a:extLst>
              <a:ext uri="{FF2B5EF4-FFF2-40B4-BE49-F238E27FC236}">
                <a16:creationId xmlns:a16="http://schemas.microsoft.com/office/drawing/2014/main" id="{98E79BE4-34FE-485A-98A5-92CE8F7C47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426546"/>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8" name="Rectangle 17">
            <a:extLst>
              <a:ext uri="{FF2B5EF4-FFF2-40B4-BE49-F238E27FC236}">
                <a16:creationId xmlns:a16="http://schemas.microsoft.com/office/drawing/2014/main" id="{7A5F0580-5EE9-419F-96EE-B6529EF6E7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5893" y="2443480"/>
            <a:ext cx="338328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Content Placeholder 2">
            <a:extLst>
              <a:ext uri="{FF2B5EF4-FFF2-40B4-BE49-F238E27FC236}">
                <a16:creationId xmlns:a16="http://schemas.microsoft.com/office/drawing/2014/main" id="{7EA803D7-32D2-F071-C8A4-B4EA4783676D}"/>
              </a:ext>
            </a:extLst>
          </p:cNvPr>
          <p:cNvSpPr>
            <a:spLocks noGrp="1"/>
          </p:cNvSpPr>
          <p:nvPr>
            <p:ph idx="1"/>
          </p:nvPr>
        </p:nvSpPr>
        <p:spPr>
          <a:xfrm>
            <a:off x="371094" y="2718054"/>
            <a:ext cx="3438906" cy="3207258"/>
          </a:xfrm>
        </p:spPr>
        <p:txBody>
          <a:bodyPr anchor="t">
            <a:normAutofit/>
          </a:bodyPr>
          <a:lstStyle/>
          <a:p>
            <a:r>
              <a:rPr lang="en-US" sz="1700"/>
              <a:t>Focus: Platinum Cardholders during the first 10 weeks of the year. Analysis of top-tier spending behavior during the early Q1 period.</a:t>
            </a:r>
            <a:endParaRPr lang="en-IN" sz="1700"/>
          </a:p>
        </p:txBody>
      </p:sp>
      <p:pic>
        <p:nvPicPr>
          <p:cNvPr id="6" name="Picture 5">
            <a:extLst>
              <a:ext uri="{FF2B5EF4-FFF2-40B4-BE49-F238E27FC236}">
                <a16:creationId xmlns:a16="http://schemas.microsoft.com/office/drawing/2014/main" id="{75FC29EA-4594-B12C-CBF2-D9D6D75D5DD9}"/>
              </a:ext>
            </a:extLst>
          </p:cNvPr>
          <p:cNvPicPr>
            <a:picLocks noChangeAspect="1"/>
          </p:cNvPicPr>
          <p:nvPr/>
        </p:nvPicPr>
        <p:blipFill>
          <a:blip r:embed="rId3"/>
          <a:stretch>
            <a:fillRect/>
          </a:stretch>
        </p:blipFill>
        <p:spPr>
          <a:xfrm>
            <a:off x="4698750" y="1426546"/>
            <a:ext cx="7364222" cy="4128272"/>
          </a:xfrm>
          <a:prstGeom prst="rect">
            <a:avLst/>
          </a:prstGeom>
        </p:spPr>
      </p:pic>
    </p:spTree>
    <p:extLst>
      <p:ext uri="{BB962C8B-B14F-4D97-AF65-F5344CB8AC3E}">
        <p14:creationId xmlns:p14="http://schemas.microsoft.com/office/powerpoint/2010/main" val="1855478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AAC8E8-AB7E-5746-1E99-3BF400ECDD68}"/>
              </a:ext>
            </a:extLst>
          </p:cNvPr>
          <p:cNvSpPr>
            <a:spLocks noGrp="1"/>
          </p:cNvSpPr>
          <p:nvPr>
            <p:ph type="title"/>
          </p:nvPr>
        </p:nvSpPr>
        <p:spPr>
          <a:xfrm>
            <a:off x="841248" y="256032"/>
            <a:ext cx="10506456" cy="1014984"/>
          </a:xfrm>
        </p:spPr>
        <p:txBody>
          <a:bodyPr anchor="b">
            <a:normAutofit/>
          </a:bodyPr>
          <a:lstStyle/>
          <a:p>
            <a:r>
              <a:rPr lang="en-IN"/>
              <a:t>Strategic Takeaways</a:t>
            </a:r>
          </a:p>
        </p:txBody>
      </p:sp>
      <p:sp>
        <p:nvSpPr>
          <p:cNvPr id="22" name="Rectangle 21">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24" name="Rectangle 23">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6" name="Content Placeholder 2">
            <a:extLst>
              <a:ext uri="{FF2B5EF4-FFF2-40B4-BE49-F238E27FC236}">
                <a16:creationId xmlns:a16="http://schemas.microsoft.com/office/drawing/2014/main" id="{52E35BD6-1A03-DC10-9276-C6789632A043}"/>
              </a:ext>
            </a:extLst>
          </p:cNvPr>
          <p:cNvGraphicFramePr>
            <a:graphicFrameLocks noGrp="1"/>
          </p:cNvGraphicFramePr>
          <p:nvPr>
            <p:ph idx="1"/>
            <p:extLst>
              <p:ext uri="{D42A27DB-BD31-4B8C-83A1-F6EECF244321}">
                <p14:modId xmlns:p14="http://schemas.microsoft.com/office/powerpoint/2010/main" val="2940798739"/>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60481882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BC99CB9-DDAD-44A2-8A1C-E3AF4E72DF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4053CBF-3932-45FF-8285-EE5146085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2" name="Group 11">
            <a:extLst>
              <a:ext uri="{FF2B5EF4-FFF2-40B4-BE49-F238E27FC236}">
                <a16:creationId xmlns:a16="http://schemas.microsoft.com/office/drawing/2014/main" id="{2E751C04-BEA6-446B-A678-9C74819EBD4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18230" y="-8167"/>
            <a:ext cx="4834070" cy="2488150"/>
            <a:chOff x="6867015" y="-1"/>
            <a:chExt cx="5324985" cy="3251912"/>
          </a:xfrm>
          <a:solidFill>
            <a:schemeClr val="bg1">
              <a:alpha val="30000"/>
            </a:schemeClr>
          </a:solidFill>
        </p:grpSpPr>
        <p:sp>
          <p:nvSpPr>
            <p:cNvPr id="13" name="Freeform: Shape 12">
              <a:extLst>
                <a:ext uri="{FF2B5EF4-FFF2-40B4-BE49-F238E27FC236}">
                  <a16:creationId xmlns:a16="http://schemas.microsoft.com/office/drawing/2014/main" id="{2625A013-D9BE-43C4-AF21-6F2B003EFBE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867015" y="-1"/>
              <a:ext cx="5324985" cy="3251912"/>
            </a:xfrm>
            <a:custGeom>
              <a:avLst/>
              <a:gdLst>
                <a:gd name="connsiteX0" fmla="*/ 0 w 5324985"/>
                <a:gd name="connsiteY0" fmla="*/ 0 h 3251912"/>
                <a:gd name="connsiteX1" fmla="*/ 36826 w 5324985"/>
                <a:gd name="connsiteY1" fmla="*/ 0 h 3251912"/>
                <a:gd name="connsiteX2" fmla="*/ 45003 w 5324985"/>
                <a:gd name="connsiteY2" fmla="*/ 152909 h 3251912"/>
                <a:gd name="connsiteX3" fmla="*/ 68956 w 5324985"/>
                <a:gd name="connsiteY3" fmla="*/ 308600 h 3251912"/>
                <a:gd name="connsiteX4" fmla="*/ 167774 w 5324985"/>
                <a:gd name="connsiteY4" fmla="*/ 607968 h 3251912"/>
                <a:gd name="connsiteX5" fmla="*/ 201857 w 5324985"/>
                <a:gd name="connsiteY5" fmla="*/ 679539 h 3251912"/>
                <a:gd name="connsiteX6" fmla="*/ 239741 w 5324985"/>
                <a:gd name="connsiteY6" fmla="*/ 749488 h 3251912"/>
                <a:gd name="connsiteX7" fmla="*/ 323724 w 5324985"/>
                <a:gd name="connsiteY7" fmla="*/ 885101 h 3251912"/>
                <a:gd name="connsiteX8" fmla="*/ 416412 w 5324985"/>
                <a:gd name="connsiteY8" fmla="*/ 1016081 h 3251912"/>
                <a:gd name="connsiteX9" fmla="*/ 515719 w 5324985"/>
                <a:gd name="connsiteY9" fmla="*/ 1143356 h 3251912"/>
                <a:gd name="connsiteX10" fmla="*/ 722427 w 5324985"/>
                <a:gd name="connsiteY10" fmla="*/ 1395127 h 3251912"/>
                <a:gd name="connsiteX11" fmla="*/ 825780 w 5324985"/>
                <a:gd name="connsiteY11" fmla="*/ 1522749 h 3251912"/>
                <a:gd name="connsiteX12" fmla="*/ 926314 w 5324985"/>
                <a:gd name="connsiteY12" fmla="*/ 1651992 h 3251912"/>
                <a:gd name="connsiteX13" fmla="*/ 1026848 w 5324985"/>
                <a:gd name="connsiteY13" fmla="*/ 1776836 h 3251912"/>
                <a:gd name="connsiteX14" fmla="*/ 1131918 w 5324985"/>
                <a:gd name="connsiteY14" fmla="*/ 1897393 h 3251912"/>
                <a:gd name="connsiteX15" fmla="*/ 1354688 w 5324985"/>
                <a:gd name="connsiteY15" fmla="*/ 2124728 h 3251912"/>
                <a:gd name="connsiteX16" fmla="*/ 1855027 w 5324985"/>
                <a:gd name="connsiteY16" fmla="*/ 2504236 h 3251912"/>
                <a:gd name="connsiteX17" fmla="*/ 2131618 w 5324985"/>
                <a:gd name="connsiteY17" fmla="*/ 2646913 h 3251912"/>
                <a:gd name="connsiteX18" fmla="*/ 2423534 w 5324985"/>
                <a:gd name="connsiteY18" fmla="*/ 2754732 h 3251912"/>
                <a:gd name="connsiteX19" fmla="*/ 2727588 w 5324985"/>
                <a:gd name="connsiteY19" fmla="*/ 2829197 h 3251912"/>
                <a:gd name="connsiteX20" fmla="*/ 3041083 w 5324985"/>
                <a:gd name="connsiteY20" fmla="*/ 2870890 h 3251912"/>
                <a:gd name="connsiteX21" fmla="*/ 3360340 w 5324985"/>
                <a:gd name="connsiteY21" fmla="*/ 2883976 h 3251912"/>
                <a:gd name="connsiteX22" fmla="*/ 3439663 w 5324985"/>
                <a:gd name="connsiteY22" fmla="*/ 2883396 h 3251912"/>
                <a:gd name="connsiteX23" fmla="*/ 3478529 w 5324985"/>
                <a:gd name="connsiteY23" fmla="*/ 2882471 h 3251912"/>
                <a:gd name="connsiteX24" fmla="*/ 3517271 w 5324985"/>
                <a:gd name="connsiteY24" fmla="*/ 2880616 h 3251912"/>
                <a:gd name="connsiteX25" fmla="*/ 3671260 w 5324985"/>
                <a:gd name="connsiteY25" fmla="*/ 2867878 h 3251912"/>
                <a:gd name="connsiteX26" fmla="*/ 4265268 w 5324985"/>
                <a:gd name="connsiteY26" fmla="*/ 2716283 h 3251912"/>
                <a:gd name="connsiteX27" fmla="*/ 4546395 w 5324985"/>
                <a:gd name="connsiteY27" fmla="*/ 2584724 h 3251912"/>
                <a:gd name="connsiteX28" fmla="*/ 4817837 w 5324985"/>
                <a:gd name="connsiteY28" fmla="*/ 2424674 h 3251912"/>
                <a:gd name="connsiteX29" fmla="*/ 5081677 w 5324985"/>
                <a:gd name="connsiteY29" fmla="*/ 2243548 h 3251912"/>
                <a:gd name="connsiteX30" fmla="*/ 5211881 w 5324985"/>
                <a:gd name="connsiteY30" fmla="*/ 2147658 h 3251912"/>
                <a:gd name="connsiteX31" fmla="*/ 5324985 w 5324985"/>
                <a:gd name="connsiteY31" fmla="*/ 2062128 h 3251912"/>
                <a:gd name="connsiteX32" fmla="*/ 5324985 w 5324985"/>
                <a:gd name="connsiteY32" fmla="*/ 2514993 h 3251912"/>
                <a:gd name="connsiteX33" fmla="*/ 5314867 w 5324985"/>
                <a:gd name="connsiteY33" fmla="*/ 2522881 h 3251912"/>
                <a:gd name="connsiteX34" fmla="*/ 5038276 w 5324985"/>
                <a:gd name="connsiteY34" fmla="*/ 2722421 h 3251912"/>
                <a:gd name="connsiteX35" fmla="*/ 4741701 w 5324985"/>
                <a:gd name="connsiteY35" fmla="*/ 2904937 h 3251912"/>
                <a:gd name="connsiteX36" fmla="*/ 4420728 w 5324985"/>
                <a:gd name="connsiteY36" fmla="*/ 3058848 h 3251912"/>
                <a:gd name="connsiteX37" fmla="*/ 3717481 w 5324985"/>
                <a:gd name="connsiteY37" fmla="*/ 3237079 h 3251912"/>
                <a:gd name="connsiteX38" fmla="*/ 3535661 w 5324985"/>
                <a:gd name="connsiteY38" fmla="*/ 3249934 h 3251912"/>
                <a:gd name="connsiteX39" fmla="*/ 3490175 w 5324985"/>
                <a:gd name="connsiteY39" fmla="*/ 3251555 h 3251912"/>
                <a:gd name="connsiteX40" fmla="*/ 3444813 w 5324985"/>
                <a:gd name="connsiteY40" fmla="*/ 3251787 h 3251912"/>
                <a:gd name="connsiteX41" fmla="*/ 3355681 w 5324985"/>
                <a:gd name="connsiteY41" fmla="*/ 3250745 h 3251912"/>
                <a:gd name="connsiteX42" fmla="*/ 3179011 w 5324985"/>
                <a:gd name="connsiteY42" fmla="*/ 3243795 h 3251912"/>
                <a:gd name="connsiteX43" fmla="*/ 3002217 w 5324985"/>
                <a:gd name="connsiteY43" fmla="*/ 3227814 h 3251912"/>
                <a:gd name="connsiteX44" fmla="*/ 2650103 w 5324985"/>
                <a:gd name="connsiteY44" fmla="*/ 3170836 h 3251912"/>
                <a:gd name="connsiteX45" fmla="*/ 2305836 w 5324985"/>
                <a:gd name="connsiteY45" fmla="*/ 3072514 h 3251912"/>
                <a:gd name="connsiteX46" fmla="*/ 1978611 w 5324985"/>
                <a:gd name="connsiteY46" fmla="*/ 2929952 h 3251912"/>
                <a:gd name="connsiteX47" fmla="*/ 1678235 w 5324985"/>
                <a:gd name="connsiteY47" fmla="*/ 2744424 h 3251912"/>
                <a:gd name="connsiteX48" fmla="*/ 1175688 w 5324985"/>
                <a:gd name="connsiteY48" fmla="*/ 2277018 h 3251912"/>
                <a:gd name="connsiteX49" fmla="*/ 971310 w 5324985"/>
                <a:gd name="connsiteY49" fmla="*/ 2012044 h 3251912"/>
                <a:gd name="connsiteX50" fmla="*/ 790717 w 5324985"/>
                <a:gd name="connsiteY50" fmla="*/ 1735723 h 3251912"/>
                <a:gd name="connsiteX51" fmla="*/ 706488 w 5324985"/>
                <a:gd name="connsiteY51" fmla="*/ 1598604 h 3251912"/>
                <a:gd name="connsiteX52" fmla="*/ 618951 w 5324985"/>
                <a:gd name="connsiteY52" fmla="*/ 1463802 h 3251912"/>
                <a:gd name="connsiteX53" fmla="*/ 436273 w 5324985"/>
                <a:gd name="connsiteY53" fmla="*/ 1195355 h 3251912"/>
                <a:gd name="connsiteX54" fmla="*/ 346896 w 5324985"/>
                <a:gd name="connsiteY54" fmla="*/ 1058816 h 3251912"/>
                <a:gd name="connsiteX55" fmla="*/ 261809 w 5324985"/>
                <a:gd name="connsiteY55" fmla="*/ 919264 h 3251912"/>
                <a:gd name="connsiteX56" fmla="*/ 118487 w 5324985"/>
                <a:gd name="connsiteY56" fmla="*/ 626498 h 3251912"/>
                <a:gd name="connsiteX57" fmla="*/ 28130 w 5324985"/>
                <a:gd name="connsiteY57" fmla="*/ 315781 h 3251912"/>
                <a:gd name="connsiteX58" fmla="*/ 6751 w 5324985"/>
                <a:gd name="connsiteY58" fmla="*/ 156195 h 3251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5324985" h="3251912">
                  <a:moveTo>
                    <a:pt x="0" y="0"/>
                  </a:moveTo>
                  <a:lnTo>
                    <a:pt x="36826" y="0"/>
                  </a:lnTo>
                  <a:lnTo>
                    <a:pt x="45003" y="152909"/>
                  </a:lnTo>
                  <a:cubicBezTo>
                    <a:pt x="50351" y="205154"/>
                    <a:pt x="58290" y="257123"/>
                    <a:pt x="68956" y="308600"/>
                  </a:cubicBezTo>
                  <a:cubicBezTo>
                    <a:pt x="91393" y="411324"/>
                    <a:pt x="123882" y="511847"/>
                    <a:pt x="167774" y="607968"/>
                  </a:cubicBezTo>
                  <a:cubicBezTo>
                    <a:pt x="178195" y="632173"/>
                    <a:pt x="190333" y="655798"/>
                    <a:pt x="201857" y="679539"/>
                  </a:cubicBezTo>
                  <a:cubicBezTo>
                    <a:pt x="214363" y="702933"/>
                    <a:pt x="226255" y="726557"/>
                    <a:pt x="239741" y="749488"/>
                  </a:cubicBezTo>
                  <a:cubicBezTo>
                    <a:pt x="265488" y="795812"/>
                    <a:pt x="294176" y="840746"/>
                    <a:pt x="323724" y="885101"/>
                  </a:cubicBezTo>
                  <a:cubicBezTo>
                    <a:pt x="353149" y="929572"/>
                    <a:pt x="384657" y="972885"/>
                    <a:pt x="416412" y="1016081"/>
                  </a:cubicBezTo>
                  <a:cubicBezTo>
                    <a:pt x="448655" y="1058931"/>
                    <a:pt x="482127" y="1101202"/>
                    <a:pt x="515719" y="1143356"/>
                  </a:cubicBezTo>
                  <a:cubicBezTo>
                    <a:pt x="583027" y="1227782"/>
                    <a:pt x="653402" y="1310470"/>
                    <a:pt x="722427" y="1395127"/>
                  </a:cubicBezTo>
                  <a:cubicBezTo>
                    <a:pt x="757123" y="1437282"/>
                    <a:pt x="791697" y="1479783"/>
                    <a:pt x="825780" y="1522749"/>
                  </a:cubicBezTo>
                  <a:cubicBezTo>
                    <a:pt x="859742" y="1565367"/>
                    <a:pt x="893457" y="1610649"/>
                    <a:pt x="926314" y="1651992"/>
                  </a:cubicBezTo>
                  <a:cubicBezTo>
                    <a:pt x="958927" y="1694379"/>
                    <a:pt x="993132" y="1735492"/>
                    <a:pt x="1026848" y="1776836"/>
                  </a:cubicBezTo>
                  <a:cubicBezTo>
                    <a:pt x="1061545" y="1817485"/>
                    <a:pt x="1095996" y="1858133"/>
                    <a:pt x="1131918" y="1897393"/>
                  </a:cubicBezTo>
                  <a:cubicBezTo>
                    <a:pt x="1203273" y="1976376"/>
                    <a:pt x="1277447" y="2052463"/>
                    <a:pt x="1354688" y="2124728"/>
                  </a:cubicBezTo>
                  <a:cubicBezTo>
                    <a:pt x="1509411" y="2268911"/>
                    <a:pt x="1676396" y="2397575"/>
                    <a:pt x="1855027" y="2504236"/>
                  </a:cubicBezTo>
                  <a:cubicBezTo>
                    <a:pt x="1944528" y="2557277"/>
                    <a:pt x="2036357" y="2605917"/>
                    <a:pt x="2131618" y="2646913"/>
                  </a:cubicBezTo>
                  <a:cubicBezTo>
                    <a:pt x="2226267" y="2689068"/>
                    <a:pt x="2323981" y="2724622"/>
                    <a:pt x="2423534" y="2754732"/>
                  </a:cubicBezTo>
                  <a:cubicBezTo>
                    <a:pt x="2523087" y="2784958"/>
                    <a:pt x="2624602" y="2809394"/>
                    <a:pt x="2727588" y="2829197"/>
                  </a:cubicBezTo>
                  <a:cubicBezTo>
                    <a:pt x="2830698" y="2848653"/>
                    <a:pt x="2935522" y="2861971"/>
                    <a:pt x="3041083" y="2870890"/>
                  </a:cubicBezTo>
                  <a:cubicBezTo>
                    <a:pt x="3146644" y="2879922"/>
                    <a:pt x="3253307" y="2883860"/>
                    <a:pt x="3360340" y="2883976"/>
                  </a:cubicBezTo>
                  <a:cubicBezTo>
                    <a:pt x="3387067" y="2883976"/>
                    <a:pt x="3414162" y="2884439"/>
                    <a:pt x="3439663" y="2883396"/>
                  </a:cubicBezTo>
                  <a:lnTo>
                    <a:pt x="3478529" y="2882471"/>
                  </a:lnTo>
                  <a:lnTo>
                    <a:pt x="3517271" y="2880616"/>
                  </a:lnTo>
                  <a:cubicBezTo>
                    <a:pt x="3568887" y="2878417"/>
                    <a:pt x="3620257" y="2873552"/>
                    <a:pt x="3671260" y="2867878"/>
                  </a:cubicBezTo>
                  <a:cubicBezTo>
                    <a:pt x="3875515" y="2844253"/>
                    <a:pt x="4074253" y="2792486"/>
                    <a:pt x="4265268" y="2716283"/>
                  </a:cubicBezTo>
                  <a:cubicBezTo>
                    <a:pt x="4361020" y="2678529"/>
                    <a:pt x="4454444" y="2633710"/>
                    <a:pt x="4546395" y="2584724"/>
                  </a:cubicBezTo>
                  <a:cubicBezTo>
                    <a:pt x="4638470" y="2535967"/>
                    <a:pt x="4728827" y="2481885"/>
                    <a:pt x="4817837" y="2424674"/>
                  </a:cubicBezTo>
                  <a:cubicBezTo>
                    <a:pt x="4906846" y="2367348"/>
                    <a:pt x="4994385" y="2306317"/>
                    <a:pt x="5081677" y="2243548"/>
                  </a:cubicBezTo>
                  <a:cubicBezTo>
                    <a:pt x="5125201" y="2212164"/>
                    <a:pt x="5168603" y="2179969"/>
                    <a:pt x="5211881" y="2147658"/>
                  </a:cubicBezTo>
                  <a:lnTo>
                    <a:pt x="5324985" y="2062128"/>
                  </a:lnTo>
                  <a:lnTo>
                    <a:pt x="5324985" y="2514993"/>
                  </a:lnTo>
                  <a:lnTo>
                    <a:pt x="5314867" y="2522881"/>
                  </a:lnTo>
                  <a:cubicBezTo>
                    <a:pt x="5225490" y="2591325"/>
                    <a:pt x="5133783" y="2658379"/>
                    <a:pt x="5038276" y="2722421"/>
                  </a:cubicBezTo>
                  <a:cubicBezTo>
                    <a:pt x="4942892" y="2786348"/>
                    <a:pt x="4844810" y="2848422"/>
                    <a:pt x="4741701" y="2904937"/>
                  </a:cubicBezTo>
                  <a:cubicBezTo>
                    <a:pt x="4638592" y="2961337"/>
                    <a:pt x="4531929" y="3013683"/>
                    <a:pt x="4420728" y="3058848"/>
                  </a:cubicBezTo>
                  <a:cubicBezTo>
                    <a:pt x="4199063" y="3150338"/>
                    <a:pt x="3959621" y="3211485"/>
                    <a:pt x="3717481" y="3237079"/>
                  </a:cubicBezTo>
                  <a:cubicBezTo>
                    <a:pt x="3656914" y="3243101"/>
                    <a:pt x="3596227" y="3247966"/>
                    <a:pt x="3535661" y="3249934"/>
                  </a:cubicBezTo>
                  <a:lnTo>
                    <a:pt x="3490175" y="3251555"/>
                  </a:lnTo>
                  <a:lnTo>
                    <a:pt x="3444813" y="3251787"/>
                  </a:lnTo>
                  <a:cubicBezTo>
                    <a:pt x="3414162" y="3252250"/>
                    <a:pt x="3385105" y="3251324"/>
                    <a:pt x="3355681" y="3250745"/>
                  </a:cubicBezTo>
                  <a:cubicBezTo>
                    <a:pt x="3296954" y="3250050"/>
                    <a:pt x="3237860" y="3246692"/>
                    <a:pt x="3179011" y="3243795"/>
                  </a:cubicBezTo>
                  <a:cubicBezTo>
                    <a:pt x="3120039" y="3239164"/>
                    <a:pt x="3061067" y="3234878"/>
                    <a:pt x="3002217" y="3227814"/>
                  </a:cubicBezTo>
                  <a:cubicBezTo>
                    <a:pt x="2884397" y="3214496"/>
                    <a:pt x="2766699" y="3196314"/>
                    <a:pt x="2650103" y="3170836"/>
                  </a:cubicBezTo>
                  <a:cubicBezTo>
                    <a:pt x="2533510" y="3145358"/>
                    <a:pt x="2418263" y="3112583"/>
                    <a:pt x="2305836" y="3072514"/>
                  </a:cubicBezTo>
                  <a:cubicBezTo>
                    <a:pt x="2193410" y="3032328"/>
                    <a:pt x="2083926" y="2984383"/>
                    <a:pt x="1978611" y="2929952"/>
                  </a:cubicBezTo>
                  <a:cubicBezTo>
                    <a:pt x="1873663" y="2874711"/>
                    <a:pt x="1772884" y="2812985"/>
                    <a:pt x="1678235" y="2744424"/>
                  </a:cubicBezTo>
                  <a:cubicBezTo>
                    <a:pt x="1488201" y="2608001"/>
                    <a:pt x="1321708" y="2448068"/>
                    <a:pt x="1175688" y="2277018"/>
                  </a:cubicBezTo>
                  <a:cubicBezTo>
                    <a:pt x="1102985" y="2191086"/>
                    <a:pt x="1035309" y="2102377"/>
                    <a:pt x="971310" y="2012044"/>
                  </a:cubicBezTo>
                  <a:cubicBezTo>
                    <a:pt x="907188" y="1921714"/>
                    <a:pt x="847358" y="1829413"/>
                    <a:pt x="790717" y="1735723"/>
                  </a:cubicBezTo>
                  <a:cubicBezTo>
                    <a:pt x="761782" y="1688357"/>
                    <a:pt x="735300" y="1644002"/>
                    <a:pt x="706488" y="1598604"/>
                  </a:cubicBezTo>
                  <a:cubicBezTo>
                    <a:pt x="677922" y="1553555"/>
                    <a:pt x="648866" y="1508505"/>
                    <a:pt x="618951" y="1463802"/>
                  </a:cubicBezTo>
                  <a:lnTo>
                    <a:pt x="436273" y="1195355"/>
                  </a:lnTo>
                  <a:cubicBezTo>
                    <a:pt x="405990" y="1150189"/>
                    <a:pt x="376075" y="1104792"/>
                    <a:pt x="346896" y="1058816"/>
                  </a:cubicBezTo>
                  <a:cubicBezTo>
                    <a:pt x="317716" y="1012838"/>
                    <a:pt x="288782" y="966747"/>
                    <a:pt x="261809" y="919264"/>
                  </a:cubicBezTo>
                  <a:cubicBezTo>
                    <a:pt x="207742" y="824764"/>
                    <a:pt x="158088" y="727485"/>
                    <a:pt x="118487" y="626498"/>
                  </a:cubicBezTo>
                  <a:cubicBezTo>
                    <a:pt x="78151" y="525859"/>
                    <a:pt x="48237" y="421515"/>
                    <a:pt x="28130" y="315781"/>
                  </a:cubicBezTo>
                  <a:cubicBezTo>
                    <a:pt x="18506" y="262914"/>
                    <a:pt x="11425" y="209642"/>
                    <a:pt x="6751" y="15619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7875715-EC2E-457F-851D-F6C817685F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16467" y="-1"/>
              <a:ext cx="5275533" cy="2980757"/>
            </a:xfrm>
            <a:custGeom>
              <a:avLst/>
              <a:gdLst>
                <a:gd name="connsiteX0" fmla="*/ 0 w 5275533"/>
                <a:gd name="connsiteY0" fmla="*/ 0 h 2980757"/>
                <a:gd name="connsiteX1" fmla="*/ 201166 w 5275533"/>
                <a:gd name="connsiteY1" fmla="*/ 0 h 2980757"/>
                <a:gd name="connsiteX2" fmla="*/ 206734 w 5275533"/>
                <a:gd name="connsiteY2" fmla="*/ 89286 h 2980757"/>
                <a:gd name="connsiteX3" fmla="*/ 232051 w 5275533"/>
                <a:gd name="connsiteY3" fmla="*/ 226897 h 2980757"/>
                <a:gd name="connsiteX4" fmla="*/ 332707 w 5275533"/>
                <a:gd name="connsiteY4" fmla="*/ 487120 h 2980757"/>
                <a:gd name="connsiteX5" fmla="*/ 402959 w 5275533"/>
                <a:gd name="connsiteY5" fmla="*/ 609647 h 2980757"/>
                <a:gd name="connsiteX6" fmla="*/ 483631 w 5275533"/>
                <a:gd name="connsiteY6" fmla="*/ 728236 h 2980757"/>
                <a:gd name="connsiteX7" fmla="*/ 669986 w 5275533"/>
                <a:gd name="connsiteY7" fmla="*/ 957424 h 2980757"/>
                <a:gd name="connsiteX8" fmla="*/ 871667 w 5275533"/>
                <a:gd name="connsiteY8" fmla="*/ 1188348 h 2980757"/>
                <a:gd name="connsiteX9" fmla="*/ 971956 w 5275533"/>
                <a:gd name="connsiteY9" fmla="*/ 1308905 h 2980757"/>
                <a:gd name="connsiteX10" fmla="*/ 1020139 w 5275533"/>
                <a:gd name="connsiteY10" fmla="*/ 1368084 h 2980757"/>
                <a:gd name="connsiteX11" fmla="*/ 1067340 w 5275533"/>
                <a:gd name="connsiteY11" fmla="*/ 1424715 h 2980757"/>
                <a:gd name="connsiteX12" fmla="*/ 1472909 w 5275533"/>
                <a:gd name="connsiteY12" fmla="*/ 1843252 h 2980757"/>
                <a:gd name="connsiteX13" fmla="*/ 1688567 w 5275533"/>
                <a:gd name="connsiteY13" fmla="*/ 2031559 h 2980757"/>
                <a:gd name="connsiteX14" fmla="*/ 1914401 w 5275533"/>
                <a:gd name="connsiteY14" fmla="*/ 2205156 h 2980757"/>
                <a:gd name="connsiteX15" fmla="*/ 2418909 w 5275533"/>
                <a:gd name="connsiteY15" fmla="*/ 2479741 h 2980757"/>
                <a:gd name="connsiteX16" fmla="*/ 2701141 w 5275533"/>
                <a:gd name="connsiteY16" fmla="*/ 2557333 h 2980757"/>
                <a:gd name="connsiteX17" fmla="*/ 2773475 w 5275533"/>
                <a:gd name="connsiteY17" fmla="*/ 2570999 h 2980757"/>
                <a:gd name="connsiteX18" fmla="*/ 2846424 w 5275533"/>
                <a:gd name="connsiteY18" fmla="*/ 2582465 h 2980757"/>
                <a:gd name="connsiteX19" fmla="*/ 2993669 w 5275533"/>
                <a:gd name="connsiteY19" fmla="*/ 2598909 h 2980757"/>
                <a:gd name="connsiteX20" fmla="*/ 3067721 w 5275533"/>
                <a:gd name="connsiteY20" fmla="*/ 2604237 h 2980757"/>
                <a:gd name="connsiteX21" fmla="*/ 3142019 w 5275533"/>
                <a:gd name="connsiteY21" fmla="*/ 2607943 h 2980757"/>
                <a:gd name="connsiteX22" fmla="*/ 3216561 w 5275533"/>
                <a:gd name="connsiteY22" fmla="*/ 2609564 h 2980757"/>
                <a:gd name="connsiteX23" fmla="*/ 3291225 w 5275533"/>
                <a:gd name="connsiteY23" fmla="*/ 2609217 h 2980757"/>
                <a:gd name="connsiteX24" fmla="*/ 3328619 w 5275533"/>
                <a:gd name="connsiteY24" fmla="*/ 2608869 h 2980757"/>
                <a:gd name="connsiteX25" fmla="*/ 3364665 w 5275533"/>
                <a:gd name="connsiteY25" fmla="*/ 2607363 h 2980757"/>
                <a:gd name="connsiteX26" fmla="*/ 3400587 w 5275533"/>
                <a:gd name="connsiteY26" fmla="*/ 2605627 h 2980757"/>
                <a:gd name="connsiteX27" fmla="*/ 3436387 w 5275533"/>
                <a:gd name="connsiteY27" fmla="*/ 2602847 h 2980757"/>
                <a:gd name="connsiteX28" fmla="*/ 3578361 w 5275533"/>
                <a:gd name="connsiteY28" fmla="*/ 2586286 h 2980757"/>
                <a:gd name="connsiteX29" fmla="*/ 4119159 w 5275533"/>
                <a:gd name="connsiteY29" fmla="*/ 2418594 h 2980757"/>
                <a:gd name="connsiteX30" fmla="*/ 4618765 w 5275533"/>
                <a:gd name="connsiteY30" fmla="*/ 2124668 h 2980757"/>
                <a:gd name="connsiteX31" fmla="*/ 4739895 w 5275533"/>
                <a:gd name="connsiteY31" fmla="*/ 2038275 h 2980757"/>
                <a:gd name="connsiteX32" fmla="*/ 4861027 w 5275533"/>
                <a:gd name="connsiteY32" fmla="*/ 1948986 h 2980757"/>
                <a:gd name="connsiteX33" fmla="*/ 5106354 w 5275533"/>
                <a:gd name="connsiteY33" fmla="*/ 1763690 h 2980757"/>
                <a:gd name="connsiteX34" fmla="*/ 5275533 w 5275533"/>
                <a:gd name="connsiteY34" fmla="*/ 1641017 h 2980757"/>
                <a:gd name="connsiteX35" fmla="*/ 5275533 w 5275533"/>
                <a:gd name="connsiteY35" fmla="*/ 2257481 h 2980757"/>
                <a:gd name="connsiteX36" fmla="*/ 5168881 w 5275533"/>
                <a:gd name="connsiteY36" fmla="*/ 2332084 h 2980757"/>
                <a:gd name="connsiteX37" fmla="*/ 5036225 w 5275533"/>
                <a:gd name="connsiteY37" fmla="*/ 2421489 h 2980757"/>
                <a:gd name="connsiteX38" fmla="*/ 4899401 w 5275533"/>
                <a:gd name="connsiteY38" fmla="*/ 2508347 h 2980757"/>
                <a:gd name="connsiteX39" fmla="*/ 4612145 w 5275533"/>
                <a:gd name="connsiteY39" fmla="*/ 2671407 h 2980757"/>
                <a:gd name="connsiteX40" fmla="*/ 4303187 w 5275533"/>
                <a:gd name="connsiteY40" fmla="*/ 2810030 h 2980757"/>
                <a:gd name="connsiteX41" fmla="*/ 3630835 w 5275533"/>
                <a:gd name="connsiteY41" fmla="*/ 2969500 h 2980757"/>
                <a:gd name="connsiteX42" fmla="*/ 3457719 w 5275533"/>
                <a:gd name="connsiteY42" fmla="*/ 2979808 h 2980757"/>
                <a:gd name="connsiteX43" fmla="*/ 3414441 w 5275533"/>
                <a:gd name="connsiteY43" fmla="*/ 2980733 h 2980757"/>
                <a:gd name="connsiteX44" fmla="*/ 3371285 w 5275533"/>
                <a:gd name="connsiteY44" fmla="*/ 2980502 h 2980757"/>
                <a:gd name="connsiteX45" fmla="*/ 3328252 w 5275533"/>
                <a:gd name="connsiteY45" fmla="*/ 2980039 h 2980757"/>
                <a:gd name="connsiteX46" fmla="*/ 3286445 w 5275533"/>
                <a:gd name="connsiteY46" fmla="*/ 2978534 h 2980757"/>
                <a:gd name="connsiteX47" fmla="*/ 2952475 w 5275533"/>
                <a:gd name="connsiteY47" fmla="*/ 2953402 h 2980757"/>
                <a:gd name="connsiteX48" fmla="*/ 2620591 w 5275533"/>
                <a:gd name="connsiteY48" fmla="*/ 2898046 h 2980757"/>
                <a:gd name="connsiteX49" fmla="*/ 2294591 w 5275533"/>
                <a:gd name="connsiteY49" fmla="*/ 2811305 h 2980757"/>
                <a:gd name="connsiteX50" fmla="*/ 1670544 w 5275533"/>
                <a:gd name="connsiteY50" fmla="*/ 2550501 h 2980757"/>
                <a:gd name="connsiteX51" fmla="*/ 1144703 w 5275533"/>
                <a:gd name="connsiteY51" fmla="*/ 2144472 h 2980757"/>
                <a:gd name="connsiteX52" fmla="*/ 931497 w 5275533"/>
                <a:gd name="connsiteY52" fmla="*/ 1900114 h 2980757"/>
                <a:gd name="connsiteX53" fmla="*/ 745265 w 5275533"/>
                <a:gd name="connsiteY53" fmla="*/ 1641395 h 2980757"/>
                <a:gd name="connsiteX54" fmla="*/ 701741 w 5275533"/>
                <a:gd name="connsiteY54" fmla="*/ 1575500 h 2980757"/>
                <a:gd name="connsiteX55" fmla="*/ 660178 w 5275533"/>
                <a:gd name="connsiteY55" fmla="*/ 1511573 h 2980757"/>
                <a:gd name="connsiteX56" fmla="*/ 578158 w 5275533"/>
                <a:gd name="connsiteY56" fmla="*/ 1387656 h 2980757"/>
                <a:gd name="connsiteX57" fmla="*/ 408230 w 5275533"/>
                <a:gd name="connsiteY57" fmla="*/ 1134497 h 2980757"/>
                <a:gd name="connsiteX58" fmla="*/ 242349 w 5275533"/>
                <a:gd name="connsiteY58" fmla="*/ 866860 h 2980757"/>
                <a:gd name="connsiteX59" fmla="*/ 167562 w 5275533"/>
                <a:gd name="connsiteY59" fmla="*/ 724994 h 2980757"/>
                <a:gd name="connsiteX60" fmla="*/ 104054 w 5275533"/>
                <a:gd name="connsiteY60" fmla="*/ 576525 h 2980757"/>
                <a:gd name="connsiteX61" fmla="*/ 55381 w 5275533"/>
                <a:gd name="connsiteY61" fmla="*/ 422499 h 2980757"/>
                <a:gd name="connsiteX62" fmla="*/ 37236 w 5275533"/>
                <a:gd name="connsiteY62" fmla="*/ 343980 h 2980757"/>
                <a:gd name="connsiteX63" fmla="*/ 29267 w 5275533"/>
                <a:gd name="connsiteY63" fmla="*/ 304604 h 2980757"/>
                <a:gd name="connsiteX64" fmla="*/ 22646 w 5275533"/>
                <a:gd name="connsiteY64" fmla="*/ 265113 h 2980757"/>
                <a:gd name="connsiteX65" fmla="*/ 3903 w 5275533"/>
                <a:gd name="connsiteY65" fmla="*/ 106787 h 29807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5275533" h="2980757">
                  <a:moveTo>
                    <a:pt x="0" y="0"/>
                  </a:moveTo>
                  <a:lnTo>
                    <a:pt x="201166" y="0"/>
                  </a:lnTo>
                  <a:lnTo>
                    <a:pt x="206734" y="89286"/>
                  </a:lnTo>
                  <a:cubicBezTo>
                    <a:pt x="212220" y="135755"/>
                    <a:pt x="220465" y="181731"/>
                    <a:pt x="232051" y="226897"/>
                  </a:cubicBezTo>
                  <a:cubicBezTo>
                    <a:pt x="254855" y="317344"/>
                    <a:pt x="290287" y="403854"/>
                    <a:pt x="332707" y="487120"/>
                  </a:cubicBezTo>
                  <a:cubicBezTo>
                    <a:pt x="354163" y="528696"/>
                    <a:pt x="377948" y="569461"/>
                    <a:pt x="402959" y="609647"/>
                  </a:cubicBezTo>
                  <a:cubicBezTo>
                    <a:pt x="428337" y="649717"/>
                    <a:pt x="455433" y="689209"/>
                    <a:pt x="483631" y="728236"/>
                  </a:cubicBezTo>
                  <a:cubicBezTo>
                    <a:pt x="540764" y="806061"/>
                    <a:pt x="604271" y="881569"/>
                    <a:pt x="669986" y="957424"/>
                  </a:cubicBezTo>
                  <a:cubicBezTo>
                    <a:pt x="735701" y="1033395"/>
                    <a:pt x="804359" y="1109366"/>
                    <a:pt x="871667" y="1188348"/>
                  </a:cubicBezTo>
                  <a:cubicBezTo>
                    <a:pt x="905383" y="1227723"/>
                    <a:pt x="938731" y="1268025"/>
                    <a:pt x="971956" y="1308905"/>
                  </a:cubicBezTo>
                  <a:lnTo>
                    <a:pt x="1020139" y="1368084"/>
                  </a:lnTo>
                  <a:cubicBezTo>
                    <a:pt x="1035954" y="1386962"/>
                    <a:pt x="1051035" y="1406302"/>
                    <a:pt x="1067340" y="1424715"/>
                  </a:cubicBezTo>
                  <a:cubicBezTo>
                    <a:pt x="1194602" y="1574573"/>
                    <a:pt x="1332652" y="1712503"/>
                    <a:pt x="1472909" y="1843252"/>
                  </a:cubicBezTo>
                  <a:cubicBezTo>
                    <a:pt x="1543406" y="1908337"/>
                    <a:pt x="1615128" y="1971221"/>
                    <a:pt x="1688567" y="2031559"/>
                  </a:cubicBezTo>
                  <a:cubicBezTo>
                    <a:pt x="1762006" y="2091895"/>
                    <a:pt x="1836793" y="2150263"/>
                    <a:pt x="1914401" y="2205156"/>
                  </a:cubicBezTo>
                  <a:cubicBezTo>
                    <a:pt x="2069003" y="2315176"/>
                    <a:pt x="2235742" y="2413498"/>
                    <a:pt x="2418909" y="2479741"/>
                  </a:cubicBezTo>
                  <a:cubicBezTo>
                    <a:pt x="2510249" y="2512863"/>
                    <a:pt x="2604898" y="2538225"/>
                    <a:pt x="2701141" y="2557333"/>
                  </a:cubicBezTo>
                  <a:cubicBezTo>
                    <a:pt x="2725293" y="2561850"/>
                    <a:pt x="2749201" y="2567062"/>
                    <a:pt x="2773475" y="2570999"/>
                  </a:cubicBezTo>
                  <a:lnTo>
                    <a:pt x="2846424" y="2582465"/>
                  </a:lnTo>
                  <a:cubicBezTo>
                    <a:pt x="2895343" y="2588602"/>
                    <a:pt x="2944261" y="2595088"/>
                    <a:pt x="2993669" y="2598909"/>
                  </a:cubicBezTo>
                  <a:cubicBezTo>
                    <a:pt x="3018313" y="2601110"/>
                    <a:pt x="3042956" y="2603195"/>
                    <a:pt x="3067721" y="2604237"/>
                  </a:cubicBezTo>
                  <a:cubicBezTo>
                    <a:pt x="3092487" y="2605394"/>
                    <a:pt x="3117130" y="2607247"/>
                    <a:pt x="3142019" y="2607943"/>
                  </a:cubicBezTo>
                  <a:lnTo>
                    <a:pt x="3216561" y="2609564"/>
                  </a:lnTo>
                  <a:cubicBezTo>
                    <a:pt x="3241326" y="2610142"/>
                    <a:pt x="3266337" y="2609333"/>
                    <a:pt x="3291225" y="2609217"/>
                  </a:cubicBezTo>
                  <a:lnTo>
                    <a:pt x="3328619" y="2608869"/>
                  </a:lnTo>
                  <a:cubicBezTo>
                    <a:pt x="3340757" y="2608522"/>
                    <a:pt x="3352649" y="2607827"/>
                    <a:pt x="3364665" y="2607363"/>
                  </a:cubicBezTo>
                  <a:cubicBezTo>
                    <a:pt x="3376679" y="2606784"/>
                    <a:pt x="3388695" y="2606438"/>
                    <a:pt x="3400587" y="2605627"/>
                  </a:cubicBezTo>
                  <a:lnTo>
                    <a:pt x="3436387" y="2602847"/>
                  </a:lnTo>
                  <a:cubicBezTo>
                    <a:pt x="3484079" y="2599257"/>
                    <a:pt x="3531404" y="2593235"/>
                    <a:pt x="3578361" y="2586286"/>
                  </a:cubicBezTo>
                  <a:cubicBezTo>
                    <a:pt x="3766310" y="2556871"/>
                    <a:pt x="3947025" y="2499314"/>
                    <a:pt x="4119159" y="2418594"/>
                  </a:cubicBezTo>
                  <a:cubicBezTo>
                    <a:pt x="4291907" y="2338801"/>
                    <a:pt x="4456317" y="2236657"/>
                    <a:pt x="4618765" y="2124668"/>
                  </a:cubicBezTo>
                  <a:cubicBezTo>
                    <a:pt x="4659346" y="2096759"/>
                    <a:pt x="4699682" y="2067575"/>
                    <a:pt x="4739895" y="2038275"/>
                  </a:cubicBezTo>
                  <a:cubicBezTo>
                    <a:pt x="4780355" y="2008976"/>
                    <a:pt x="4820691" y="1979212"/>
                    <a:pt x="4861027" y="1948986"/>
                  </a:cubicBezTo>
                  <a:lnTo>
                    <a:pt x="5106354" y="1763690"/>
                  </a:lnTo>
                  <a:lnTo>
                    <a:pt x="5275533" y="1641017"/>
                  </a:lnTo>
                  <a:lnTo>
                    <a:pt x="5275533" y="2257481"/>
                  </a:lnTo>
                  <a:lnTo>
                    <a:pt x="5168881" y="2332084"/>
                  </a:lnTo>
                  <a:cubicBezTo>
                    <a:pt x="5125235" y="2362079"/>
                    <a:pt x="5081099" y="2391958"/>
                    <a:pt x="5036225" y="2421489"/>
                  </a:cubicBezTo>
                  <a:cubicBezTo>
                    <a:pt x="4991231" y="2450790"/>
                    <a:pt x="4945867" y="2479857"/>
                    <a:pt x="4899401" y="2508347"/>
                  </a:cubicBezTo>
                  <a:cubicBezTo>
                    <a:pt x="4806959" y="2565440"/>
                    <a:pt x="4711574" y="2620798"/>
                    <a:pt x="4612145" y="2671407"/>
                  </a:cubicBezTo>
                  <a:cubicBezTo>
                    <a:pt x="4512836" y="2722247"/>
                    <a:pt x="4410095" y="2769496"/>
                    <a:pt x="4303187" y="2810030"/>
                  </a:cubicBezTo>
                  <a:cubicBezTo>
                    <a:pt x="4090349" y="2892256"/>
                    <a:pt x="3861694" y="2947728"/>
                    <a:pt x="3630835" y="2969500"/>
                  </a:cubicBezTo>
                  <a:cubicBezTo>
                    <a:pt x="3573089" y="2974712"/>
                    <a:pt x="3515343" y="2978649"/>
                    <a:pt x="3457719" y="2979808"/>
                  </a:cubicBezTo>
                  <a:lnTo>
                    <a:pt x="3414441" y="2980733"/>
                  </a:lnTo>
                  <a:cubicBezTo>
                    <a:pt x="3400097" y="2980850"/>
                    <a:pt x="3385630" y="2980502"/>
                    <a:pt x="3371285" y="2980502"/>
                  </a:cubicBezTo>
                  <a:lnTo>
                    <a:pt x="3328252" y="2980039"/>
                  </a:lnTo>
                  <a:lnTo>
                    <a:pt x="3286445" y="2978534"/>
                  </a:lnTo>
                  <a:cubicBezTo>
                    <a:pt x="3175121" y="2975174"/>
                    <a:pt x="3063553" y="2966837"/>
                    <a:pt x="2952475" y="2953402"/>
                  </a:cubicBezTo>
                  <a:cubicBezTo>
                    <a:pt x="2841275" y="2940664"/>
                    <a:pt x="2730319" y="2922365"/>
                    <a:pt x="2620591" y="2898046"/>
                  </a:cubicBezTo>
                  <a:cubicBezTo>
                    <a:pt x="2510984" y="2873494"/>
                    <a:pt x="2402235" y="2844426"/>
                    <a:pt x="2294591" y="2811305"/>
                  </a:cubicBezTo>
                  <a:cubicBezTo>
                    <a:pt x="2079669" y="2744483"/>
                    <a:pt x="1867198" y="2661331"/>
                    <a:pt x="1670544" y="2550501"/>
                  </a:cubicBezTo>
                  <a:cubicBezTo>
                    <a:pt x="1473767" y="2439903"/>
                    <a:pt x="1298079" y="2299657"/>
                    <a:pt x="1144703" y="2144472"/>
                  </a:cubicBezTo>
                  <a:cubicBezTo>
                    <a:pt x="1067586" y="2066996"/>
                    <a:pt x="997458" y="1984539"/>
                    <a:pt x="931497" y="1900114"/>
                  </a:cubicBezTo>
                  <a:cubicBezTo>
                    <a:pt x="865906" y="1815342"/>
                    <a:pt x="803500" y="1729295"/>
                    <a:pt x="745265" y="1641395"/>
                  </a:cubicBezTo>
                  <a:cubicBezTo>
                    <a:pt x="730307" y="1619623"/>
                    <a:pt x="716207" y="1597503"/>
                    <a:pt x="701741" y="1575500"/>
                  </a:cubicBezTo>
                  <a:lnTo>
                    <a:pt x="660178" y="1511573"/>
                  </a:lnTo>
                  <a:cubicBezTo>
                    <a:pt x="633574" y="1470229"/>
                    <a:pt x="605989" y="1429232"/>
                    <a:pt x="578158" y="1387656"/>
                  </a:cubicBezTo>
                  <a:lnTo>
                    <a:pt x="408230" y="1134497"/>
                  </a:lnTo>
                  <a:cubicBezTo>
                    <a:pt x="351220" y="1048219"/>
                    <a:pt x="294945" y="959392"/>
                    <a:pt x="242349" y="866860"/>
                  </a:cubicBezTo>
                  <a:cubicBezTo>
                    <a:pt x="216112" y="820536"/>
                    <a:pt x="190734" y="773402"/>
                    <a:pt x="167562" y="724994"/>
                  </a:cubicBezTo>
                  <a:cubicBezTo>
                    <a:pt x="144513" y="676469"/>
                    <a:pt x="123057" y="627019"/>
                    <a:pt x="104054" y="576525"/>
                  </a:cubicBezTo>
                  <a:cubicBezTo>
                    <a:pt x="85418" y="525917"/>
                    <a:pt x="68867" y="474613"/>
                    <a:pt x="55381" y="422499"/>
                  </a:cubicBezTo>
                  <a:cubicBezTo>
                    <a:pt x="49006" y="396442"/>
                    <a:pt x="42508" y="370269"/>
                    <a:pt x="37236" y="343980"/>
                  </a:cubicBezTo>
                  <a:lnTo>
                    <a:pt x="29267" y="304604"/>
                  </a:lnTo>
                  <a:lnTo>
                    <a:pt x="22646" y="265113"/>
                  </a:lnTo>
                  <a:cubicBezTo>
                    <a:pt x="14003" y="212420"/>
                    <a:pt x="7872" y="159582"/>
                    <a:pt x="3903" y="106787"/>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F7E41CC6-0C83-40EE-80BB-79394D9E9B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613805 w 5270786"/>
                <a:gd name="connsiteY1" fmla="*/ 0 h 2927775"/>
                <a:gd name="connsiteX2" fmla="*/ 618487 w 5270786"/>
                <a:gd name="connsiteY2" fmla="*/ 85404 h 2927775"/>
                <a:gd name="connsiteX3" fmla="*/ 1054084 w 5270786"/>
                <a:gd name="connsiteY3" fmla="*/ 895200 h 2927775"/>
                <a:gd name="connsiteX4" fmla="*/ 1276976 w 5270786"/>
                <a:gd name="connsiteY4" fmla="*/ 1191325 h 2927775"/>
                <a:gd name="connsiteX5" fmla="*/ 3368450 w 5270786"/>
                <a:gd name="connsiteY5" fmla="*/ 2348843 h 2927775"/>
                <a:gd name="connsiteX6" fmla="*/ 4956151 w 5270786"/>
                <a:gd name="connsiteY6" fmla="*/ 1636730 h 2927775"/>
                <a:gd name="connsiteX7" fmla="*/ 5149372 w 5270786"/>
                <a:gd name="connsiteY7" fmla="*/ 1495325 h 2927775"/>
                <a:gd name="connsiteX8" fmla="*/ 5270786 w 5270786"/>
                <a:gd name="connsiteY8" fmla="*/ 1406110 h 2927775"/>
                <a:gd name="connsiteX9" fmla="*/ 5270786 w 5270786"/>
                <a:gd name="connsiteY9" fmla="*/ 2138641 h 2927775"/>
                <a:gd name="connsiteX10" fmla="*/ 5112925 w 5270786"/>
                <a:gd name="connsiteY10" fmla="*/ 2253730 h 2927775"/>
                <a:gd name="connsiteX11" fmla="*/ 3368327 w 5270786"/>
                <a:gd name="connsiteY11" fmla="*/ 2927775 h 2927775"/>
                <a:gd name="connsiteX12" fmla="*/ 769646 w 5270786"/>
                <a:gd name="connsiteY12" fmla="*/ 1516288 h 2927775"/>
                <a:gd name="connsiteX13" fmla="*/ 3149 w 5270786"/>
                <a:gd name="connsiteY13"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270786" h="2927775">
                  <a:moveTo>
                    <a:pt x="0" y="0"/>
                  </a:moveTo>
                  <a:lnTo>
                    <a:pt x="613805" y="0"/>
                  </a:lnTo>
                  <a:lnTo>
                    <a:pt x="618487" y="85404"/>
                  </a:lnTo>
                  <a:cubicBezTo>
                    <a:pt x="650052" y="360109"/>
                    <a:pt x="792650" y="556543"/>
                    <a:pt x="1054084" y="895200"/>
                  </a:cubicBezTo>
                  <a:cubicBezTo>
                    <a:pt x="1126174" y="988542"/>
                    <a:pt x="1200716" y="1085128"/>
                    <a:pt x="1276976" y="1191325"/>
                  </a:cubicBezTo>
                  <a:cubicBezTo>
                    <a:pt x="1859704" y="2002688"/>
                    <a:pt x="2485223" y="2348843"/>
                    <a:pt x="3368450" y="2348843"/>
                  </a:cubicBezTo>
                  <a:cubicBezTo>
                    <a:pt x="3948114" y="2348843"/>
                    <a:pt x="4373422" y="2066846"/>
                    <a:pt x="4956151" y="1636730"/>
                  </a:cubicBezTo>
                  <a:cubicBezTo>
                    <a:pt x="5021253" y="1588668"/>
                    <a:pt x="5086356" y="1541186"/>
                    <a:pt x="5149372" y="1495325"/>
                  </a:cubicBezTo>
                  <a:lnTo>
                    <a:pt x="5270786" y="1406110"/>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00603498-5DFE-4D26-BFB5-C9269C9BDB0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921214" y="-1"/>
              <a:ext cx="5270786" cy="2927775"/>
            </a:xfrm>
            <a:custGeom>
              <a:avLst/>
              <a:gdLst>
                <a:gd name="connsiteX0" fmla="*/ 0 w 5270786"/>
                <a:gd name="connsiteY0" fmla="*/ 0 h 2927775"/>
                <a:gd name="connsiteX1" fmla="*/ 736294 w 5270786"/>
                <a:gd name="connsiteY1" fmla="*/ 0 h 2927775"/>
                <a:gd name="connsiteX2" fmla="*/ 740298 w 5270786"/>
                <a:gd name="connsiteY2" fmla="*/ 72745 h 2927775"/>
                <a:gd name="connsiteX3" fmla="*/ 1153024 w 5270786"/>
                <a:gd name="connsiteY3" fmla="*/ 826989 h 2927775"/>
                <a:gd name="connsiteX4" fmla="*/ 1378368 w 5270786"/>
                <a:gd name="connsiteY4" fmla="*/ 1126356 h 2927775"/>
                <a:gd name="connsiteX5" fmla="*/ 2238056 w 5270786"/>
                <a:gd name="connsiteY5" fmla="*/ 1955322 h 2927775"/>
                <a:gd name="connsiteX6" fmla="*/ 3368327 w 5270786"/>
                <a:gd name="connsiteY6" fmla="*/ 2233033 h 2927775"/>
                <a:gd name="connsiteX7" fmla="*/ 4095360 w 5270786"/>
                <a:gd name="connsiteY7" fmla="*/ 2056192 h 2927775"/>
                <a:gd name="connsiteX8" fmla="*/ 4880506 w 5270786"/>
                <a:gd name="connsiteY8" fmla="*/ 1545587 h 2927775"/>
                <a:gd name="connsiteX9" fmla="*/ 5074340 w 5270786"/>
                <a:gd name="connsiteY9" fmla="*/ 1403721 h 2927775"/>
                <a:gd name="connsiteX10" fmla="*/ 5270786 w 5270786"/>
                <a:gd name="connsiteY10" fmla="*/ 1259367 h 2927775"/>
                <a:gd name="connsiteX11" fmla="*/ 5270786 w 5270786"/>
                <a:gd name="connsiteY11" fmla="*/ 2138641 h 2927775"/>
                <a:gd name="connsiteX12" fmla="*/ 5112925 w 5270786"/>
                <a:gd name="connsiteY12" fmla="*/ 2253730 h 2927775"/>
                <a:gd name="connsiteX13" fmla="*/ 3368327 w 5270786"/>
                <a:gd name="connsiteY13" fmla="*/ 2927775 h 2927775"/>
                <a:gd name="connsiteX14" fmla="*/ 769646 w 5270786"/>
                <a:gd name="connsiteY14" fmla="*/ 1516288 h 2927775"/>
                <a:gd name="connsiteX15" fmla="*/ 3149 w 5270786"/>
                <a:gd name="connsiteY15" fmla="*/ 85252 h 2927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270786" h="2927775">
                  <a:moveTo>
                    <a:pt x="0" y="0"/>
                  </a:moveTo>
                  <a:lnTo>
                    <a:pt x="736294" y="0"/>
                  </a:lnTo>
                  <a:lnTo>
                    <a:pt x="740298" y="72745"/>
                  </a:lnTo>
                  <a:cubicBezTo>
                    <a:pt x="768839" y="319371"/>
                    <a:pt x="898885" y="497858"/>
                    <a:pt x="1153024" y="826989"/>
                  </a:cubicBezTo>
                  <a:cubicBezTo>
                    <a:pt x="1225727" y="921142"/>
                    <a:pt x="1300882" y="1018537"/>
                    <a:pt x="1378368" y="1126356"/>
                  </a:cubicBezTo>
                  <a:cubicBezTo>
                    <a:pt x="1652384" y="1507833"/>
                    <a:pt x="1933512" y="1779060"/>
                    <a:pt x="2238056" y="1955322"/>
                  </a:cubicBezTo>
                  <a:cubicBezTo>
                    <a:pt x="2560868" y="2142238"/>
                    <a:pt x="2930637" y="2233033"/>
                    <a:pt x="3368327" y="2233033"/>
                  </a:cubicBezTo>
                  <a:cubicBezTo>
                    <a:pt x="3616720" y="2233033"/>
                    <a:pt x="3847703" y="2176866"/>
                    <a:pt x="4095360" y="2056192"/>
                  </a:cubicBezTo>
                  <a:cubicBezTo>
                    <a:pt x="4349636" y="1932276"/>
                    <a:pt x="4601340" y="1751613"/>
                    <a:pt x="4880506" y="1545587"/>
                  </a:cubicBezTo>
                  <a:cubicBezTo>
                    <a:pt x="4945974" y="1497295"/>
                    <a:pt x="5011199" y="1449697"/>
                    <a:pt x="5074340" y="1403721"/>
                  </a:cubicBezTo>
                  <a:lnTo>
                    <a:pt x="5270786" y="1259367"/>
                  </a:lnTo>
                  <a:lnTo>
                    <a:pt x="5270786" y="2138641"/>
                  </a:lnTo>
                  <a:lnTo>
                    <a:pt x="5112925" y="2253730"/>
                  </a:lnTo>
                  <a:cubicBezTo>
                    <a:pt x="4598179" y="2621786"/>
                    <a:pt x="4074961" y="2927775"/>
                    <a:pt x="3368327" y="2927775"/>
                  </a:cubicBezTo>
                  <a:cubicBezTo>
                    <a:pt x="2170746" y="2927775"/>
                    <a:pt x="1393203" y="2384512"/>
                    <a:pt x="769646" y="1516288"/>
                  </a:cubicBezTo>
                  <a:cubicBezTo>
                    <a:pt x="418850" y="1027932"/>
                    <a:pt x="48120" y="683401"/>
                    <a:pt x="3149" y="852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0A0E4048-A99A-729A-82F2-E103F72F3724}"/>
              </a:ext>
            </a:extLst>
          </p:cNvPr>
          <p:cNvSpPr>
            <a:spLocks noGrp="1"/>
          </p:cNvSpPr>
          <p:nvPr>
            <p:ph type="title"/>
          </p:nvPr>
        </p:nvSpPr>
        <p:spPr>
          <a:xfrm>
            <a:off x="3027924" y="991261"/>
            <a:ext cx="5754696" cy="1837349"/>
          </a:xfrm>
        </p:spPr>
        <p:txBody>
          <a:bodyPr>
            <a:normAutofit/>
          </a:bodyPr>
          <a:lstStyle/>
          <a:p>
            <a:pPr algn="ctr"/>
            <a:r>
              <a:rPr lang="en-IN" sz="3600">
                <a:solidFill>
                  <a:schemeClr val="tx2"/>
                </a:solidFill>
              </a:rPr>
              <a:t>Thank You</a:t>
            </a:r>
          </a:p>
        </p:txBody>
      </p:sp>
      <p:sp>
        <p:nvSpPr>
          <p:cNvPr id="3" name="Content Placeholder 2">
            <a:extLst>
              <a:ext uri="{FF2B5EF4-FFF2-40B4-BE49-F238E27FC236}">
                <a16:creationId xmlns:a16="http://schemas.microsoft.com/office/drawing/2014/main" id="{50100D33-27EE-1693-A298-66850D9C4B9B}"/>
              </a:ext>
            </a:extLst>
          </p:cNvPr>
          <p:cNvSpPr>
            <a:spLocks noGrp="1"/>
          </p:cNvSpPr>
          <p:nvPr>
            <p:ph idx="1"/>
          </p:nvPr>
        </p:nvSpPr>
        <p:spPr>
          <a:xfrm>
            <a:off x="3050412" y="2979336"/>
            <a:ext cx="5709721" cy="2430864"/>
          </a:xfrm>
        </p:spPr>
        <p:txBody>
          <a:bodyPr anchor="t">
            <a:normAutofit/>
          </a:bodyPr>
          <a:lstStyle/>
          <a:p>
            <a:r>
              <a:rPr lang="en-IN" sz="2000">
                <a:solidFill>
                  <a:schemeClr val="tx2"/>
                </a:solidFill>
              </a:rPr>
              <a:t>LinkedIn: </a:t>
            </a:r>
            <a:r>
              <a:rPr lang="en-IN" sz="2000">
                <a:solidFill>
                  <a:schemeClr val="tx2"/>
                </a:solidFill>
                <a:hlinkClick r:id="rId3"/>
              </a:rPr>
              <a:t>https://www.linkedin.com/in/ruchir-a-308240128/</a:t>
            </a:r>
            <a:endParaRPr lang="en-IN" sz="2000">
              <a:solidFill>
                <a:schemeClr val="tx2"/>
              </a:solidFill>
            </a:endParaRPr>
          </a:p>
          <a:p>
            <a:r>
              <a:rPr lang="en-IN" sz="2000">
                <a:solidFill>
                  <a:schemeClr val="tx2"/>
                </a:solidFill>
              </a:rPr>
              <a:t>GitHub: </a:t>
            </a:r>
            <a:r>
              <a:rPr lang="en-IN" sz="2000">
                <a:solidFill>
                  <a:schemeClr val="tx2"/>
                </a:solidFill>
                <a:hlinkClick r:id="rId4"/>
              </a:rPr>
              <a:t>https://github.com/ruchira559</a:t>
            </a:r>
            <a:endParaRPr lang="en-IN" sz="2000">
              <a:solidFill>
                <a:schemeClr val="tx2"/>
              </a:solidFill>
            </a:endParaRPr>
          </a:p>
          <a:p>
            <a:pPr marL="0" indent="0">
              <a:buNone/>
            </a:pPr>
            <a:endParaRPr lang="en-IN" sz="2000">
              <a:solidFill>
                <a:schemeClr val="tx2"/>
              </a:solidFill>
            </a:endParaRPr>
          </a:p>
        </p:txBody>
      </p:sp>
      <p:grpSp>
        <p:nvGrpSpPr>
          <p:cNvPr id="18" name="Group 17">
            <a:extLst>
              <a:ext uri="{FF2B5EF4-FFF2-40B4-BE49-F238E27FC236}">
                <a16:creationId xmlns:a16="http://schemas.microsoft.com/office/drawing/2014/main" id="{B63ACBA3-DEFD-4C6D-BBA0-64468FA99C2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058275" y="4146310"/>
            <a:ext cx="3142400" cy="2716805"/>
            <a:chOff x="-305" y="-4155"/>
            <a:chExt cx="2514948" cy="2174333"/>
          </a:xfrm>
          <a:solidFill>
            <a:schemeClr val="bg1">
              <a:alpha val="30000"/>
            </a:schemeClr>
          </a:solidFill>
        </p:grpSpPr>
        <p:sp>
          <p:nvSpPr>
            <p:cNvPr id="19" name="Freeform: Shape 18">
              <a:extLst>
                <a:ext uri="{FF2B5EF4-FFF2-40B4-BE49-F238E27FC236}">
                  <a16:creationId xmlns:a16="http://schemas.microsoft.com/office/drawing/2014/main" id="{62F7819D-2B89-4D80-A1C3-8B318116BAA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B7065990-2350-41B3-858B-20EF8744F2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Freeform: Shape 20">
              <a:extLst>
                <a:ext uri="{FF2B5EF4-FFF2-40B4-BE49-F238E27FC236}">
                  <a16:creationId xmlns:a16="http://schemas.microsoft.com/office/drawing/2014/main" id="{58DA7EC7-CAA0-4665-AA29-BFBA806ECAB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2" name="Freeform: Shape 21">
              <a:extLst>
                <a:ext uri="{FF2B5EF4-FFF2-40B4-BE49-F238E27FC236}">
                  <a16:creationId xmlns:a16="http://schemas.microsoft.com/office/drawing/2014/main" id="{B1132A14-489F-4CED-B626-2A1711C987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Tree>
    <p:extLst>
      <p:ext uri="{BB962C8B-B14F-4D97-AF65-F5344CB8AC3E}">
        <p14:creationId xmlns:p14="http://schemas.microsoft.com/office/powerpoint/2010/main" val="26596561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89</TotalTime>
  <Words>1611</Words>
  <Application>Microsoft Office PowerPoint</Application>
  <PresentationFormat>Widescreen</PresentationFormat>
  <Paragraphs>79</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Calibri</vt:lpstr>
      <vt:lpstr>Office Theme</vt:lpstr>
      <vt:lpstr>Credit Card Portfolio Analysis: A Strategic Overview</vt:lpstr>
      <vt:lpstr>Defining the Mission</vt:lpstr>
      <vt:lpstr>The Foundation: Data &amp; Purpose</vt:lpstr>
      <vt:lpstr>Engineering the Data Pipeline</vt:lpstr>
      <vt:lpstr>The Brain of the Report: DAX Measures</vt:lpstr>
      <vt:lpstr>Dashboard 1: Customer Demographics</vt:lpstr>
      <vt:lpstr>Dashboard 1 Deep-Dive</vt:lpstr>
      <vt:lpstr>Dashboard 1 Deep-Dive</vt:lpstr>
      <vt:lpstr>Dashboard 1 Deep-Dive</vt:lpstr>
      <vt:lpstr>Dashboard 2: Transaction Insights</vt:lpstr>
      <vt:lpstr>Dashboard 2 Deep-Dive</vt:lpstr>
      <vt:lpstr>Dashboard 2 Deep-Dive</vt:lpstr>
      <vt:lpstr>Dashboard 2 Deep-Dive</vt:lpstr>
      <vt:lpstr>Strategic Takeaways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Ruchir Agrawal</dc:creator>
  <cp:lastModifiedBy>Ruchir Agrawal</cp:lastModifiedBy>
  <cp:revision>4</cp:revision>
  <dcterms:created xsi:type="dcterms:W3CDTF">2026-03-02T19:52:08Z</dcterms:created>
  <dcterms:modified xsi:type="dcterms:W3CDTF">2026-03-14T13:51:50Z</dcterms:modified>
</cp:coreProperties>
</file>